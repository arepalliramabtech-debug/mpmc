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56"/>
  </p:notesMasterIdLst>
  <p:sldIdLst>
    <p:sldId id="301" r:id="rId3"/>
    <p:sldId id="305" r:id="rId4"/>
    <p:sldId id="306" r:id="rId5"/>
    <p:sldId id="257" r:id="rId6"/>
    <p:sldId id="258" r:id="rId7"/>
    <p:sldId id="259" r:id="rId8"/>
    <p:sldId id="30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319" r:id="rId26"/>
    <p:sldId id="320" r:id="rId27"/>
    <p:sldId id="277" r:id="rId28"/>
    <p:sldId id="278" r:id="rId29"/>
    <p:sldId id="279" r:id="rId30"/>
    <p:sldId id="322" r:id="rId31"/>
    <p:sldId id="321" r:id="rId32"/>
    <p:sldId id="316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8" r:id="rId54"/>
    <p:sldId id="310" r:id="rId55"/>
  </p:sldIdLst>
  <p:sldSz cx="12192000" cy="6858000"/>
  <p:notesSz cx="6858000" cy="9144000"/>
  <p:embeddedFontLst>
    <p:embeddedFont>
      <p:font typeface="Lato" panose="020F0502020204030203" pitchFamily="34" charset="0"/>
      <p:regular r:id="rId57"/>
      <p:bold r:id="rId58"/>
      <p:italic r:id="rId59"/>
      <p:boldItalic r:id="rId60"/>
    </p:embeddedFont>
    <p:embeddedFont>
      <p:font typeface="Poppins" panose="00000500000000000000" pitchFamily="2" charset="0"/>
      <p:regular r:id="rId61"/>
      <p:bold r:id="rId62"/>
      <p:italic r:id="rId63"/>
      <p:boldItalic r:id="rId6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35A873-47BF-4099-9236-6AC1A40AAE5B}">
  <a:tblStyle styleId="{FD35A873-47BF-4099-9236-6AC1A40AAE5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68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7.fntdata"/><Relationship Id="rId68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font" Target="fonts/font2.fntdata"/><Relationship Id="rId66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font" Target="fonts/font5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64" Type="http://schemas.openxmlformats.org/officeDocument/2006/relationships/font" Target="fonts/font8.fntdata"/><Relationship Id="rId69" Type="http://schemas.microsoft.com/office/2016/11/relationships/changesInfo" Target="changesInfos/changesInfo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3.fntdata"/><Relationship Id="rId67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font" Target="fonts/font1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font" Target="fonts/font4.fntdata"/><Relationship Id="rId65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epallirama@outlook.com" userId="8f88bd03475664fe" providerId="LiveId" clId="{34929704-5446-4D82-B121-0CC3A06EFF1E}"/>
    <pc:docChg chg="modSld">
      <pc:chgData name="arepallirama@outlook.com" userId="8f88bd03475664fe" providerId="LiveId" clId="{34929704-5446-4D82-B121-0CC3A06EFF1E}" dt="2026-06-30T07:11:20.914" v="6" actId="1076"/>
      <pc:docMkLst>
        <pc:docMk/>
      </pc:docMkLst>
      <pc:sldChg chg="addSp modSp mod">
        <pc:chgData name="arepallirama@outlook.com" userId="8f88bd03475664fe" providerId="LiveId" clId="{34929704-5446-4D82-B121-0CC3A06EFF1E}" dt="2026-06-30T07:11:20.914" v="6" actId="1076"/>
        <pc:sldMkLst>
          <pc:docMk/>
          <pc:sldMk cId="210337319" sldId="301"/>
        </pc:sldMkLst>
        <pc:picChg chg="add mod">
          <ac:chgData name="arepallirama@outlook.com" userId="8f88bd03475664fe" providerId="LiveId" clId="{34929704-5446-4D82-B121-0CC3A06EFF1E}" dt="2026-06-30T07:11:16.337" v="5" actId="14100"/>
          <ac:picMkLst>
            <pc:docMk/>
            <pc:sldMk cId="210337319" sldId="301"/>
            <ac:picMk id="2" creationId="{780FF18F-3347-EF48-599D-B0F18CC68998}"/>
          </ac:picMkLst>
        </pc:picChg>
        <pc:picChg chg="mod">
          <ac:chgData name="arepallirama@outlook.com" userId="8f88bd03475664fe" providerId="LiveId" clId="{34929704-5446-4D82-B121-0CC3A06EFF1E}" dt="2026-06-30T07:11:20.914" v="6" actId="1076"/>
          <ac:picMkLst>
            <pc:docMk/>
            <pc:sldMk cId="210337319" sldId="301"/>
            <ac:picMk id="4" creationId="{DEC57497-314E-18B3-B5E3-3820D01739F3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05:20:49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1 208 24575,'7'-1'0,"0"0"0,0-1 0,0 0 0,0 0 0,0 0 0,-1-1 0,1 0 0,-1 0 0,10-7 0,-3 2 0,3-1 0,5-3 0,0 1 0,1 0 0,1 2 0,42-13 0,14 7 0,0 3 0,1 4 0,87 1 0,1949 10 0,-1149-4 0,-930 2 0,0 2 0,72 15 0,67 29 0,-37-8 0,57 0 0,-172-35 0,-15-2 0,-1-1 0,1 2 0,-1-1 0,1 1 0,-1 1 0,0-1 0,0 1 0,12 9 0,-18-12 0,0 1 0,-1-1 0,1 0 0,0 0 0,0 0 0,0-1 0,0 1 0,0 0 0,0-1 0,0 1 0,0-1 0,2 1 0,-3-2 0,0 1 0,0 0 0,0 0 0,0-1 0,0 1 0,0-1 0,-1 1 0,1-1 0,0 1 0,0-1 0,-1 1 0,1-1 0,0 0 0,-1 1 0,1-1 0,-1 0 0,1 1 0,-1-1 0,1 0 0,-1 0 0,1 0 0,-1 0 0,0 1 0,1-1 0,-1 0 0,0 0 0,0 0 0,0 0 0,0-1 0,4-23-3,-2 0 1,-1 0-1,-4-49 0,1 18-1351,1 28-5472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05:20:51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24028,'0'635'0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05:20:59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 24245,'4354'-29'0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05:21:01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0 602 24575,'0'-576'-1365,"0"550"-5461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05:21:03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05:21:11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9D9FF-D074-0A09-5586-EBCE15CDB5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9C926F-E43A-DCCE-9B20-819B1E55B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E308D-A2ED-13AB-F8DB-25D9B5593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392E2-197C-4E77-9454-2A071D54F7F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EE80D-6ADB-9783-38A9-0DEC75F61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CC75D-A7D9-8ACA-12C4-A6F7C7BBA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78FE1-2A59-4F5A-93B0-30160CE59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15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8945F-2647-F833-4196-C27579C86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5BE90-1A39-946A-54BA-B3ECB99EF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1A14B-5629-ECE5-EE5A-E71BEE9D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392E2-197C-4E77-9454-2A071D54F7F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4DE09-79CE-66A6-C6C4-583A7CA14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645B7-1E0C-AAB2-F903-41E50E26A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78FE1-2A59-4F5A-93B0-30160CE59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5581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6C182-0028-7DAA-9741-654B2C7DC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9979AD-2CDF-DD01-2DFB-E472EC7AA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8E9A0-6E1A-C4A4-823F-97B435CE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392E2-197C-4E77-9454-2A071D54F7F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2D0CA-00B7-9153-0E12-D59E255FB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5BA5B-CCD8-5509-3123-E9CF5AA12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78FE1-2A59-4F5A-93B0-30160CE59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8965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2CA84-5C6D-4ACD-0A61-3639E3CC0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94A34-7914-5741-B367-4C38F748D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66B441-80D7-E23D-81C8-D20C7CE93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02C114-80FE-E9A6-73D9-69A42D4B7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392E2-197C-4E77-9454-2A071D54F7F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5943F5-8CCC-AF19-7851-9FA6302F2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19A3A2-699B-5A4B-C87F-5EBE7230D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78FE1-2A59-4F5A-93B0-30160CE59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7832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40688-A418-7315-85FC-7444F5691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2DD7F-0679-61A0-ABB4-05203D1C5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A1148-B8C5-0D7A-BCE0-1EE0E8AFE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9EE9F1-CFD0-70D3-1C1D-82681D0557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075714-1C9D-C478-A500-501043DEE3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D378C0-073B-855C-E0A1-28C8FFAF0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392E2-197C-4E77-9454-2A071D54F7F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CBE5A2-45C6-020E-6121-CCA930E9F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6BCE93-0136-8E6C-FC57-DD9D1F815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78FE1-2A59-4F5A-93B0-30160CE59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9494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679FA-5432-707B-B0B2-83A003F11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980A4C-092F-CE5E-2993-11D196825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392E2-197C-4E77-9454-2A071D54F7F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8A347-FE7D-C8C1-AB7B-4F95B4C80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5252E-5821-0134-37AC-54ABD7AD9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78FE1-2A59-4F5A-93B0-30160CE59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36328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56573E-BFE6-5DF3-CFCB-CB24FC99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392E2-197C-4E77-9454-2A071D54F7F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9277D7-AF57-7F60-8B3D-EDFD9B772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EA1E7-CD2B-9C35-9EB0-77A4F6A48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78FE1-2A59-4F5A-93B0-30160CE59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6917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CF8C2-780E-B166-73B9-3A6E69C92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2B9FA-1F5C-B9C1-CAB4-44202B8B4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0EB51C-4571-EC11-3D41-D822A1150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05A615-0C36-23E6-93A2-B6B315075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392E2-197C-4E77-9454-2A071D54F7F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F2390-2CF6-9B52-E855-D6DE33EF0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7B2336-6B11-30E8-84B7-24BB44B84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78FE1-2A59-4F5A-93B0-30160CE59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3971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70DEA-7BAD-0A35-3A00-DC325A069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487B8A-3321-8F4F-2633-3EFFD33296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23CB7A-FA3C-757A-112C-C488ED49F1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743A2-7766-4226-6964-0F88946C9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392E2-197C-4E77-9454-2A071D54F7F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E5A5D-FBAD-A7D9-44CE-E3EFFBED5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9C283-58A7-0BB4-D2F7-6D13E1DAC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78FE1-2A59-4F5A-93B0-30160CE59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0515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B18A2-854B-8CCD-1A47-0DB620F69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8A0A54-574E-612E-CCF5-98329F60F1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B8AC1-72EF-C4B9-B9F5-AF1C10E5B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392E2-197C-4E77-9454-2A071D54F7F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F4044-E4DD-5C20-A16D-AA6BB7BBA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0AAC1-B12C-C55A-300B-51D31CAAC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78FE1-2A59-4F5A-93B0-30160CE59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77342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761DC9-68EB-B510-6DE6-6892BE2B09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E5B5C1-0F09-BC7D-361F-72F588D77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0FBDB-76EE-04FD-3606-A7C021548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392E2-197C-4E77-9454-2A071D54F7F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438DC-85DB-9771-6667-09D2EDD26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071D4-7F93-696C-1F8C-82B488F39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78FE1-2A59-4F5A-93B0-30160CE59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847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6EB509-F3AF-F5AC-DD16-4FB80A3B2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306E20-B13B-31D1-024C-B83EB7652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7BAD6-6BB1-FABE-1CB3-1E0C1D4EB0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392E2-197C-4E77-9454-2A071D54F7FE}" type="datetimeFigureOut">
              <a:rPr lang="en-IN" smtClean="0"/>
              <a:t>30-06-2026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3EC77-8EB5-9830-7BBE-1A6FD13FB2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4A430-B836-D84A-E641-A846A15F6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78FE1-2A59-4F5A-93B0-30160CE592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66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customXml" Target="../ink/ink5.xml"/><Relationship Id="rId3" Type="http://schemas.openxmlformats.org/officeDocument/2006/relationships/image" Target="../media/image5.png"/><Relationship Id="rId7" Type="http://schemas.openxmlformats.org/officeDocument/2006/relationships/customXml" Target="../ink/ink2.xml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0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10" Type="http://schemas.openxmlformats.org/officeDocument/2006/relationships/image" Target="../media/image37.png"/><Relationship Id="rId4" Type="http://schemas.openxmlformats.org/officeDocument/2006/relationships/image" Target="../media/image35.png"/><Relationship Id="rId9" Type="http://schemas.openxmlformats.org/officeDocument/2006/relationships/customXml" Target="../ink/ink3.xml"/><Relationship Id="rId1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6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5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C57497-314E-18B3-B5E3-3820D0173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5" y="2122714"/>
            <a:ext cx="10951029" cy="414745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80FF18F-3347-EF48-599D-B0F18CC689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914" y="404404"/>
            <a:ext cx="10798629" cy="1555023"/>
          </a:xfrm>
          <a:prstGeom prst="rect">
            <a:avLst/>
          </a:prstGeom>
          <a:ln w="9525" cap="sq">
            <a:solidFill>
              <a:srgbClr val="F79646">
                <a:lumMod val="50000"/>
              </a:srgb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337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A0F44-5FC9-EBFC-F93A-A116F340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852C5-F72A-815A-6413-F2CCAABB1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D2DBF9-D60A-719F-0F4A-B99563D99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12486"/>
            <a:ext cx="10923813" cy="674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053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33FDFA-1127-BFC0-6DCA-8971E16E23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602" y="108857"/>
            <a:ext cx="11346827" cy="6422572"/>
          </a:xfrm>
        </p:spPr>
      </p:pic>
    </p:spTree>
    <p:extLst>
      <p:ext uri="{BB962C8B-B14F-4D97-AF65-F5344CB8AC3E}">
        <p14:creationId xmlns:p14="http://schemas.microsoft.com/office/powerpoint/2010/main" val="3713926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425" y="-74839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Course Roadmap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04875" y="1666875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Internal Architecture (EU &amp; BIU)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904875" y="2099220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Register Organization &amp; Memory Segmentation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904875" y="2531566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Pin Diagram &amp; Signal Capabilities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04875" y="2963912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Minimum &amp; Maximum Operating Modes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667500" y="1666875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Bus Timings &amp; Machine Cycles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667500" y="2099220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Instruction Formats &amp; Addressing Modes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6667500" y="2531566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Complete 8086 Instruction Set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667500" y="2963912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Assembler Directives and Operators</a:t>
            </a:r>
            <a:endParaRPr/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66875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99220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31566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63912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666875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99220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531566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963912"/>
            <a:ext cx="1143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41302"/>
            <a:ext cx="3492549" cy="2735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3041302"/>
            <a:ext cx="3492549" cy="2735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3041302"/>
            <a:ext cx="3492549" cy="273531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Introduction to Intel 8086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571500" y="2176611"/>
            <a:ext cx="110490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Intel 8086, introduced in 1978, was a breakthrough 16-bit microprocessor designed using HMOS technology. It marked the beginning of the x86 architecture, which continues to dominate the personal computing landscape today.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57250" y="4022377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16-Bit Processing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57250" y="4622452"/>
            <a:ext cx="2921049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16-bit registers and a 16-bit data bus for parallel data movement.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4635549" y="4022377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1MB Memory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4635549" y="4622452"/>
            <a:ext cx="2921049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20-bit address bus allows addressing of up to 1,048,576 memory locations.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8413849" y="4022377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Pipelining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413849" y="4622452"/>
            <a:ext cx="2921049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First Intel processor to implement a 6-byte instruction pre-fetch queue.</a:t>
            </a:r>
            <a:endParaRPr/>
          </a:p>
        </p:txBody>
      </p:sp>
      <p:pic>
        <p:nvPicPr>
          <p:cNvPr id="133" name="Google Shape;13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341277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5549" y="3412777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13849" y="3412777"/>
            <a:ext cx="33337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65152"/>
            <a:ext cx="5286375" cy="2087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365152"/>
            <a:ext cx="5286375" cy="2087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Internal Architecture Overview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04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571500" y="2500461"/>
            <a:ext cx="110490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8086 architecture is uniquely split into two independent functional units that work in parallel. This segregation is the foundation of its pipelining capability.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57250" y="3698527"/>
            <a:ext cx="495061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Bus Interface Unit (BIU)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57250" y="4298602"/>
            <a:ext cx="4714875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Handles all external bus operations, including fetching instructions, reading/writing operands from memory, and calculating 20-bit physical addresses.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619875" y="3698527"/>
            <a:ext cx="495061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Execution Unit (EU)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619875" y="4298602"/>
            <a:ext cx="4714875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Decodes and executes instructions fetched by the BIU. It contains the ALU, general-purpose registers, and flag register.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E07083-91DE-87AA-AE79-AAF06DEB7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343" y="707571"/>
            <a:ext cx="10776857" cy="552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73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Bus Interface Unit (BIU)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06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571500" y="259392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Key Responsibilities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334125" y="259392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Components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904875" y="3194000"/>
            <a:ext cx="49530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Instruction Fetching: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Fetches up to 6 bytes of instruction from memory and stores them in the queue.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904875" y="3915816"/>
            <a:ext cx="49530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Physical Address Calculation: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Combines segment registers and offsets to create 20-bit addresses.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904875" y="4637633"/>
            <a:ext cx="49530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Bus Control: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Manages signals for memory and I/O reading/writing.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667500" y="3194000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Segment Registers (CS, DS, SS, ES)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6667500" y="3626346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Instruction Pointer (IP)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6667500" y="4058691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Instruction Pre-fetch Queue (6 Bytes)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6667500" y="4491037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Address Summer/Adder</a:t>
            </a:r>
            <a:endParaRPr/>
          </a:p>
        </p:txBody>
      </p:sp>
      <p:pic>
        <p:nvPicPr>
          <p:cNvPr id="177" name="Google Shape;17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94000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15816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637633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194000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626346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058691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491037"/>
            <a:ext cx="1143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Execution Unit (EU)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07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571500" y="2595711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Key Responsibilities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6334125" y="2595711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Components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904875" y="3195786"/>
            <a:ext cx="49530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Instruction Decoding: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Interprets machine code from the BIU queue.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904875" y="3917602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 Processing: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Performed by the 16-bit ALU.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904875" y="4349948"/>
            <a:ext cx="49530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Register Management: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Holds operands and results in internal registers.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667500" y="3195786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Arithmetic Logic Unit (ALU)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6667500" y="3628132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General Purpose Registers (AX-DX)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6667500" y="4060477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Pointer and Index Registers (SP, BP, SI, DI)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6667500" y="4492823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Status and Control Flags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6667500" y="4925169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Control Circuitry</a:t>
            </a:r>
            <a:endParaRPr/>
          </a:p>
        </p:txBody>
      </p:sp>
      <p:pic>
        <p:nvPicPr>
          <p:cNvPr id="202" name="Google Shape;20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95786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17602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49948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195786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628132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060477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492823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925169"/>
            <a:ext cx="1143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62412"/>
            <a:ext cx="5286375" cy="1487537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Instruction Pipelining</a:t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08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571500" y="240342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Overlapping Fetch &amp; Execute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571500" y="3003500"/>
            <a:ext cx="5286375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BIU fetches instructions from memory and stores them in a 6-byte queue. While the EU is busy executing one instruction, the BIU can fetch the next bytes from memory simultaneously.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6334125" y="240342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Advantages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6667500" y="3003500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Reduces idle time of CPU cycles.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6667500" y="3435846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Increased throughput of instruction execution.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6667500" y="3868191"/>
            <a:ext cx="49530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Note: Pipelining is flushed during branch/jump instructions as the pre-fetched sequence becomes invalid.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857250" y="4395787"/>
            <a:ext cx="4714875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Efficiency: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This significantly reduces the time the processor spends waiting for memory accesses, effectively speeding up program execution.</a:t>
            </a:r>
            <a:endParaRPr dirty="0"/>
          </a:p>
        </p:txBody>
      </p:sp>
      <p:pic>
        <p:nvPicPr>
          <p:cNvPr id="226" name="Google Shape;22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003500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435846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868191"/>
            <a:ext cx="1143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44266"/>
            <a:ext cx="2971800" cy="2544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29050" y="2944266"/>
            <a:ext cx="2406699" cy="2544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21499" y="2944266"/>
            <a:ext cx="2406699" cy="2544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13949" y="2944266"/>
            <a:ext cx="2406699" cy="254481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General Purpose Registers</a:t>
            </a:r>
            <a:endParaRPr/>
          </a:p>
        </p:txBody>
      </p:sp>
      <p:sp>
        <p:nvSpPr>
          <p:cNvPr id="239" name="Google Shape;239;p21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09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571500" y="2464296"/>
            <a:ext cx="11049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8086 contains four 16-bit general purpose registers. Each can be split into two 8-bit registers (High and Low byte).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857250" y="3277641"/>
            <a:ext cx="252031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AX (Accumulator)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857250" y="4334916"/>
            <a:ext cx="2400300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Used for arithmetic, logical, and I/O operations. Essential for multiplication/division.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4114800" y="3277641"/>
            <a:ext cx="192695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BX (Base)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4114800" y="3877716"/>
            <a:ext cx="1835199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Holds the base address for memory operations. Used in indirect addressing.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6807249" y="3277641"/>
            <a:ext cx="192695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CX (Count)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6807249" y="3877716"/>
            <a:ext cx="1835199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Default counter for loop instructions, shifts, and rotations.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9499699" y="3277641"/>
            <a:ext cx="192695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DX (Data)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9499699" y="3877716"/>
            <a:ext cx="1835199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Holds I/O port addresses and overflow data during 32-bit math.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96332"/>
            <a:ext cx="11049000" cy="2290167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2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Pointer and Index Registers</a:t>
            </a:r>
            <a:endParaRPr/>
          </a:p>
        </p:txBody>
      </p:sp>
      <p:sp>
        <p:nvSpPr>
          <p:cNvPr id="257" name="Google Shape;257;p22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10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857250" y="4329707"/>
            <a:ext cx="104775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Unlike general purpose registers, these cannot be split into 8-bit components and are primarily used for offset address generation.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571500" y="16668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Pointer Registers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6334125" y="16668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Index Registers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904875" y="2266950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SP (Stack Pointer):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Points to the top of the stack.</a:t>
            </a:r>
            <a:endParaRPr/>
          </a:p>
        </p:txBody>
      </p:sp>
      <p:sp>
        <p:nvSpPr>
          <p:cNvPr id="263" name="Google Shape;263;p22"/>
          <p:cNvSpPr txBox="1"/>
          <p:nvPr/>
        </p:nvSpPr>
        <p:spPr>
          <a:xfrm>
            <a:off x="904875" y="2699295"/>
            <a:ext cx="49530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BP (Base Pointer):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Used to access parameters passed via the stack.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6667500" y="2266950"/>
            <a:ext cx="49530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 (Source Index):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Holds the offset of source data in string operations.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6667500" y="2988766"/>
            <a:ext cx="49530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 (Destination Index):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Holds the offset of destination in string operations.</a:t>
            </a:r>
            <a:endParaRPr/>
          </a:p>
        </p:txBody>
      </p:sp>
      <p:pic>
        <p:nvPicPr>
          <p:cNvPr id="266" name="Google Shape;26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266950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699295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266950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988766"/>
            <a:ext cx="1143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Register Organization Summary</a:t>
            </a:r>
            <a:endParaRPr/>
          </a:p>
        </p:txBody>
      </p:sp>
      <p:sp>
        <p:nvSpPr>
          <p:cNvPr id="275" name="Google Shape;275;p23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11</a:t>
            </a:r>
            <a:endParaRPr/>
          </a:p>
        </p:txBody>
      </p:sp>
      <p:pic>
        <p:nvPicPr>
          <p:cNvPr id="277" name="Google Shape;27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2075" y="1676400"/>
            <a:ext cx="7999847" cy="4895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72866"/>
            <a:ext cx="2547937" cy="2087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3172866"/>
            <a:ext cx="2547937" cy="2087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3172866"/>
            <a:ext cx="2547937" cy="2087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72562" y="3172866"/>
            <a:ext cx="2547937" cy="2087612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Segment Registers</a:t>
            </a:r>
            <a:endParaRPr/>
          </a:p>
        </p:txBody>
      </p:sp>
      <p:sp>
        <p:nvSpPr>
          <p:cNvPr id="288" name="Google Shape;288;p24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12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571500" y="2692896"/>
            <a:ext cx="11049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8086 uses four 16-bit segment registers to manage its 1MB memory space via segmentation.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857250" y="3506241"/>
            <a:ext cx="207525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CS (Code)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857250" y="4106316"/>
            <a:ext cx="1976437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Points to the segment where instructions are stored.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3690937" y="3506241"/>
            <a:ext cx="207525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DS (Data)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3690937" y="4106316"/>
            <a:ext cx="1976437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Points to the primary data storage segment.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6524625" y="3506241"/>
            <a:ext cx="207525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SS (Stack)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6524625" y="4106316"/>
            <a:ext cx="1976437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Points to the segment reserved for stack operations.</a:t>
            </a:r>
            <a:endParaRPr/>
          </a:p>
        </p:txBody>
      </p:sp>
      <p:sp>
        <p:nvSpPr>
          <p:cNvPr id="297" name="Google Shape;297;p24"/>
          <p:cNvSpPr txBox="1"/>
          <p:nvPr/>
        </p:nvSpPr>
        <p:spPr>
          <a:xfrm>
            <a:off x="9358312" y="3506241"/>
            <a:ext cx="207525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ES (Extra)</a:t>
            </a:r>
            <a:endParaRPr/>
          </a:p>
        </p:txBody>
      </p:sp>
      <p:sp>
        <p:nvSpPr>
          <p:cNvPr id="298" name="Google Shape;298;p24"/>
          <p:cNvSpPr txBox="1"/>
          <p:nvPr/>
        </p:nvSpPr>
        <p:spPr>
          <a:xfrm>
            <a:off x="9358312" y="4106316"/>
            <a:ext cx="1976437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Additional data segment, typically for string moves.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593925"/>
            <a:ext cx="5286375" cy="2087612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5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Memory Segmentation Concept</a:t>
            </a:r>
            <a:endParaRPr/>
          </a:p>
        </p:txBody>
      </p:sp>
      <p:sp>
        <p:nvSpPr>
          <p:cNvPr id="306" name="Google Shape;306;p25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13</a:t>
            </a:r>
            <a:endParaRPr/>
          </a:p>
        </p:txBody>
      </p:sp>
      <p:sp>
        <p:nvSpPr>
          <p:cNvPr id="308" name="Google Shape;308;p25"/>
          <p:cNvSpPr txBox="1"/>
          <p:nvPr/>
        </p:nvSpPr>
        <p:spPr>
          <a:xfrm>
            <a:off x="571500" y="259392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Why Segment?</a:t>
            </a:r>
            <a:endParaRPr/>
          </a:p>
        </p:txBody>
      </p:sp>
      <p:sp>
        <p:nvSpPr>
          <p:cNvPr id="309" name="Google Shape;309;p25"/>
          <p:cNvSpPr txBox="1"/>
          <p:nvPr/>
        </p:nvSpPr>
        <p:spPr>
          <a:xfrm>
            <a:off x="571500" y="3194000"/>
            <a:ext cx="5286375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8086 has a 20-bit address bus but only 16-bit registers. Segmentation allows the processor to address 1MB of memory by treating it as 16 logical segments of 64KB each.</a:t>
            </a:r>
            <a:endParaRPr/>
          </a:p>
        </p:txBody>
      </p:sp>
      <p:sp>
        <p:nvSpPr>
          <p:cNvPr id="310" name="Google Shape;310;p25"/>
          <p:cNvSpPr txBox="1"/>
          <p:nvPr/>
        </p:nvSpPr>
        <p:spPr>
          <a:xfrm>
            <a:off x="6619875" y="2927300"/>
            <a:ext cx="495061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Memory Bank View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6619875" y="3527375"/>
            <a:ext cx="4714875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Memory is organized into two banks: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Even Bank (Lower)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Odd Bank (Upper)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each 512KB. This enables 16-bit data access in a single bus cycle when word-aligned.</a:t>
            </a:r>
            <a:endParaRPr/>
          </a:p>
        </p:txBody>
      </p:sp>
      <p:sp>
        <p:nvSpPr>
          <p:cNvPr id="312" name="Google Shape;312;p25"/>
          <p:cNvSpPr txBox="1"/>
          <p:nvPr/>
        </p:nvSpPr>
        <p:spPr>
          <a:xfrm>
            <a:off x="904875" y="4062412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Dynamic relocation of programs.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904875" y="4494758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Code/Data protection between segments.</a:t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904875" y="4927103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Efficient utilization of 16-bit pointers.</a:t>
            </a:r>
            <a:endParaRPr/>
          </a:p>
        </p:txBody>
      </p:sp>
      <p:pic>
        <p:nvPicPr>
          <p:cNvPr id="315" name="Google Shape;315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62412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494758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927103"/>
            <a:ext cx="1143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297608"/>
            <a:ext cx="5286375" cy="3358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67125"/>
            <a:ext cx="4313634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457700"/>
            <a:ext cx="5286375" cy="1198066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6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Physical Address Calculation</a:t>
            </a:r>
            <a:endParaRPr/>
          </a:p>
        </p:txBody>
      </p:sp>
      <p:sp>
        <p:nvSpPr>
          <p:cNvPr id="327" name="Google Shape;327;p26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6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/>
          </a:p>
        </p:txBody>
      </p:sp>
      <p:sp>
        <p:nvSpPr>
          <p:cNvPr id="329" name="Google Shape;329;p26"/>
          <p:cNvSpPr txBox="1"/>
          <p:nvPr/>
        </p:nvSpPr>
        <p:spPr>
          <a:xfrm>
            <a:off x="571500" y="2297608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The Formula</a:t>
            </a:r>
            <a:endParaRPr/>
          </a:p>
        </p:txBody>
      </p:sp>
      <p:sp>
        <p:nvSpPr>
          <p:cNvPr id="330" name="Google Shape;330;p26"/>
          <p:cNvSpPr txBox="1"/>
          <p:nvPr/>
        </p:nvSpPr>
        <p:spPr>
          <a:xfrm>
            <a:off x="571500" y="2897683"/>
            <a:ext cx="52863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physical address is generated by shifting the segment register left by 4 bits (multiply by 10H) and adding the 16-bit offset.</a:t>
            </a:r>
            <a:endParaRPr/>
          </a:p>
        </p:txBody>
      </p:sp>
      <p:pic>
        <p:nvPicPr>
          <p:cNvPr id="331" name="Google Shape;331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43650" y="2307133"/>
            <a:ext cx="5267325" cy="3339107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6"/>
          <p:cNvSpPr txBox="1"/>
          <p:nvPr/>
        </p:nvSpPr>
        <p:spPr>
          <a:xfrm>
            <a:off x="857250" y="4791075"/>
            <a:ext cx="47148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Example: If CS = 2000H and IP = 0012H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P.A. = 20000H + 0012H = 20012H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7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Flag Register: Status Flags</a:t>
            </a:r>
            <a:endParaRPr/>
          </a:p>
        </p:txBody>
      </p:sp>
      <p:sp>
        <p:nvSpPr>
          <p:cNvPr id="339" name="Google Shape;339;p27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7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15</a:t>
            </a:r>
            <a:endParaRPr/>
          </a:p>
        </p:txBody>
      </p:sp>
      <p:sp>
        <p:nvSpPr>
          <p:cNvPr id="341" name="Google Shape;341;p27"/>
          <p:cNvSpPr txBox="1"/>
          <p:nvPr/>
        </p:nvSpPr>
        <p:spPr>
          <a:xfrm>
            <a:off x="571500" y="2871936"/>
            <a:ext cx="11049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16-bit Flag register contains 9 active flags. Six are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Conditional/Status flags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that reflect the result of the previous instruction.</a:t>
            </a:r>
            <a:endParaRPr/>
          </a:p>
        </p:txBody>
      </p:sp>
      <p:sp>
        <p:nvSpPr>
          <p:cNvPr id="342" name="Google Shape;342;p27"/>
          <p:cNvSpPr txBox="1"/>
          <p:nvPr/>
        </p:nvSpPr>
        <p:spPr>
          <a:xfrm>
            <a:off x="904875" y="3351907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Carry (CF):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Set if an unsigned overflow occurs.</a:t>
            </a:r>
            <a:endParaRPr/>
          </a:p>
        </p:txBody>
      </p:sp>
      <p:sp>
        <p:nvSpPr>
          <p:cNvPr id="343" name="Google Shape;343;p27"/>
          <p:cNvSpPr txBox="1"/>
          <p:nvPr/>
        </p:nvSpPr>
        <p:spPr>
          <a:xfrm>
            <a:off x="904875" y="3784252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Parity (PF):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Set if result has even parity.</a:t>
            </a:r>
            <a:endParaRPr/>
          </a:p>
        </p:txBody>
      </p:sp>
      <p:sp>
        <p:nvSpPr>
          <p:cNvPr id="344" name="Google Shape;344;p27"/>
          <p:cNvSpPr txBox="1"/>
          <p:nvPr/>
        </p:nvSpPr>
        <p:spPr>
          <a:xfrm>
            <a:off x="904875" y="4216598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Aux Carry (AF):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Used for BCD arithmetic.</a:t>
            </a:r>
            <a:endParaRPr/>
          </a:p>
        </p:txBody>
      </p:sp>
      <p:sp>
        <p:nvSpPr>
          <p:cNvPr id="345" name="Google Shape;345;p27"/>
          <p:cNvSpPr txBox="1"/>
          <p:nvPr/>
        </p:nvSpPr>
        <p:spPr>
          <a:xfrm>
            <a:off x="904875" y="4648944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Zero (ZF):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Set if result is zero.</a:t>
            </a:r>
            <a:endParaRPr/>
          </a:p>
        </p:txBody>
      </p:sp>
      <p:sp>
        <p:nvSpPr>
          <p:cNvPr id="346" name="Google Shape;346;p27"/>
          <p:cNvSpPr txBox="1"/>
          <p:nvPr/>
        </p:nvSpPr>
        <p:spPr>
          <a:xfrm>
            <a:off x="6667500" y="3351907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Sign (SF):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Matches the MSB of the result.</a:t>
            </a:r>
            <a:endParaRPr/>
          </a:p>
        </p:txBody>
      </p:sp>
      <p:sp>
        <p:nvSpPr>
          <p:cNvPr id="347" name="Google Shape;347;p27"/>
          <p:cNvSpPr txBox="1"/>
          <p:nvPr/>
        </p:nvSpPr>
        <p:spPr>
          <a:xfrm>
            <a:off x="6667500" y="3784252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Overflow (OF):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Set if signed overflow occurs.</a:t>
            </a:r>
            <a:endParaRPr/>
          </a:p>
        </p:txBody>
      </p:sp>
      <p:pic>
        <p:nvPicPr>
          <p:cNvPr id="348" name="Google Shape;348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51907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784252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216598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648944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351907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784252"/>
            <a:ext cx="1143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815083"/>
            <a:ext cx="5286375" cy="2323058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8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Control Flags &amp; Bit Format</a:t>
            </a:r>
            <a:endParaRPr/>
          </a:p>
        </p:txBody>
      </p:sp>
      <p:sp>
        <p:nvSpPr>
          <p:cNvPr id="361" name="Google Shape;361;p28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8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16</a:t>
            </a:r>
            <a:endParaRPr/>
          </a:p>
        </p:txBody>
      </p:sp>
      <p:sp>
        <p:nvSpPr>
          <p:cNvPr id="363" name="Google Shape;363;p28"/>
          <p:cNvSpPr txBox="1"/>
          <p:nvPr/>
        </p:nvSpPr>
        <p:spPr>
          <a:xfrm>
            <a:off x="571500" y="2815083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Control Flags</a:t>
            </a:r>
            <a:endParaRPr/>
          </a:p>
        </p:txBody>
      </p:sp>
      <p:pic>
        <p:nvPicPr>
          <p:cNvPr id="364" name="Google Shape;364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824608"/>
            <a:ext cx="5267325" cy="2304008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8"/>
          <p:cNvSpPr txBox="1"/>
          <p:nvPr/>
        </p:nvSpPr>
        <p:spPr>
          <a:xfrm>
            <a:off x="904875" y="3415158"/>
            <a:ext cx="49530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Direction (DF):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If 1, string pointers auto-decrement; if 0, they increment.</a:t>
            </a:r>
            <a:endParaRPr/>
          </a:p>
        </p:txBody>
      </p:sp>
      <p:sp>
        <p:nvSpPr>
          <p:cNvPr id="366" name="Google Shape;366;p28"/>
          <p:cNvSpPr txBox="1"/>
          <p:nvPr/>
        </p:nvSpPr>
        <p:spPr>
          <a:xfrm>
            <a:off x="904875" y="4136975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Interrupt (IF):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If 1, maskable interrupts (INTR) are enabled.</a:t>
            </a:r>
            <a:endParaRPr/>
          </a:p>
        </p:txBody>
      </p:sp>
      <p:sp>
        <p:nvSpPr>
          <p:cNvPr id="367" name="Google Shape;367;p28"/>
          <p:cNvSpPr txBox="1"/>
          <p:nvPr/>
        </p:nvSpPr>
        <p:spPr>
          <a:xfrm>
            <a:off x="904875" y="4569321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Trap (TF):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Enables single-step mode for debugging.</a:t>
            </a:r>
            <a:endParaRPr/>
          </a:p>
        </p:txBody>
      </p:sp>
      <p:pic>
        <p:nvPicPr>
          <p:cNvPr id="368" name="Google Shape;368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415158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36975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69321"/>
            <a:ext cx="1143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9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Pin Diagram &amp; Hardware Layout</a:t>
            </a:r>
            <a:endParaRPr/>
          </a:p>
        </p:txBody>
      </p:sp>
      <p:sp>
        <p:nvSpPr>
          <p:cNvPr id="377" name="Google Shape;377;p29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9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17</a:t>
            </a:r>
            <a:endParaRPr/>
          </a:p>
        </p:txBody>
      </p:sp>
      <p:sp>
        <p:nvSpPr>
          <p:cNvPr id="379" name="Google Shape;379;p29"/>
          <p:cNvSpPr txBox="1"/>
          <p:nvPr/>
        </p:nvSpPr>
        <p:spPr>
          <a:xfrm>
            <a:off x="571500" y="16668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40-Pin DIP Package</a:t>
            </a:r>
            <a:endParaRPr/>
          </a:p>
        </p:txBody>
      </p:sp>
      <p:sp>
        <p:nvSpPr>
          <p:cNvPr id="380" name="Google Shape;380;p29"/>
          <p:cNvSpPr txBox="1"/>
          <p:nvPr/>
        </p:nvSpPr>
        <p:spPr>
          <a:xfrm>
            <a:off x="571500" y="2266950"/>
            <a:ext cx="52863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8086 is a 40-pin chip that operates on a single +5V supply. It uses multiplexed buses to save pin count.</a:t>
            </a:r>
            <a:endParaRPr/>
          </a:p>
        </p:txBody>
      </p:sp>
      <p:pic>
        <p:nvPicPr>
          <p:cNvPr id="381" name="Google Shape;381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30949" y="1430491"/>
            <a:ext cx="3955718" cy="518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9"/>
          <p:cNvSpPr txBox="1"/>
          <p:nvPr/>
        </p:nvSpPr>
        <p:spPr>
          <a:xfrm>
            <a:off x="904875" y="2845891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AD0-AD15: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Multiplexed Address and Data bus.</a:t>
            </a:r>
            <a:endParaRPr/>
          </a:p>
        </p:txBody>
      </p:sp>
      <p:sp>
        <p:nvSpPr>
          <p:cNvPr id="383" name="Google Shape;383;p29"/>
          <p:cNvSpPr txBox="1"/>
          <p:nvPr/>
        </p:nvSpPr>
        <p:spPr>
          <a:xfrm>
            <a:off x="904875" y="3278237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A16/S3-A19/S6: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Multiplexed Address and Status lines.</a:t>
            </a:r>
            <a:endParaRPr/>
          </a:p>
        </p:txBody>
      </p:sp>
      <p:pic>
        <p:nvPicPr>
          <p:cNvPr id="384" name="Google Shape;384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845891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278237"/>
            <a:ext cx="1143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62412"/>
            <a:ext cx="5286375" cy="1487537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0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Address/Data Multiplexing</a:t>
            </a:r>
            <a:endParaRPr/>
          </a:p>
        </p:txBody>
      </p:sp>
      <p:sp>
        <p:nvSpPr>
          <p:cNvPr id="393" name="Google Shape;393;p30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0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18</a:t>
            </a:r>
            <a:endParaRPr/>
          </a:p>
        </p:txBody>
      </p:sp>
      <p:sp>
        <p:nvSpPr>
          <p:cNvPr id="395" name="Google Shape;395;p30"/>
          <p:cNvSpPr txBox="1"/>
          <p:nvPr/>
        </p:nvSpPr>
        <p:spPr>
          <a:xfrm>
            <a:off x="571500" y="240342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Time Multiplexing</a:t>
            </a:r>
            <a:endParaRPr/>
          </a:p>
        </p:txBody>
      </p:sp>
      <p:sp>
        <p:nvSpPr>
          <p:cNvPr id="396" name="Google Shape;396;p30"/>
          <p:cNvSpPr txBox="1"/>
          <p:nvPr/>
        </p:nvSpPr>
        <p:spPr>
          <a:xfrm>
            <a:off x="571500" y="3003500"/>
            <a:ext cx="5286375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 reduce the chip's physical size, the lower 16 lines carry the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Address (A0-A15)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during T1 of a bus cycle and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 (D0-D15)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during T2, T3, and T4.</a:t>
            </a:r>
            <a:endParaRPr/>
          </a:p>
        </p:txBody>
      </p:sp>
      <p:sp>
        <p:nvSpPr>
          <p:cNvPr id="397" name="Google Shape;397;p30"/>
          <p:cNvSpPr txBox="1"/>
          <p:nvPr/>
        </p:nvSpPr>
        <p:spPr>
          <a:xfrm>
            <a:off x="6667500" y="2403425"/>
            <a:ext cx="49530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BHE (Bus High Enable):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Enables the upper memory bank (AD8-AD15).</a:t>
            </a:r>
            <a:endParaRPr/>
          </a:p>
        </p:txBody>
      </p:sp>
      <p:sp>
        <p:nvSpPr>
          <p:cNvPr id="398" name="Google Shape;398;p30"/>
          <p:cNvSpPr txBox="1"/>
          <p:nvPr/>
        </p:nvSpPr>
        <p:spPr>
          <a:xfrm>
            <a:off x="6667500" y="3125241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RD / WR: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Read or Write control signals.</a:t>
            </a:r>
            <a:endParaRPr/>
          </a:p>
        </p:txBody>
      </p:sp>
      <p:sp>
        <p:nvSpPr>
          <p:cNvPr id="399" name="Google Shape;399;p30"/>
          <p:cNvSpPr txBox="1"/>
          <p:nvPr/>
        </p:nvSpPr>
        <p:spPr>
          <a:xfrm>
            <a:off x="6667500" y="3557587"/>
            <a:ext cx="49530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DT/R: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Data Transmit or Receive (controls transceiver direction).</a:t>
            </a:r>
            <a:endParaRPr/>
          </a:p>
        </p:txBody>
      </p:sp>
      <p:sp>
        <p:nvSpPr>
          <p:cNvPr id="400" name="Google Shape;400;p30"/>
          <p:cNvSpPr txBox="1"/>
          <p:nvPr/>
        </p:nvSpPr>
        <p:spPr>
          <a:xfrm>
            <a:off x="857250" y="4395787"/>
            <a:ext cx="4714875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ALE (Address Latch Enable)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signal is used to demultiplex these lines using external latches like the 8282.</a:t>
            </a:r>
            <a:endParaRPr/>
          </a:p>
        </p:txBody>
      </p:sp>
      <p:pic>
        <p:nvPicPr>
          <p:cNvPr id="401" name="Google Shape;401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403425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125241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557587"/>
            <a:ext cx="1143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82007"/>
            <a:ext cx="11049000" cy="2604492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1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System Control &amp; Status</a:t>
            </a:r>
            <a:endParaRPr/>
          </a:p>
        </p:txBody>
      </p:sp>
      <p:sp>
        <p:nvSpPr>
          <p:cNvPr id="411" name="Google Shape;411;p31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1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19</a:t>
            </a:r>
            <a:endParaRPr/>
          </a:p>
        </p:txBody>
      </p:sp>
      <p:sp>
        <p:nvSpPr>
          <p:cNvPr id="413" name="Google Shape;413;p31"/>
          <p:cNvSpPr txBox="1"/>
          <p:nvPr/>
        </p:nvSpPr>
        <p:spPr>
          <a:xfrm>
            <a:off x="857250" y="4015382"/>
            <a:ext cx="104775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Most control pins change functionality depending on whether the processor is in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Minimum Mode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or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Maximum Mode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414" name="Google Shape;414;p31"/>
          <p:cNvSpPr txBox="1"/>
          <p:nvPr/>
        </p:nvSpPr>
        <p:spPr>
          <a:xfrm>
            <a:off x="904875" y="1666875"/>
            <a:ext cx="10715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READY: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Used to synchronize the CPU with slower peripherals. The processor waits if READY is low.</a:t>
            </a:r>
            <a:endParaRPr/>
          </a:p>
        </p:txBody>
      </p:sp>
      <p:sp>
        <p:nvSpPr>
          <p:cNvPr id="415" name="Google Shape;415;p31"/>
          <p:cNvSpPr txBox="1"/>
          <p:nvPr/>
        </p:nvSpPr>
        <p:spPr>
          <a:xfrm>
            <a:off x="904875" y="2099220"/>
            <a:ext cx="10715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TEST: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Used with the WAIT instruction. If low, execution continues; otherwise, the CPU stays idle.</a:t>
            </a:r>
            <a:endParaRPr/>
          </a:p>
        </p:txBody>
      </p:sp>
      <p:sp>
        <p:nvSpPr>
          <p:cNvPr id="416" name="Google Shape;416;p31"/>
          <p:cNvSpPr txBox="1"/>
          <p:nvPr/>
        </p:nvSpPr>
        <p:spPr>
          <a:xfrm>
            <a:off x="904875" y="2531566"/>
            <a:ext cx="10715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DEN (Data Enable):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Enables the transceivers (like 8286) to connect CPU to the data bus.</a:t>
            </a:r>
            <a:endParaRPr/>
          </a:p>
        </p:txBody>
      </p:sp>
      <p:sp>
        <p:nvSpPr>
          <p:cNvPr id="417" name="Google Shape;417;p31"/>
          <p:cNvSpPr txBox="1"/>
          <p:nvPr/>
        </p:nvSpPr>
        <p:spPr>
          <a:xfrm>
            <a:off x="904875" y="2963912"/>
            <a:ext cx="10715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M/IO: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Memory or Input-Output selector. High for memory access, Low for I/O access.</a:t>
            </a:r>
            <a:endParaRPr/>
          </a:p>
        </p:txBody>
      </p:sp>
      <p:pic>
        <p:nvPicPr>
          <p:cNvPr id="418" name="Google Shape;418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666875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99220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531566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63912"/>
            <a:ext cx="1143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-11147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17527"/>
            <a:ext cx="5286375" cy="1798141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2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Minimum Mode of Operation</a:t>
            </a:r>
            <a:endParaRPr dirty="0"/>
          </a:p>
        </p:txBody>
      </p:sp>
      <p:sp>
        <p:nvSpPr>
          <p:cNvPr id="429" name="Google Shape;429;p32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2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20</a:t>
            </a:r>
            <a:endParaRPr/>
          </a:p>
        </p:txBody>
      </p:sp>
      <p:sp>
        <p:nvSpPr>
          <p:cNvPr id="431" name="Google Shape;431;p32"/>
          <p:cNvSpPr txBox="1"/>
          <p:nvPr/>
        </p:nvSpPr>
        <p:spPr>
          <a:xfrm>
            <a:off x="571500" y="2837557"/>
            <a:ext cx="11049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Minimum mode is selected by connecting the </a:t>
            </a:r>
            <a:r>
              <a:rPr lang="en-US" sz="1425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MN/MX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pin to +5V (High). It is used for simple, single-processor systems.</a:t>
            </a:r>
            <a:endParaRPr dirty="0"/>
          </a:p>
        </p:txBody>
      </p:sp>
      <p:sp>
        <p:nvSpPr>
          <p:cNvPr id="432" name="Google Shape;432;p32"/>
          <p:cNvSpPr txBox="1"/>
          <p:nvPr/>
        </p:nvSpPr>
        <p:spPr>
          <a:xfrm>
            <a:off x="857250" y="3650902"/>
            <a:ext cx="495061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Direct Control</a:t>
            </a:r>
            <a:endParaRPr dirty="0"/>
          </a:p>
        </p:txBody>
      </p:sp>
      <p:sp>
        <p:nvSpPr>
          <p:cNvPr id="433" name="Google Shape;433;p32"/>
          <p:cNvSpPr txBox="1"/>
          <p:nvPr/>
        </p:nvSpPr>
        <p:spPr>
          <a:xfrm>
            <a:off x="857250" y="4250977"/>
            <a:ext cx="47148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8086 itself generates all control signals like ALE, DEN, DT/R, RD, WR, and INTA.</a:t>
            </a:r>
            <a:endParaRPr/>
          </a:p>
        </p:txBody>
      </p:sp>
      <p:sp>
        <p:nvSpPr>
          <p:cNvPr id="434" name="Google Shape;434;p32"/>
          <p:cNvSpPr txBox="1"/>
          <p:nvPr/>
        </p:nvSpPr>
        <p:spPr>
          <a:xfrm>
            <a:off x="6667500" y="3317527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Simpler system design.</a:t>
            </a:r>
            <a:endParaRPr/>
          </a:p>
        </p:txBody>
      </p:sp>
      <p:sp>
        <p:nvSpPr>
          <p:cNvPr id="435" name="Google Shape;435;p32"/>
          <p:cNvSpPr txBox="1"/>
          <p:nvPr/>
        </p:nvSpPr>
        <p:spPr>
          <a:xfrm>
            <a:off x="6667500" y="3749873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Lower cost for small applications.</a:t>
            </a:r>
            <a:endParaRPr/>
          </a:p>
        </p:txBody>
      </p:sp>
      <p:sp>
        <p:nvSpPr>
          <p:cNvPr id="436" name="Google Shape;436;p32"/>
          <p:cNvSpPr txBox="1"/>
          <p:nvPr/>
        </p:nvSpPr>
        <p:spPr>
          <a:xfrm>
            <a:off x="6667500" y="4182219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 support for bus controllers or co-processors.</a:t>
            </a:r>
            <a:endParaRPr dirty="0"/>
          </a:p>
        </p:txBody>
      </p:sp>
      <p:sp>
        <p:nvSpPr>
          <p:cNvPr id="437" name="Google Shape;437;p32"/>
          <p:cNvSpPr txBox="1"/>
          <p:nvPr/>
        </p:nvSpPr>
        <p:spPr>
          <a:xfrm>
            <a:off x="6667500" y="4614564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HOLD and HLDA pins handle DMA requests.</a:t>
            </a:r>
            <a:endParaRPr/>
          </a:p>
        </p:txBody>
      </p:sp>
      <p:pic>
        <p:nvPicPr>
          <p:cNvPr id="438" name="Google Shape;438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317527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749873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182219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614564"/>
            <a:ext cx="1143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Google Shape;446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33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Minimum Mode System Configuration</a:t>
            </a:r>
            <a:endParaRPr/>
          </a:p>
        </p:txBody>
      </p:sp>
      <p:sp>
        <p:nvSpPr>
          <p:cNvPr id="448" name="Google Shape;448;p33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3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21</a:t>
            </a:r>
            <a:endParaRPr/>
          </a:p>
        </p:txBody>
      </p:sp>
      <p:pic>
        <p:nvPicPr>
          <p:cNvPr id="450" name="Google Shape;450;p33" descr="image.png"/>
          <p:cNvPicPr preferRelativeResize="0"/>
          <p:nvPr/>
        </p:nvPicPr>
        <p:blipFill rotWithShape="1">
          <a:blip r:embed="rId4">
            <a:alphaModFix/>
          </a:blip>
          <a:srcRect b="19002"/>
          <a:stretch/>
        </p:blipFill>
        <p:spPr>
          <a:xfrm>
            <a:off x="702129" y="1078932"/>
            <a:ext cx="9125674" cy="520756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1A0C7BA-18B7-3466-0358-313BF0FD96F6}"/>
                  </a:ext>
                </a:extLst>
              </p14:cNvPr>
              <p14:cNvContentPartPr/>
              <p14:nvPr/>
            </p14:nvContentPartPr>
            <p14:xfrm>
              <a:off x="3178200" y="5727291"/>
              <a:ext cx="1657080" cy="91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1A0C7BA-18B7-3466-0358-313BF0FD96F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72080" y="5721171"/>
                <a:ext cx="166932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E66AB5C-AD73-22B9-E3BD-41D53115E65E}"/>
                  </a:ext>
                </a:extLst>
              </p14:cNvPr>
              <p14:cNvContentPartPr/>
              <p14:nvPr/>
            </p14:nvContentPartPr>
            <p14:xfrm>
              <a:off x="6237480" y="5725851"/>
              <a:ext cx="720" cy="228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E66AB5C-AD73-22B9-E3BD-41D53115E65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25240" y="5719731"/>
                <a:ext cx="2520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0545D13-41DA-4497-2207-78C144CA6BEE}"/>
                  </a:ext>
                </a:extLst>
              </p14:cNvPr>
              <p14:cNvContentPartPr/>
              <p14:nvPr/>
            </p14:nvContentPartPr>
            <p14:xfrm>
              <a:off x="6248280" y="5932491"/>
              <a:ext cx="1567800" cy="10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0545D13-41DA-4497-2207-78C144CA6BE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242160" y="5926371"/>
                <a:ext cx="158004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84239DF-D4DA-172D-50E4-777E6ACE2980}"/>
                  </a:ext>
                </a:extLst>
              </p14:cNvPr>
              <p14:cNvContentPartPr/>
              <p14:nvPr/>
            </p14:nvContentPartPr>
            <p14:xfrm>
              <a:off x="7815720" y="5716131"/>
              <a:ext cx="360" cy="217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84239DF-D4DA-172D-50E4-777E6ACE298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809600" y="5710011"/>
                <a:ext cx="1260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05B41D1-7CD2-356F-3CB5-6DD4C8CAAF06}"/>
                  </a:ext>
                </a:extLst>
              </p14:cNvPr>
              <p14:cNvContentPartPr/>
              <p14:nvPr/>
            </p14:nvContentPartPr>
            <p14:xfrm>
              <a:off x="3309240" y="5780211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05B41D1-7CD2-356F-3CB5-6DD4C8CAAF0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303120" y="577409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ABC900F-786B-1EEF-9132-CA03FE47D328}"/>
                  </a:ext>
                </a:extLst>
              </p14:cNvPr>
              <p14:cNvContentPartPr/>
              <p14:nvPr/>
            </p14:nvContentPartPr>
            <p14:xfrm>
              <a:off x="4811520" y="5801811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ABC900F-786B-1EEF-9132-CA03FE47D32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805400" y="5795691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90714E-77E1-E985-3553-85F9B8F6D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" y="-114300"/>
            <a:ext cx="124587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2227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222BFF-1F9B-9973-F1D1-05306F614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8296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72866"/>
            <a:ext cx="5286375" cy="208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4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Maximum Mode of Operation</a:t>
            </a:r>
            <a:endParaRPr/>
          </a:p>
        </p:txBody>
      </p:sp>
      <p:sp>
        <p:nvSpPr>
          <p:cNvPr id="458" name="Google Shape;458;p34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4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22</a:t>
            </a:r>
            <a:endParaRPr/>
          </a:p>
        </p:txBody>
      </p:sp>
      <p:sp>
        <p:nvSpPr>
          <p:cNvPr id="460" name="Google Shape;460;p34"/>
          <p:cNvSpPr txBox="1"/>
          <p:nvPr/>
        </p:nvSpPr>
        <p:spPr>
          <a:xfrm>
            <a:off x="571500" y="2692896"/>
            <a:ext cx="11049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Maximum mode is selected by connecting the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MN/MX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pin to GND (Low). It is designed for multi-processor environments.</a:t>
            </a:r>
            <a:endParaRPr/>
          </a:p>
        </p:txBody>
      </p:sp>
      <p:sp>
        <p:nvSpPr>
          <p:cNvPr id="461" name="Google Shape;461;p34"/>
          <p:cNvSpPr txBox="1"/>
          <p:nvPr/>
        </p:nvSpPr>
        <p:spPr>
          <a:xfrm>
            <a:off x="857250" y="3506241"/>
            <a:ext cx="495061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Bus Control Logic</a:t>
            </a:r>
            <a:endParaRPr/>
          </a:p>
        </p:txBody>
      </p:sp>
      <p:sp>
        <p:nvSpPr>
          <p:cNvPr id="462" name="Google Shape;462;p34"/>
          <p:cNvSpPr txBox="1"/>
          <p:nvPr/>
        </p:nvSpPr>
        <p:spPr>
          <a:xfrm>
            <a:off x="857250" y="4106316"/>
            <a:ext cx="4714875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Standard control signals are replaced by status signals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S0, S1, S2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These are decoded by an external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8288 Bus Controller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to generate system signals.</a:t>
            </a:r>
            <a:endParaRPr/>
          </a:p>
        </p:txBody>
      </p:sp>
      <p:sp>
        <p:nvSpPr>
          <p:cNvPr id="463" name="Google Shape;463;p34"/>
          <p:cNvSpPr txBox="1"/>
          <p:nvPr/>
        </p:nvSpPr>
        <p:spPr>
          <a:xfrm>
            <a:off x="6667500" y="3172866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Supports Co-processors (e.g., 8087 Math coprocessor).</a:t>
            </a:r>
            <a:endParaRPr/>
          </a:p>
        </p:txBody>
      </p:sp>
      <p:sp>
        <p:nvSpPr>
          <p:cNvPr id="464" name="Google Shape;464;p34"/>
          <p:cNvSpPr txBox="1"/>
          <p:nvPr/>
        </p:nvSpPr>
        <p:spPr>
          <a:xfrm>
            <a:off x="6667500" y="3605212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Allows multiple masters on the bus.</a:t>
            </a:r>
            <a:endParaRPr/>
          </a:p>
        </p:txBody>
      </p:sp>
      <p:sp>
        <p:nvSpPr>
          <p:cNvPr id="465" name="Google Shape;465;p34"/>
          <p:cNvSpPr txBox="1"/>
          <p:nvPr/>
        </p:nvSpPr>
        <p:spPr>
          <a:xfrm>
            <a:off x="6667500" y="4037558"/>
            <a:ext cx="49530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Queue status signals (QS0, QS1) allow co-processors to track the instruction queue.</a:t>
            </a:r>
            <a:endParaRPr/>
          </a:p>
        </p:txBody>
      </p:sp>
      <p:pic>
        <p:nvPicPr>
          <p:cNvPr id="466" name="Google Shape;466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172866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605212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037558"/>
            <a:ext cx="1143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86757"/>
            <a:ext cx="11049000" cy="2699742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35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8288 Bus Controller Role</a:t>
            </a:r>
            <a:endParaRPr/>
          </a:p>
        </p:txBody>
      </p:sp>
      <p:sp>
        <p:nvSpPr>
          <p:cNvPr id="476" name="Google Shape;476;p35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5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23</a:t>
            </a:r>
            <a:endParaRPr/>
          </a:p>
        </p:txBody>
      </p:sp>
      <p:sp>
        <p:nvSpPr>
          <p:cNvPr id="478" name="Google Shape;478;p35"/>
          <p:cNvSpPr txBox="1"/>
          <p:nvPr/>
        </p:nvSpPr>
        <p:spPr>
          <a:xfrm>
            <a:off x="857250" y="3920132"/>
            <a:ext cx="104775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By offloading bus control to the 8288, the 8086 can maintain a simpler pin interface for complex multi-master coordination.</a:t>
            </a:r>
            <a:endParaRPr/>
          </a:p>
        </p:txBody>
      </p:sp>
      <p:sp>
        <p:nvSpPr>
          <p:cNvPr id="479" name="Google Shape;479;p35"/>
          <p:cNvSpPr txBox="1"/>
          <p:nvPr/>
        </p:nvSpPr>
        <p:spPr>
          <a:xfrm>
            <a:off x="904875" y="1666875"/>
            <a:ext cx="10715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S0, S1, S2 (Status):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Encoded signals indicating the type of bus cycle (e.g., 010 for Write, 101 for Instruction Fetch).</a:t>
            </a:r>
            <a:endParaRPr/>
          </a:p>
        </p:txBody>
      </p:sp>
      <p:sp>
        <p:nvSpPr>
          <p:cNvPr id="480" name="Google Shape;480;p35"/>
          <p:cNvSpPr txBox="1"/>
          <p:nvPr/>
        </p:nvSpPr>
        <p:spPr>
          <a:xfrm>
            <a:off x="904875" y="2099220"/>
            <a:ext cx="10715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MRDC / MWTC: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Memory Read/Write command signals generated by 8288.</a:t>
            </a:r>
            <a:endParaRPr/>
          </a:p>
        </p:txBody>
      </p:sp>
      <p:sp>
        <p:nvSpPr>
          <p:cNvPr id="481" name="Google Shape;481;p35"/>
          <p:cNvSpPr txBox="1"/>
          <p:nvPr/>
        </p:nvSpPr>
        <p:spPr>
          <a:xfrm>
            <a:off x="904875" y="2531566"/>
            <a:ext cx="10715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IORC / IOWC: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I/O Read/Write command signals.</a:t>
            </a:r>
            <a:endParaRPr/>
          </a:p>
        </p:txBody>
      </p:sp>
      <p:sp>
        <p:nvSpPr>
          <p:cNvPr id="482" name="Google Shape;482;p35"/>
          <p:cNvSpPr txBox="1"/>
          <p:nvPr/>
        </p:nvSpPr>
        <p:spPr>
          <a:xfrm>
            <a:off x="904875" y="2963912"/>
            <a:ext cx="10715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RQ/GT (Request/Grant):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Replaces HOLD/HLDA to allow co-processors to request bus control.</a:t>
            </a:r>
            <a:endParaRPr/>
          </a:p>
        </p:txBody>
      </p:sp>
      <p:pic>
        <p:nvPicPr>
          <p:cNvPr id="483" name="Google Shape;483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666875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99220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531566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63912"/>
            <a:ext cx="1143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491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36"/>
          <p:cNvSpPr txBox="1"/>
          <p:nvPr/>
        </p:nvSpPr>
        <p:spPr>
          <a:xfrm>
            <a:off x="571500" y="366575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Maximum Mode System Configuration</a:t>
            </a:r>
            <a:endParaRPr/>
          </a:p>
        </p:txBody>
      </p:sp>
      <p:sp>
        <p:nvSpPr>
          <p:cNvPr id="493" name="Google Shape;493;p36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6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24</a:t>
            </a:r>
            <a:endParaRPr/>
          </a:p>
        </p:txBody>
      </p:sp>
      <p:pic>
        <p:nvPicPr>
          <p:cNvPr id="495" name="Google Shape;495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430" y="851375"/>
            <a:ext cx="8863786" cy="5591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D4677A-D9F9-1892-08B6-D7EA19EB8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3884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9E9E4B-3EEB-B49E-DBC0-39BE88E11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300" y="0"/>
            <a:ext cx="118643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7229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222BFF-1F9B-9973-F1D1-05306F614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865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87116"/>
            <a:ext cx="5286375" cy="2948582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37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Bus Timings: Machine Cycles</a:t>
            </a:r>
            <a:endParaRPr/>
          </a:p>
        </p:txBody>
      </p:sp>
      <p:sp>
        <p:nvSpPr>
          <p:cNvPr id="503" name="Google Shape;503;p37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7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25</a:t>
            </a:r>
            <a:endParaRPr/>
          </a:p>
        </p:txBody>
      </p:sp>
      <p:sp>
        <p:nvSpPr>
          <p:cNvPr id="505" name="Google Shape;505;p37"/>
          <p:cNvSpPr txBox="1"/>
          <p:nvPr/>
        </p:nvSpPr>
        <p:spPr>
          <a:xfrm>
            <a:off x="571500" y="2117675"/>
            <a:ext cx="110490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standard bus cycle in 8086 consists of four clock states (T1, T2, T3, T4). If the memory/device is slow,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Wait States (Tw)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are inserted between T3 and T4.</a:t>
            </a:r>
            <a:endParaRPr/>
          </a:p>
        </p:txBody>
      </p:sp>
      <p:sp>
        <p:nvSpPr>
          <p:cNvPr id="506" name="Google Shape;506;p37"/>
          <p:cNvSpPr txBox="1"/>
          <p:nvPr/>
        </p:nvSpPr>
        <p:spPr>
          <a:xfrm>
            <a:off x="857250" y="3220491"/>
            <a:ext cx="495061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State Functions</a:t>
            </a:r>
            <a:endParaRPr/>
          </a:p>
        </p:txBody>
      </p:sp>
      <p:sp>
        <p:nvSpPr>
          <p:cNvPr id="507" name="Google Shape;507;p37"/>
          <p:cNvSpPr txBox="1"/>
          <p:nvPr/>
        </p:nvSpPr>
        <p:spPr>
          <a:xfrm>
            <a:off x="6334125" y="2887116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Critical Events</a:t>
            </a:r>
            <a:endParaRPr/>
          </a:p>
        </p:txBody>
      </p:sp>
      <p:sp>
        <p:nvSpPr>
          <p:cNvPr id="508" name="Google Shape;508;p37"/>
          <p:cNvSpPr txBox="1"/>
          <p:nvPr/>
        </p:nvSpPr>
        <p:spPr>
          <a:xfrm>
            <a:off x="6667500" y="3487191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ALE is active during T1.</a:t>
            </a:r>
            <a:endParaRPr/>
          </a:p>
        </p:txBody>
      </p:sp>
      <p:sp>
        <p:nvSpPr>
          <p:cNvPr id="509" name="Google Shape;509;p37"/>
          <p:cNvSpPr txBox="1"/>
          <p:nvPr/>
        </p:nvSpPr>
        <p:spPr>
          <a:xfrm>
            <a:off x="6667500" y="3919537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RD/WR signals are active during T2-T4.</a:t>
            </a:r>
            <a:endParaRPr/>
          </a:p>
        </p:txBody>
      </p:sp>
      <p:sp>
        <p:nvSpPr>
          <p:cNvPr id="510" name="Google Shape;510;p37"/>
          <p:cNvSpPr txBox="1"/>
          <p:nvPr/>
        </p:nvSpPr>
        <p:spPr>
          <a:xfrm>
            <a:off x="6667500" y="4351883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READY is sampled during T3.</a:t>
            </a:r>
            <a:endParaRPr/>
          </a:p>
        </p:txBody>
      </p:sp>
      <p:sp>
        <p:nvSpPr>
          <p:cNvPr id="511" name="Google Shape;511;p37"/>
          <p:cNvSpPr txBox="1"/>
          <p:nvPr/>
        </p:nvSpPr>
        <p:spPr>
          <a:xfrm>
            <a:off x="1190625" y="3820566"/>
            <a:ext cx="43815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T1: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Address is output on AD0-AD15.</a:t>
            </a:r>
            <a:endParaRPr/>
          </a:p>
        </p:txBody>
      </p:sp>
      <p:sp>
        <p:nvSpPr>
          <p:cNvPr id="512" name="Google Shape;512;p37"/>
          <p:cNvSpPr txBox="1"/>
          <p:nvPr/>
        </p:nvSpPr>
        <p:spPr>
          <a:xfrm>
            <a:off x="1190625" y="4252912"/>
            <a:ext cx="43815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T2: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Address is removed; lines change to Status/Data.</a:t>
            </a:r>
            <a:endParaRPr/>
          </a:p>
        </p:txBody>
      </p:sp>
      <p:sp>
        <p:nvSpPr>
          <p:cNvPr id="513" name="Google Shape;513;p37"/>
          <p:cNvSpPr txBox="1"/>
          <p:nvPr/>
        </p:nvSpPr>
        <p:spPr>
          <a:xfrm>
            <a:off x="1190625" y="4685258"/>
            <a:ext cx="43815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T3: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Data transfer occurs.</a:t>
            </a:r>
            <a:endParaRPr/>
          </a:p>
        </p:txBody>
      </p:sp>
      <p:sp>
        <p:nvSpPr>
          <p:cNvPr id="514" name="Google Shape;514;p37"/>
          <p:cNvSpPr txBox="1"/>
          <p:nvPr/>
        </p:nvSpPr>
        <p:spPr>
          <a:xfrm>
            <a:off x="1190625" y="5117603"/>
            <a:ext cx="43815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T4: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Cycle concludes; control signals deactivated.</a:t>
            </a:r>
            <a:endParaRPr/>
          </a:p>
        </p:txBody>
      </p:sp>
      <p:pic>
        <p:nvPicPr>
          <p:cNvPr id="515" name="Google Shape;515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487191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919537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351883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3820566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4252912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4685258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5117603"/>
            <a:ext cx="1143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8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Memory Read/Write Timing Diagrams</a:t>
            </a:r>
            <a:endParaRPr/>
          </a:p>
        </p:txBody>
      </p:sp>
      <p:sp>
        <p:nvSpPr>
          <p:cNvPr id="528" name="Google Shape;528;p38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8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26</a:t>
            </a:r>
            <a:endParaRPr/>
          </a:p>
        </p:txBody>
      </p:sp>
      <p:pic>
        <p:nvPicPr>
          <p:cNvPr id="530" name="Google Shape;530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" y="1648575"/>
            <a:ext cx="11029950" cy="4923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286148"/>
            <a:ext cx="5286375" cy="3380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45135"/>
            <a:ext cx="3947814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39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RESET Activity Sequence</a:t>
            </a:r>
            <a:endParaRPr/>
          </a:p>
        </p:txBody>
      </p:sp>
      <p:sp>
        <p:nvSpPr>
          <p:cNvPr id="539" name="Google Shape;539;p39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9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27</a:t>
            </a:r>
            <a:endParaRPr/>
          </a:p>
        </p:txBody>
      </p:sp>
      <p:sp>
        <p:nvSpPr>
          <p:cNvPr id="541" name="Google Shape;541;p39"/>
          <p:cNvSpPr txBox="1"/>
          <p:nvPr/>
        </p:nvSpPr>
        <p:spPr>
          <a:xfrm>
            <a:off x="571500" y="2286148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Hard Reset</a:t>
            </a:r>
            <a:endParaRPr/>
          </a:p>
        </p:txBody>
      </p:sp>
      <p:sp>
        <p:nvSpPr>
          <p:cNvPr id="542" name="Google Shape;542;p39"/>
          <p:cNvSpPr txBox="1"/>
          <p:nvPr/>
        </p:nvSpPr>
        <p:spPr>
          <a:xfrm>
            <a:off x="571500" y="2886223"/>
            <a:ext cx="5286375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Reset must be held high for at least 4 clock cycles. When triggered, the processor clears its internal state and initializes registers.</a:t>
            </a:r>
            <a:endParaRPr/>
          </a:p>
        </p:txBody>
      </p:sp>
      <p:sp>
        <p:nvSpPr>
          <p:cNvPr id="543" name="Google Shape;543;p39"/>
          <p:cNvSpPr txBox="1"/>
          <p:nvPr/>
        </p:nvSpPr>
        <p:spPr>
          <a:xfrm>
            <a:off x="6619875" y="2619523"/>
            <a:ext cx="495061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Initial Register States</a:t>
            </a:r>
            <a:endParaRPr/>
          </a:p>
        </p:txBody>
      </p:sp>
      <p:sp>
        <p:nvSpPr>
          <p:cNvPr id="544" name="Google Shape;544;p39"/>
          <p:cNvSpPr txBox="1"/>
          <p:nvPr/>
        </p:nvSpPr>
        <p:spPr>
          <a:xfrm>
            <a:off x="6953250" y="3219598"/>
            <a:ext cx="43815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Flags: Cleared (0000H)</a:t>
            </a:r>
            <a:endParaRPr/>
          </a:p>
        </p:txBody>
      </p:sp>
      <p:sp>
        <p:nvSpPr>
          <p:cNvPr id="545" name="Google Shape;545;p39"/>
          <p:cNvSpPr txBox="1"/>
          <p:nvPr/>
        </p:nvSpPr>
        <p:spPr>
          <a:xfrm>
            <a:off x="6953250" y="3651944"/>
            <a:ext cx="43815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IP: 0000H</a:t>
            </a:r>
            <a:endParaRPr/>
          </a:p>
        </p:txBody>
      </p:sp>
      <p:sp>
        <p:nvSpPr>
          <p:cNvPr id="546" name="Google Shape;546;p39"/>
          <p:cNvSpPr txBox="1"/>
          <p:nvPr/>
        </p:nvSpPr>
        <p:spPr>
          <a:xfrm>
            <a:off x="6953250" y="4084290"/>
            <a:ext cx="43815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CS: FFFFH</a:t>
            </a:r>
            <a:endParaRPr/>
          </a:p>
        </p:txBody>
      </p:sp>
      <p:sp>
        <p:nvSpPr>
          <p:cNvPr id="547" name="Google Shape;547;p39"/>
          <p:cNvSpPr txBox="1"/>
          <p:nvPr/>
        </p:nvSpPr>
        <p:spPr>
          <a:xfrm>
            <a:off x="6953250" y="4516635"/>
            <a:ext cx="43815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DS, SS, ES: 0000H</a:t>
            </a:r>
            <a:endParaRPr/>
          </a:p>
        </p:txBody>
      </p:sp>
      <p:sp>
        <p:nvSpPr>
          <p:cNvPr id="548" name="Google Shape;548;p39"/>
          <p:cNvSpPr txBox="1"/>
          <p:nvPr/>
        </p:nvSpPr>
        <p:spPr>
          <a:xfrm>
            <a:off x="6953250" y="4948981"/>
            <a:ext cx="43815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Queue: Empty</a:t>
            </a:r>
            <a:endParaRPr/>
          </a:p>
        </p:txBody>
      </p:sp>
      <p:pic>
        <p:nvPicPr>
          <p:cNvPr id="549" name="Google Shape;549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19875" y="3219598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19875" y="3651944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19875" y="4084290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19875" y="4516635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19875" y="4948981"/>
            <a:ext cx="1143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Google Shape;558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45271"/>
            <a:ext cx="5286375" cy="2087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45271"/>
            <a:ext cx="5286375" cy="1798141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40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Interrupts: NMI &amp; INTR</a:t>
            </a:r>
            <a:endParaRPr/>
          </a:p>
        </p:txBody>
      </p:sp>
      <p:sp>
        <p:nvSpPr>
          <p:cNvPr id="562" name="Google Shape;562;p40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40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28</a:t>
            </a:r>
            <a:endParaRPr/>
          </a:p>
        </p:txBody>
      </p:sp>
      <p:sp>
        <p:nvSpPr>
          <p:cNvPr id="564" name="Google Shape;564;p40"/>
          <p:cNvSpPr txBox="1"/>
          <p:nvPr/>
        </p:nvSpPr>
        <p:spPr>
          <a:xfrm>
            <a:off x="571500" y="5018633"/>
            <a:ext cx="11049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8086 supports up to 256 interrupt types via an Interrupt Vector Table (IVT) located at memory addresses 00000H to 003FFH.</a:t>
            </a:r>
            <a:endParaRPr/>
          </a:p>
        </p:txBody>
      </p:sp>
      <p:sp>
        <p:nvSpPr>
          <p:cNvPr id="565" name="Google Shape;565;p40"/>
          <p:cNvSpPr txBox="1"/>
          <p:nvPr/>
        </p:nvSpPr>
        <p:spPr>
          <a:xfrm>
            <a:off x="857250" y="2978646"/>
            <a:ext cx="495061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NMI (Non-Maskable)</a:t>
            </a:r>
            <a:endParaRPr/>
          </a:p>
        </p:txBody>
      </p:sp>
      <p:sp>
        <p:nvSpPr>
          <p:cNvPr id="566" name="Google Shape;566;p40"/>
          <p:cNvSpPr txBox="1"/>
          <p:nvPr/>
        </p:nvSpPr>
        <p:spPr>
          <a:xfrm>
            <a:off x="857250" y="3578721"/>
            <a:ext cx="4714875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High priority interrupt. Cannot be disabled by software. Typically used for power failure or parity errors. Jumps to vector type 2.</a:t>
            </a:r>
            <a:endParaRPr/>
          </a:p>
        </p:txBody>
      </p:sp>
      <p:sp>
        <p:nvSpPr>
          <p:cNvPr id="567" name="Google Shape;567;p40"/>
          <p:cNvSpPr txBox="1"/>
          <p:nvPr/>
        </p:nvSpPr>
        <p:spPr>
          <a:xfrm>
            <a:off x="6619875" y="2978646"/>
            <a:ext cx="495061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INTR (Maskable)</a:t>
            </a:r>
            <a:endParaRPr/>
          </a:p>
        </p:txBody>
      </p:sp>
      <p:sp>
        <p:nvSpPr>
          <p:cNvPr id="568" name="Google Shape;568;p40"/>
          <p:cNvSpPr txBox="1"/>
          <p:nvPr/>
        </p:nvSpPr>
        <p:spPr>
          <a:xfrm>
            <a:off x="6619875" y="3578721"/>
            <a:ext cx="47148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Enabled only if IF flag is 1. sampled during the last cycle of an instruction. Uses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INTA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sequence to get vector type.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" name="Google Shape;573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66728"/>
            <a:ext cx="11049000" cy="2219771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41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Machine Language Formats</a:t>
            </a:r>
            <a:endParaRPr/>
          </a:p>
        </p:txBody>
      </p:sp>
      <p:sp>
        <p:nvSpPr>
          <p:cNvPr id="576" name="Google Shape;576;p41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41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29</a:t>
            </a:r>
            <a:endParaRPr/>
          </a:p>
        </p:txBody>
      </p:sp>
      <p:sp>
        <p:nvSpPr>
          <p:cNvPr id="578" name="Google Shape;578;p41"/>
          <p:cNvSpPr txBox="1"/>
          <p:nvPr/>
        </p:nvSpPr>
        <p:spPr>
          <a:xfrm>
            <a:off x="571500" y="1666875"/>
            <a:ext cx="11049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8086 instructions range from 1 to 6 bytes. Most follow a standard multi-field structure.</a:t>
            </a:r>
            <a:endParaRPr/>
          </a:p>
        </p:txBody>
      </p:sp>
      <p:sp>
        <p:nvSpPr>
          <p:cNvPr id="579" name="Google Shape;579;p41"/>
          <p:cNvSpPr txBox="1"/>
          <p:nvPr/>
        </p:nvSpPr>
        <p:spPr>
          <a:xfrm>
            <a:off x="857250" y="4400103"/>
            <a:ext cx="104775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 bit: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1 = REG is destination; 0 = REG is source.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 bit: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1 = 16-bit operation; 0 = 8-bit operation.</a:t>
            </a:r>
            <a:endParaRPr/>
          </a:p>
        </p:txBody>
      </p:sp>
      <p:sp>
        <p:nvSpPr>
          <p:cNvPr id="580" name="Google Shape;580;p41"/>
          <p:cNvSpPr txBox="1"/>
          <p:nvPr/>
        </p:nvSpPr>
        <p:spPr>
          <a:xfrm>
            <a:off x="904875" y="2146845"/>
            <a:ext cx="10715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Byte 1: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Opcode (6 bits), D bit (Direction), W bit (Word/Byte).</a:t>
            </a:r>
            <a:endParaRPr/>
          </a:p>
        </p:txBody>
      </p:sp>
      <p:sp>
        <p:nvSpPr>
          <p:cNvPr id="581" name="Google Shape;581;p41"/>
          <p:cNvSpPr txBox="1"/>
          <p:nvPr/>
        </p:nvSpPr>
        <p:spPr>
          <a:xfrm>
            <a:off x="904875" y="2579191"/>
            <a:ext cx="10715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Byte 2: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MOD field (Mode), REG field (Register), R/M field (Reg/Memory).</a:t>
            </a:r>
            <a:endParaRPr/>
          </a:p>
        </p:txBody>
      </p:sp>
      <p:sp>
        <p:nvSpPr>
          <p:cNvPr id="582" name="Google Shape;582;p41"/>
          <p:cNvSpPr txBox="1"/>
          <p:nvPr/>
        </p:nvSpPr>
        <p:spPr>
          <a:xfrm>
            <a:off x="904875" y="3011537"/>
            <a:ext cx="10715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Byte 3-4: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Optional Displacement (8 or 16 bit).</a:t>
            </a:r>
            <a:endParaRPr/>
          </a:p>
        </p:txBody>
      </p:sp>
      <p:sp>
        <p:nvSpPr>
          <p:cNvPr id="583" name="Google Shape;583;p41"/>
          <p:cNvSpPr txBox="1"/>
          <p:nvPr/>
        </p:nvSpPr>
        <p:spPr>
          <a:xfrm>
            <a:off x="904875" y="3443882"/>
            <a:ext cx="10715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Byte 5-6: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Optional Immediate Data.</a:t>
            </a:r>
            <a:endParaRPr/>
          </a:p>
        </p:txBody>
      </p:sp>
      <p:pic>
        <p:nvPicPr>
          <p:cNvPr id="584" name="Google Shape;584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146845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579191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11537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43882"/>
            <a:ext cx="1143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42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The MOD-REG-R/M Fields</a:t>
            </a:r>
            <a:endParaRPr/>
          </a:p>
        </p:txBody>
      </p:sp>
      <p:sp>
        <p:nvSpPr>
          <p:cNvPr id="594" name="Google Shape;594;p42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42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30</a:t>
            </a:r>
            <a:endParaRPr/>
          </a:p>
        </p:txBody>
      </p:sp>
      <p:pic>
        <p:nvPicPr>
          <p:cNvPr id="596" name="Google Shape;596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71475"/>
            <a:ext cx="9965551" cy="525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1" name="Google Shape;601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44254"/>
            <a:ext cx="5286375" cy="1689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844254"/>
            <a:ext cx="5286375" cy="1689645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Immediate &amp; Register Modes</a:t>
            </a:r>
            <a:endParaRPr/>
          </a:p>
        </p:txBody>
      </p:sp>
      <p:sp>
        <p:nvSpPr>
          <p:cNvPr id="605" name="Google Shape;605;p43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43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31</a:t>
            </a:r>
            <a:endParaRPr/>
          </a:p>
        </p:txBody>
      </p:sp>
      <p:sp>
        <p:nvSpPr>
          <p:cNvPr id="607" name="Google Shape;607;p43"/>
          <p:cNvSpPr txBox="1"/>
          <p:nvPr/>
        </p:nvSpPr>
        <p:spPr>
          <a:xfrm>
            <a:off x="571500" y="4819650"/>
            <a:ext cx="11049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Register addressing is the fastest mode as it doesn't involve the external system bus for data transfer.</a:t>
            </a:r>
            <a:endParaRPr/>
          </a:p>
        </p:txBody>
      </p:sp>
      <p:sp>
        <p:nvSpPr>
          <p:cNvPr id="608" name="Google Shape;608;p43"/>
          <p:cNvSpPr txBox="1"/>
          <p:nvPr/>
        </p:nvSpPr>
        <p:spPr>
          <a:xfrm>
            <a:off x="857250" y="3177629"/>
            <a:ext cx="495061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Immediate Addressing</a:t>
            </a:r>
            <a:endParaRPr/>
          </a:p>
        </p:txBody>
      </p:sp>
      <p:sp>
        <p:nvSpPr>
          <p:cNvPr id="609" name="Google Shape;609;p43"/>
          <p:cNvSpPr txBox="1"/>
          <p:nvPr/>
        </p:nvSpPr>
        <p:spPr>
          <a:xfrm>
            <a:off x="857250" y="3777704"/>
            <a:ext cx="47148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operand is part of the instruction itself.</a:t>
            </a:r>
            <a:endParaRPr/>
          </a:p>
        </p:txBody>
      </p:sp>
      <p:sp>
        <p:nvSpPr>
          <p:cNvPr id="610" name="Google Shape;610;p43"/>
          <p:cNvSpPr txBox="1"/>
          <p:nvPr/>
        </p:nvSpPr>
        <p:spPr>
          <a:xfrm>
            <a:off x="6619875" y="3177629"/>
            <a:ext cx="495061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Register Addressing</a:t>
            </a:r>
            <a:endParaRPr/>
          </a:p>
        </p:txBody>
      </p:sp>
      <p:sp>
        <p:nvSpPr>
          <p:cNvPr id="611" name="Google Shape;611;p43"/>
          <p:cNvSpPr txBox="1"/>
          <p:nvPr/>
        </p:nvSpPr>
        <p:spPr>
          <a:xfrm>
            <a:off x="6619875" y="3777704"/>
            <a:ext cx="47148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Both operands are in registers. No memory access needed.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" name="Google Shape;616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44254"/>
            <a:ext cx="5286375" cy="1689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4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844254"/>
            <a:ext cx="5286375" cy="1689645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44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Direct &amp; Indirect Addressing</a:t>
            </a:r>
            <a:endParaRPr/>
          </a:p>
        </p:txBody>
      </p:sp>
      <p:sp>
        <p:nvSpPr>
          <p:cNvPr id="620" name="Google Shape;620;p44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44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32</a:t>
            </a:r>
            <a:endParaRPr/>
          </a:p>
        </p:txBody>
      </p:sp>
      <p:sp>
        <p:nvSpPr>
          <p:cNvPr id="622" name="Google Shape;622;p44"/>
          <p:cNvSpPr txBox="1"/>
          <p:nvPr/>
        </p:nvSpPr>
        <p:spPr>
          <a:xfrm>
            <a:off x="571500" y="4819650"/>
            <a:ext cx="11049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Memory operands are always assumed to be in the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 Segment (DS)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unless a segment override prefix is used.</a:t>
            </a:r>
            <a:endParaRPr/>
          </a:p>
        </p:txBody>
      </p:sp>
      <p:sp>
        <p:nvSpPr>
          <p:cNvPr id="623" name="Google Shape;623;p44"/>
          <p:cNvSpPr txBox="1"/>
          <p:nvPr/>
        </p:nvSpPr>
        <p:spPr>
          <a:xfrm>
            <a:off x="857250" y="3177629"/>
            <a:ext cx="495061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Direct Addressing</a:t>
            </a:r>
            <a:endParaRPr/>
          </a:p>
        </p:txBody>
      </p:sp>
      <p:sp>
        <p:nvSpPr>
          <p:cNvPr id="624" name="Google Shape;624;p44"/>
          <p:cNvSpPr txBox="1"/>
          <p:nvPr/>
        </p:nvSpPr>
        <p:spPr>
          <a:xfrm>
            <a:off x="857250" y="3777704"/>
            <a:ext cx="47148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16-bit offset is provided directly in the instruction.</a:t>
            </a:r>
            <a:endParaRPr/>
          </a:p>
        </p:txBody>
      </p:sp>
      <p:sp>
        <p:nvSpPr>
          <p:cNvPr id="625" name="Google Shape;625;p44"/>
          <p:cNvSpPr txBox="1"/>
          <p:nvPr/>
        </p:nvSpPr>
        <p:spPr>
          <a:xfrm>
            <a:off x="6619875" y="3177629"/>
            <a:ext cx="495061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Register Indirect</a:t>
            </a:r>
            <a:endParaRPr/>
          </a:p>
        </p:txBody>
      </p:sp>
      <p:sp>
        <p:nvSpPr>
          <p:cNvPr id="626" name="Google Shape;626;p44"/>
          <p:cNvSpPr txBox="1"/>
          <p:nvPr/>
        </p:nvSpPr>
        <p:spPr>
          <a:xfrm>
            <a:off x="6619875" y="3777704"/>
            <a:ext cx="47148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offset is stored in BX, SI, or DI. Pointer-like behavior.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1" name="Google Shape;631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51399"/>
            <a:ext cx="11049000" cy="22351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Based &amp; Indexed Addressing</a:t>
            </a:r>
            <a:endParaRPr/>
          </a:p>
        </p:txBody>
      </p:sp>
      <p:sp>
        <p:nvSpPr>
          <p:cNvPr id="634" name="Google Shape;634;p45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45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33</a:t>
            </a:r>
            <a:endParaRPr/>
          </a:p>
        </p:txBody>
      </p:sp>
      <p:sp>
        <p:nvSpPr>
          <p:cNvPr id="636" name="Google Shape;636;p45"/>
          <p:cNvSpPr txBox="1"/>
          <p:nvPr/>
        </p:nvSpPr>
        <p:spPr>
          <a:xfrm>
            <a:off x="857250" y="4384774"/>
            <a:ext cx="104775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Note: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BP uses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SS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by default; BX/SI/DI use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DS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by default.</a:t>
            </a:r>
            <a:endParaRPr/>
          </a:p>
        </p:txBody>
      </p:sp>
      <p:sp>
        <p:nvSpPr>
          <p:cNvPr id="637" name="Google Shape;637;p45"/>
          <p:cNvSpPr txBox="1"/>
          <p:nvPr/>
        </p:nvSpPr>
        <p:spPr>
          <a:xfrm>
            <a:off x="904875" y="1666875"/>
            <a:ext cx="10715625" cy="588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Based Addressing: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Uses BX or BP registers. Offset = Base + Displacement.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MOV AX, [BX + 5]</a:t>
            </a:r>
            <a:endParaRPr/>
          </a:p>
        </p:txBody>
      </p:sp>
      <p:sp>
        <p:nvSpPr>
          <p:cNvPr id="638" name="Google Shape;638;p45"/>
          <p:cNvSpPr txBox="1"/>
          <p:nvPr/>
        </p:nvSpPr>
        <p:spPr>
          <a:xfrm>
            <a:off x="904875" y="2398216"/>
            <a:ext cx="10715625" cy="588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Indexed Addressing: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Uses SI or DI registers. Offset = Index + Displacement.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MOV AX, [SI + 10]</a:t>
            </a:r>
            <a:endParaRPr/>
          </a:p>
        </p:txBody>
      </p:sp>
      <p:sp>
        <p:nvSpPr>
          <p:cNvPr id="639" name="Google Shape;639;p45"/>
          <p:cNvSpPr txBox="1"/>
          <p:nvPr/>
        </p:nvSpPr>
        <p:spPr>
          <a:xfrm>
            <a:off x="904875" y="3129557"/>
            <a:ext cx="10715625" cy="588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Based Indexed: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Combines both. Offset = Base + Index + Displacement.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MOV AX, [BX + SI + 2]</a:t>
            </a:r>
            <a:endParaRPr/>
          </a:p>
        </p:txBody>
      </p:sp>
      <p:pic>
        <p:nvPicPr>
          <p:cNvPr id="640" name="Google Shape;640;p4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666875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4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398216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4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29557"/>
            <a:ext cx="1143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7" name="Google Shape;647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46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Data Transfer Instructions</a:t>
            </a:r>
            <a:endParaRPr/>
          </a:p>
        </p:txBody>
      </p:sp>
      <p:sp>
        <p:nvSpPr>
          <p:cNvPr id="649" name="Google Shape;649;p46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46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35</a:t>
            </a:r>
            <a:endParaRPr/>
          </a:p>
        </p:txBody>
      </p:sp>
      <p:graphicFrame>
        <p:nvGraphicFramePr>
          <p:cNvPr id="651" name="Google Shape;651;p46"/>
          <p:cNvGraphicFramePr/>
          <p:nvPr/>
        </p:nvGraphicFramePr>
        <p:xfrm>
          <a:off x="571500" y="2417712"/>
          <a:ext cx="11049000" cy="3213150"/>
        </p:xfrm>
        <a:graphic>
          <a:graphicData uri="http://schemas.openxmlformats.org/drawingml/2006/table">
            <a:tbl>
              <a:tblPr firstRow="1" bandRow="1">
                <a:noFill/>
                <a:tableStyleId>{FD35A873-47BF-4099-9236-6AC1A40AAE5B}</a:tableStyleId>
              </a:tblPr>
              <a:tblGrid>
                <a:gridCol w="245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6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3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5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Instruction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Function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Example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MOV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Move byte or word to destination.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MOV AX, BX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PUSH / POP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Push/Pop word from stack.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PUSH AX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 / OUT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Input/Output from/to port.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 AL, 08H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Load Effective Address to register.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LEA BX, [SI+2]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XCHG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Exchange source and destination.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XCHG AX, DX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52" name="Google Shape;652;p46"/>
          <p:cNvSpPr/>
          <p:nvPr/>
        </p:nvSpPr>
        <p:spPr>
          <a:xfrm>
            <a:off x="571500" y="3506241"/>
            <a:ext cx="24593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46"/>
          <p:cNvSpPr/>
          <p:nvPr/>
        </p:nvSpPr>
        <p:spPr>
          <a:xfrm>
            <a:off x="3030884" y="3506241"/>
            <a:ext cx="58364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46"/>
          <p:cNvSpPr/>
          <p:nvPr/>
        </p:nvSpPr>
        <p:spPr>
          <a:xfrm>
            <a:off x="8867328" y="3506241"/>
            <a:ext cx="27531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46"/>
          <p:cNvSpPr/>
          <p:nvPr/>
        </p:nvSpPr>
        <p:spPr>
          <a:xfrm>
            <a:off x="571500" y="4033837"/>
            <a:ext cx="24593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46"/>
          <p:cNvSpPr/>
          <p:nvPr/>
        </p:nvSpPr>
        <p:spPr>
          <a:xfrm>
            <a:off x="3030884" y="4033837"/>
            <a:ext cx="58364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46"/>
          <p:cNvSpPr/>
          <p:nvPr/>
        </p:nvSpPr>
        <p:spPr>
          <a:xfrm>
            <a:off x="8867328" y="4033837"/>
            <a:ext cx="27531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46"/>
          <p:cNvSpPr/>
          <p:nvPr/>
        </p:nvSpPr>
        <p:spPr>
          <a:xfrm>
            <a:off x="571500" y="4561433"/>
            <a:ext cx="24593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46"/>
          <p:cNvSpPr/>
          <p:nvPr/>
        </p:nvSpPr>
        <p:spPr>
          <a:xfrm>
            <a:off x="3030884" y="4561433"/>
            <a:ext cx="58364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46"/>
          <p:cNvSpPr/>
          <p:nvPr/>
        </p:nvSpPr>
        <p:spPr>
          <a:xfrm>
            <a:off x="8867328" y="4561433"/>
            <a:ext cx="27531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46"/>
          <p:cNvSpPr/>
          <p:nvPr/>
        </p:nvSpPr>
        <p:spPr>
          <a:xfrm>
            <a:off x="571500" y="5089028"/>
            <a:ext cx="24593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46"/>
          <p:cNvSpPr/>
          <p:nvPr/>
        </p:nvSpPr>
        <p:spPr>
          <a:xfrm>
            <a:off x="3030884" y="5089028"/>
            <a:ext cx="58364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46"/>
          <p:cNvSpPr/>
          <p:nvPr/>
        </p:nvSpPr>
        <p:spPr>
          <a:xfrm>
            <a:off x="8867328" y="5089028"/>
            <a:ext cx="27531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46"/>
          <p:cNvSpPr/>
          <p:nvPr/>
        </p:nvSpPr>
        <p:spPr>
          <a:xfrm>
            <a:off x="571500" y="5616624"/>
            <a:ext cx="24593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46"/>
          <p:cNvSpPr/>
          <p:nvPr/>
        </p:nvSpPr>
        <p:spPr>
          <a:xfrm>
            <a:off x="3030884" y="5616624"/>
            <a:ext cx="58364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46"/>
          <p:cNvSpPr/>
          <p:nvPr/>
        </p:nvSpPr>
        <p:spPr>
          <a:xfrm>
            <a:off x="8867328" y="5616624"/>
            <a:ext cx="27531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1" name="Google Shape;671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4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49737"/>
            <a:ext cx="11049000" cy="2436762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47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Arithmetic Instructions</a:t>
            </a:r>
            <a:endParaRPr/>
          </a:p>
        </p:txBody>
      </p:sp>
      <p:sp>
        <p:nvSpPr>
          <p:cNvPr id="674" name="Google Shape;674;p47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47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36</a:t>
            </a:r>
            <a:endParaRPr/>
          </a:p>
        </p:txBody>
      </p:sp>
      <p:sp>
        <p:nvSpPr>
          <p:cNvPr id="676" name="Google Shape;676;p47"/>
          <p:cNvSpPr txBox="1"/>
          <p:nvPr/>
        </p:nvSpPr>
        <p:spPr>
          <a:xfrm>
            <a:off x="857250" y="4183112"/>
            <a:ext cx="104775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Arithmetic instructions automatically update status flags (CF, ZF, SF, etc.) based on the result.</a:t>
            </a:r>
            <a:endParaRPr/>
          </a:p>
        </p:txBody>
      </p:sp>
      <p:sp>
        <p:nvSpPr>
          <p:cNvPr id="677" name="Google Shape;677;p47"/>
          <p:cNvSpPr txBox="1"/>
          <p:nvPr/>
        </p:nvSpPr>
        <p:spPr>
          <a:xfrm>
            <a:off x="571500" y="16668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Basic Operations</a:t>
            </a:r>
            <a:endParaRPr/>
          </a:p>
        </p:txBody>
      </p:sp>
      <p:sp>
        <p:nvSpPr>
          <p:cNvPr id="678" name="Google Shape;678;p47"/>
          <p:cNvSpPr txBox="1"/>
          <p:nvPr/>
        </p:nvSpPr>
        <p:spPr>
          <a:xfrm>
            <a:off x="6334125" y="16668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Specialized Math</a:t>
            </a:r>
            <a:endParaRPr/>
          </a:p>
        </p:txBody>
      </p:sp>
      <p:sp>
        <p:nvSpPr>
          <p:cNvPr id="679" name="Google Shape;679;p47"/>
          <p:cNvSpPr txBox="1"/>
          <p:nvPr/>
        </p:nvSpPr>
        <p:spPr>
          <a:xfrm>
            <a:off x="904875" y="2266950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ADD / SUB: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Sum or difference.</a:t>
            </a:r>
            <a:endParaRPr/>
          </a:p>
        </p:txBody>
      </p:sp>
      <p:sp>
        <p:nvSpPr>
          <p:cNvPr id="680" name="Google Shape;680;p47"/>
          <p:cNvSpPr txBox="1"/>
          <p:nvPr/>
        </p:nvSpPr>
        <p:spPr>
          <a:xfrm>
            <a:off x="904875" y="2699295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INC / DEC: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Increment/Decrement.</a:t>
            </a:r>
            <a:endParaRPr/>
          </a:p>
        </p:txBody>
      </p:sp>
      <p:sp>
        <p:nvSpPr>
          <p:cNvPr id="681" name="Google Shape;681;p47"/>
          <p:cNvSpPr txBox="1"/>
          <p:nvPr/>
        </p:nvSpPr>
        <p:spPr>
          <a:xfrm>
            <a:off x="904875" y="3131641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MUL / DIV: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Unsigned mult/div.</a:t>
            </a:r>
            <a:endParaRPr/>
          </a:p>
        </p:txBody>
      </p:sp>
      <p:sp>
        <p:nvSpPr>
          <p:cNvPr id="682" name="Google Shape;682;p47"/>
          <p:cNvSpPr txBox="1"/>
          <p:nvPr/>
        </p:nvSpPr>
        <p:spPr>
          <a:xfrm>
            <a:off x="6667500" y="2266950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ADC / SBB: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Add/Sub with Carry.</a:t>
            </a:r>
            <a:endParaRPr/>
          </a:p>
        </p:txBody>
      </p:sp>
      <p:sp>
        <p:nvSpPr>
          <p:cNvPr id="683" name="Google Shape;683;p47"/>
          <p:cNvSpPr txBox="1"/>
          <p:nvPr/>
        </p:nvSpPr>
        <p:spPr>
          <a:xfrm>
            <a:off x="6667500" y="2699295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DAA / DAS: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Decimal adjust (BCD).</a:t>
            </a:r>
            <a:endParaRPr/>
          </a:p>
        </p:txBody>
      </p:sp>
      <p:sp>
        <p:nvSpPr>
          <p:cNvPr id="684" name="Google Shape;684;p47"/>
          <p:cNvSpPr txBox="1"/>
          <p:nvPr/>
        </p:nvSpPr>
        <p:spPr>
          <a:xfrm>
            <a:off x="6667500" y="3131641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AAA / AAS: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ASCII adjust.</a:t>
            </a:r>
            <a:endParaRPr/>
          </a:p>
        </p:txBody>
      </p:sp>
      <p:pic>
        <p:nvPicPr>
          <p:cNvPr id="685" name="Google Shape;685;p4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266950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4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699295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4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31641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4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266950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4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99295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4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131641"/>
            <a:ext cx="1143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5" name="Google Shape;695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4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13744"/>
            <a:ext cx="3492549" cy="1798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4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813744"/>
            <a:ext cx="3492549" cy="1798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4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813744"/>
            <a:ext cx="3492549" cy="1798141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48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Logical &amp; Bit Manipulation</a:t>
            </a:r>
            <a:endParaRPr/>
          </a:p>
        </p:txBody>
      </p:sp>
      <p:sp>
        <p:nvSpPr>
          <p:cNvPr id="700" name="Google Shape;700;p48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48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37</a:t>
            </a:r>
            <a:endParaRPr/>
          </a:p>
        </p:txBody>
      </p:sp>
      <p:sp>
        <p:nvSpPr>
          <p:cNvPr id="702" name="Google Shape;702;p48"/>
          <p:cNvSpPr txBox="1"/>
          <p:nvPr/>
        </p:nvSpPr>
        <p:spPr>
          <a:xfrm>
            <a:off x="571500" y="4850010"/>
            <a:ext cx="11049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Logical operations are bitwise and typically clear the Carry and Overflow flags.</a:t>
            </a:r>
            <a:endParaRPr/>
          </a:p>
        </p:txBody>
      </p:sp>
      <p:sp>
        <p:nvSpPr>
          <p:cNvPr id="703" name="Google Shape;703;p48"/>
          <p:cNvSpPr txBox="1"/>
          <p:nvPr/>
        </p:nvSpPr>
        <p:spPr>
          <a:xfrm>
            <a:off x="857250" y="3147119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Logical</a:t>
            </a:r>
            <a:endParaRPr/>
          </a:p>
        </p:txBody>
      </p:sp>
      <p:sp>
        <p:nvSpPr>
          <p:cNvPr id="704" name="Google Shape;704;p48"/>
          <p:cNvSpPr txBox="1"/>
          <p:nvPr/>
        </p:nvSpPr>
        <p:spPr>
          <a:xfrm>
            <a:off x="857250" y="3747194"/>
            <a:ext cx="2921049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AND, OR, XOR, NOT, TEST (logical AND for flags only).</a:t>
            </a:r>
            <a:endParaRPr/>
          </a:p>
        </p:txBody>
      </p:sp>
      <p:sp>
        <p:nvSpPr>
          <p:cNvPr id="705" name="Google Shape;705;p48"/>
          <p:cNvSpPr txBox="1"/>
          <p:nvPr/>
        </p:nvSpPr>
        <p:spPr>
          <a:xfrm>
            <a:off x="4635549" y="3147119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Shifts</a:t>
            </a:r>
            <a:endParaRPr/>
          </a:p>
        </p:txBody>
      </p:sp>
      <p:sp>
        <p:nvSpPr>
          <p:cNvPr id="706" name="Google Shape;706;p48"/>
          <p:cNvSpPr txBox="1"/>
          <p:nvPr/>
        </p:nvSpPr>
        <p:spPr>
          <a:xfrm>
            <a:off x="4635549" y="3747194"/>
            <a:ext cx="2921049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SHL (Shift Left), SHR (Shift Right), SAR (Arithmetic Shift Right).</a:t>
            </a:r>
            <a:endParaRPr/>
          </a:p>
        </p:txBody>
      </p:sp>
      <p:sp>
        <p:nvSpPr>
          <p:cNvPr id="707" name="Google Shape;707;p48"/>
          <p:cNvSpPr txBox="1"/>
          <p:nvPr/>
        </p:nvSpPr>
        <p:spPr>
          <a:xfrm>
            <a:off x="8413849" y="3147119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Rotates</a:t>
            </a:r>
            <a:endParaRPr/>
          </a:p>
        </p:txBody>
      </p:sp>
      <p:sp>
        <p:nvSpPr>
          <p:cNvPr id="708" name="Google Shape;708;p48"/>
          <p:cNvSpPr txBox="1"/>
          <p:nvPr/>
        </p:nvSpPr>
        <p:spPr>
          <a:xfrm>
            <a:off x="8413849" y="3747194"/>
            <a:ext cx="2921049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ROL, ROR (Rotate), RCL, RCR (Rotate through Carry).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p4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4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69083"/>
            <a:ext cx="5286375" cy="1798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4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69083"/>
            <a:ext cx="5286375" cy="2087612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49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Control Transfer Instructions</a:t>
            </a:r>
            <a:endParaRPr/>
          </a:p>
        </p:txBody>
      </p:sp>
      <p:sp>
        <p:nvSpPr>
          <p:cNvPr id="717" name="Google Shape;717;p49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49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38</a:t>
            </a:r>
            <a:endParaRPr/>
          </a:p>
        </p:txBody>
      </p:sp>
      <p:sp>
        <p:nvSpPr>
          <p:cNvPr id="719" name="Google Shape;719;p49"/>
          <p:cNvSpPr txBox="1"/>
          <p:nvPr/>
        </p:nvSpPr>
        <p:spPr>
          <a:xfrm>
            <a:off x="571500" y="4994820"/>
            <a:ext cx="11049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Control transfer instructions modify the Instruction Pointer (IP) and sometimes the Code Segment (CS).</a:t>
            </a:r>
            <a:endParaRPr/>
          </a:p>
        </p:txBody>
      </p:sp>
      <p:sp>
        <p:nvSpPr>
          <p:cNvPr id="720" name="Google Shape;720;p49"/>
          <p:cNvSpPr txBox="1"/>
          <p:nvPr/>
        </p:nvSpPr>
        <p:spPr>
          <a:xfrm>
            <a:off x="857250" y="3002458"/>
            <a:ext cx="495061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Unconditional</a:t>
            </a:r>
            <a:endParaRPr/>
          </a:p>
        </p:txBody>
      </p:sp>
      <p:sp>
        <p:nvSpPr>
          <p:cNvPr id="721" name="Google Shape;721;p49"/>
          <p:cNvSpPr txBox="1"/>
          <p:nvPr/>
        </p:nvSpPr>
        <p:spPr>
          <a:xfrm>
            <a:off x="857250" y="3602533"/>
            <a:ext cx="47148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JMP: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Absolute or relative jump.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CALL / RET: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Subroutine management.</a:t>
            </a:r>
            <a:endParaRPr/>
          </a:p>
        </p:txBody>
      </p:sp>
      <p:sp>
        <p:nvSpPr>
          <p:cNvPr id="722" name="Google Shape;722;p49"/>
          <p:cNvSpPr txBox="1"/>
          <p:nvPr/>
        </p:nvSpPr>
        <p:spPr>
          <a:xfrm>
            <a:off x="6619875" y="3002458"/>
            <a:ext cx="495061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Conditional</a:t>
            </a:r>
            <a:endParaRPr/>
          </a:p>
        </p:txBody>
      </p:sp>
      <p:sp>
        <p:nvSpPr>
          <p:cNvPr id="723" name="Google Shape;723;p49"/>
          <p:cNvSpPr txBox="1"/>
          <p:nvPr/>
        </p:nvSpPr>
        <p:spPr>
          <a:xfrm>
            <a:off x="6619875" y="3602533"/>
            <a:ext cx="4714875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JZ / JNZ: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Jump if zero/not zero.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JC / JNC: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Jump if carry.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LOOP: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Auto-decrements CX.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8" name="Google Shape;728;p5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5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66728"/>
            <a:ext cx="11049000" cy="221977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50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String Manipulation</a:t>
            </a:r>
            <a:endParaRPr/>
          </a:p>
        </p:txBody>
      </p:sp>
      <p:sp>
        <p:nvSpPr>
          <p:cNvPr id="731" name="Google Shape;731;p50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50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39</a:t>
            </a:r>
            <a:endParaRPr/>
          </a:p>
        </p:txBody>
      </p:sp>
      <p:sp>
        <p:nvSpPr>
          <p:cNvPr id="733" name="Google Shape;733;p50"/>
          <p:cNvSpPr txBox="1"/>
          <p:nvPr/>
        </p:nvSpPr>
        <p:spPr>
          <a:xfrm>
            <a:off x="571500" y="1666875"/>
            <a:ext cx="11049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String instructions allow the processor to work on large blocks of memory efficiently, using SI and DI registers.</a:t>
            </a:r>
            <a:endParaRPr/>
          </a:p>
        </p:txBody>
      </p:sp>
      <p:sp>
        <p:nvSpPr>
          <p:cNvPr id="734" name="Google Shape;734;p50"/>
          <p:cNvSpPr txBox="1"/>
          <p:nvPr/>
        </p:nvSpPr>
        <p:spPr>
          <a:xfrm>
            <a:off x="857250" y="4400103"/>
            <a:ext cx="10477500" cy="298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REP Prefix: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Used with CX to repeat the operation until CX=0. Example: REP MOVSB copies a whole block of memory.</a:t>
            </a:r>
            <a:endParaRPr/>
          </a:p>
        </p:txBody>
      </p:sp>
      <p:sp>
        <p:nvSpPr>
          <p:cNvPr id="735" name="Google Shape;735;p50"/>
          <p:cNvSpPr txBox="1"/>
          <p:nvPr/>
        </p:nvSpPr>
        <p:spPr>
          <a:xfrm>
            <a:off x="904875" y="2146845"/>
            <a:ext cx="10715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MOVSB / MOVSW: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Move string byte/word.</a:t>
            </a:r>
            <a:endParaRPr/>
          </a:p>
        </p:txBody>
      </p:sp>
      <p:sp>
        <p:nvSpPr>
          <p:cNvPr id="736" name="Google Shape;736;p50"/>
          <p:cNvSpPr txBox="1"/>
          <p:nvPr/>
        </p:nvSpPr>
        <p:spPr>
          <a:xfrm>
            <a:off x="904875" y="2579191"/>
            <a:ext cx="10715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CMPS: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Compare string operands.</a:t>
            </a:r>
            <a:endParaRPr/>
          </a:p>
        </p:txBody>
      </p:sp>
      <p:sp>
        <p:nvSpPr>
          <p:cNvPr id="737" name="Google Shape;737;p50"/>
          <p:cNvSpPr txBox="1"/>
          <p:nvPr/>
        </p:nvSpPr>
        <p:spPr>
          <a:xfrm>
            <a:off x="904875" y="3011537"/>
            <a:ext cx="10715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SCAS: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Scan string for specific value in AL/AX.</a:t>
            </a:r>
            <a:endParaRPr/>
          </a:p>
        </p:txBody>
      </p:sp>
      <p:sp>
        <p:nvSpPr>
          <p:cNvPr id="738" name="Google Shape;738;p50"/>
          <p:cNvSpPr txBox="1"/>
          <p:nvPr/>
        </p:nvSpPr>
        <p:spPr>
          <a:xfrm>
            <a:off x="904875" y="3443882"/>
            <a:ext cx="10715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LODS / STOS: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Load/Store string into accumulator.</a:t>
            </a:r>
            <a:endParaRPr/>
          </a:p>
        </p:txBody>
      </p:sp>
      <p:pic>
        <p:nvPicPr>
          <p:cNvPr id="739" name="Google Shape;739;p5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146845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0" name="Google Shape;740;p5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579191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p5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11537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p5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43882"/>
            <a:ext cx="1143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" name="Google Shape;747;p5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51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Assembler Directives: Data</a:t>
            </a:r>
            <a:endParaRPr/>
          </a:p>
        </p:txBody>
      </p:sp>
      <p:sp>
        <p:nvSpPr>
          <p:cNvPr id="749" name="Google Shape;749;p51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51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40</a:t>
            </a:r>
            <a:endParaRPr/>
          </a:p>
        </p:txBody>
      </p:sp>
      <p:sp>
        <p:nvSpPr>
          <p:cNvPr id="751" name="Google Shape;751;p51"/>
          <p:cNvSpPr txBox="1"/>
          <p:nvPr/>
        </p:nvSpPr>
        <p:spPr>
          <a:xfrm>
            <a:off x="571500" y="2153840"/>
            <a:ext cx="11049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Directives are instructions to the assembler, not the CPU. Data definition directives initialize memory variables.</a:t>
            </a:r>
            <a:endParaRPr/>
          </a:p>
        </p:txBody>
      </p:sp>
      <p:graphicFrame>
        <p:nvGraphicFramePr>
          <p:cNvPr id="752" name="Google Shape;752;p51"/>
          <p:cNvGraphicFramePr/>
          <p:nvPr/>
        </p:nvGraphicFramePr>
        <p:xfrm>
          <a:off x="571500" y="2538561"/>
          <a:ext cx="11049000" cy="3260850"/>
        </p:xfrm>
        <a:graphic>
          <a:graphicData uri="http://schemas.openxmlformats.org/drawingml/2006/table">
            <a:tbl>
              <a:tblPr firstRow="1" bandRow="1">
                <a:noFill/>
                <a:tableStyleId>{FD35A873-47BF-4099-9236-6AC1A40AAE5B}</a:tableStyleId>
              </a:tblPr>
              <a:tblGrid>
                <a:gridCol w="1972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8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Directive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Meaning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Example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Define Byte (8-bit)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VALUE1 DB 55H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Define Word (16-bit)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ARR DW 1000H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Define Double Word (32-bit)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VAR DD 12345678H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DUP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Duplicate operator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BUFF DB 10 DUP(0)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EQU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Equate (Constants)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PORT EQU 08H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53" name="Google Shape;753;p51"/>
          <p:cNvSpPr/>
          <p:nvPr/>
        </p:nvSpPr>
        <p:spPr>
          <a:xfrm>
            <a:off x="571500" y="3636615"/>
            <a:ext cx="19728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51"/>
          <p:cNvSpPr/>
          <p:nvPr/>
        </p:nvSpPr>
        <p:spPr>
          <a:xfrm>
            <a:off x="2544365" y="3636615"/>
            <a:ext cx="49869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51"/>
          <p:cNvSpPr/>
          <p:nvPr/>
        </p:nvSpPr>
        <p:spPr>
          <a:xfrm>
            <a:off x="7531298" y="3636615"/>
            <a:ext cx="40892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51"/>
          <p:cNvSpPr/>
          <p:nvPr/>
        </p:nvSpPr>
        <p:spPr>
          <a:xfrm>
            <a:off x="571500" y="4173735"/>
            <a:ext cx="19728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51"/>
          <p:cNvSpPr/>
          <p:nvPr/>
        </p:nvSpPr>
        <p:spPr>
          <a:xfrm>
            <a:off x="2544365" y="4173735"/>
            <a:ext cx="49869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51"/>
          <p:cNvSpPr/>
          <p:nvPr/>
        </p:nvSpPr>
        <p:spPr>
          <a:xfrm>
            <a:off x="7531298" y="4173735"/>
            <a:ext cx="40892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51"/>
          <p:cNvSpPr/>
          <p:nvPr/>
        </p:nvSpPr>
        <p:spPr>
          <a:xfrm>
            <a:off x="571500" y="4710856"/>
            <a:ext cx="19728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51"/>
          <p:cNvSpPr/>
          <p:nvPr/>
        </p:nvSpPr>
        <p:spPr>
          <a:xfrm>
            <a:off x="2544365" y="4710856"/>
            <a:ext cx="49869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51"/>
          <p:cNvSpPr/>
          <p:nvPr/>
        </p:nvSpPr>
        <p:spPr>
          <a:xfrm>
            <a:off x="7531298" y="4710856"/>
            <a:ext cx="40892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51"/>
          <p:cNvSpPr/>
          <p:nvPr/>
        </p:nvSpPr>
        <p:spPr>
          <a:xfrm>
            <a:off x="571500" y="5247977"/>
            <a:ext cx="19728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51"/>
          <p:cNvSpPr/>
          <p:nvPr/>
        </p:nvSpPr>
        <p:spPr>
          <a:xfrm>
            <a:off x="2544365" y="5247977"/>
            <a:ext cx="49869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51"/>
          <p:cNvSpPr/>
          <p:nvPr/>
        </p:nvSpPr>
        <p:spPr>
          <a:xfrm>
            <a:off x="7531298" y="5247977"/>
            <a:ext cx="40892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51"/>
          <p:cNvSpPr/>
          <p:nvPr/>
        </p:nvSpPr>
        <p:spPr>
          <a:xfrm>
            <a:off x="571500" y="5785098"/>
            <a:ext cx="19728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51"/>
          <p:cNvSpPr/>
          <p:nvPr/>
        </p:nvSpPr>
        <p:spPr>
          <a:xfrm>
            <a:off x="2544365" y="5785098"/>
            <a:ext cx="49869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51"/>
          <p:cNvSpPr/>
          <p:nvPr/>
        </p:nvSpPr>
        <p:spPr>
          <a:xfrm>
            <a:off x="7531298" y="5785098"/>
            <a:ext cx="40892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Google Shape;772;p5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3" name="Google Shape;773;p5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32807"/>
            <a:ext cx="5286375" cy="1798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p5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932807"/>
            <a:ext cx="5286375" cy="2087612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52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Assembler Directives: Control</a:t>
            </a:r>
            <a:endParaRPr/>
          </a:p>
        </p:txBody>
      </p:sp>
      <p:sp>
        <p:nvSpPr>
          <p:cNvPr id="776" name="Google Shape;776;p52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52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41</a:t>
            </a:r>
            <a:endParaRPr/>
          </a:p>
        </p:txBody>
      </p:sp>
      <p:sp>
        <p:nvSpPr>
          <p:cNvPr id="778" name="Google Shape;778;p52"/>
          <p:cNvSpPr txBox="1"/>
          <p:nvPr/>
        </p:nvSpPr>
        <p:spPr>
          <a:xfrm>
            <a:off x="857250" y="3266182"/>
            <a:ext cx="495061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Segment Control</a:t>
            </a:r>
            <a:endParaRPr/>
          </a:p>
        </p:txBody>
      </p:sp>
      <p:sp>
        <p:nvSpPr>
          <p:cNvPr id="779" name="Google Shape;779;p52"/>
          <p:cNvSpPr txBox="1"/>
          <p:nvPr/>
        </p:nvSpPr>
        <p:spPr>
          <a:xfrm>
            <a:off x="857250" y="3866257"/>
            <a:ext cx="47148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SEGMENT / ENDS: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Defines logical memory segments.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ASSUME: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Assigns segment registers to logical segments.</a:t>
            </a:r>
            <a:endParaRPr/>
          </a:p>
        </p:txBody>
      </p:sp>
      <p:sp>
        <p:nvSpPr>
          <p:cNvPr id="780" name="Google Shape;780;p52"/>
          <p:cNvSpPr txBox="1"/>
          <p:nvPr/>
        </p:nvSpPr>
        <p:spPr>
          <a:xfrm>
            <a:off x="6619875" y="3266182"/>
            <a:ext cx="495061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Code Organization</a:t>
            </a:r>
            <a:endParaRPr/>
          </a:p>
        </p:txBody>
      </p:sp>
      <p:sp>
        <p:nvSpPr>
          <p:cNvPr id="781" name="Google Shape;781;p52"/>
          <p:cNvSpPr txBox="1"/>
          <p:nvPr/>
        </p:nvSpPr>
        <p:spPr>
          <a:xfrm>
            <a:off x="6619875" y="3866257"/>
            <a:ext cx="4714875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PROC / ENDP: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Defines procedures (subroutines).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ORG: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Sets the location counter (origin).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END: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Marks the end of source file.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5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53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Assembler Operators</a:t>
            </a:r>
            <a:endParaRPr/>
          </a:p>
        </p:txBody>
      </p:sp>
      <p:sp>
        <p:nvSpPr>
          <p:cNvPr id="788" name="Google Shape;788;p53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53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42</a:t>
            </a:r>
            <a:endParaRPr/>
          </a:p>
        </p:txBody>
      </p:sp>
      <p:sp>
        <p:nvSpPr>
          <p:cNvPr id="790" name="Google Shape;790;p53"/>
          <p:cNvSpPr txBox="1"/>
          <p:nvPr/>
        </p:nvSpPr>
        <p:spPr>
          <a:xfrm>
            <a:off x="904875" y="2881461"/>
            <a:ext cx="10715625" cy="298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OFFSET: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Returns the 16-bit displacement of a variable. MOV BX, OFFSET DATA1</a:t>
            </a:r>
            <a:endParaRPr/>
          </a:p>
        </p:txBody>
      </p:sp>
      <p:sp>
        <p:nvSpPr>
          <p:cNvPr id="791" name="Google Shape;791;p53"/>
          <p:cNvSpPr txBox="1"/>
          <p:nvPr/>
        </p:nvSpPr>
        <p:spPr>
          <a:xfrm>
            <a:off x="904875" y="3323332"/>
            <a:ext cx="10715625" cy="298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SEG: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Returns the segment address of a label. MOV AX, SEG MY_CODE</a:t>
            </a:r>
            <a:endParaRPr/>
          </a:p>
        </p:txBody>
      </p:sp>
      <p:sp>
        <p:nvSpPr>
          <p:cNvPr id="792" name="Google Shape;792;p53"/>
          <p:cNvSpPr txBox="1"/>
          <p:nvPr/>
        </p:nvSpPr>
        <p:spPr>
          <a:xfrm>
            <a:off x="904875" y="3765202"/>
            <a:ext cx="10715625" cy="298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PTR: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Overrides the default size of an operand. MOV BYTE PTR [SI], 10</a:t>
            </a:r>
            <a:endParaRPr/>
          </a:p>
        </p:txBody>
      </p:sp>
      <p:sp>
        <p:nvSpPr>
          <p:cNvPr id="793" name="Google Shape;793;p53"/>
          <p:cNvSpPr txBox="1"/>
          <p:nvPr/>
        </p:nvSpPr>
        <p:spPr>
          <a:xfrm>
            <a:off x="904875" y="4207073"/>
            <a:ext cx="10715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TYPE: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Returns the size (1 for DB, 2 for DW, etc.).</a:t>
            </a:r>
            <a:endParaRPr/>
          </a:p>
        </p:txBody>
      </p:sp>
      <p:sp>
        <p:nvSpPr>
          <p:cNvPr id="794" name="Google Shape;794;p53"/>
          <p:cNvSpPr txBox="1"/>
          <p:nvPr/>
        </p:nvSpPr>
        <p:spPr>
          <a:xfrm>
            <a:off x="904875" y="4639419"/>
            <a:ext cx="1071562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LENGTH:</a:t>
            </a:r>
            <a:r>
              <a:rPr lang="en-US" sz="142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Returns the number of elements in an array.</a:t>
            </a:r>
            <a:endParaRPr/>
          </a:p>
        </p:txBody>
      </p:sp>
      <p:pic>
        <p:nvPicPr>
          <p:cNvPr id="795" name="Google Shape;795;p5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81461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5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23332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5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765202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5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207073"/>
            <a:ext cx="1143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5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639419"/>
            <a:ext cx="1143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4" name="Google Shape;804;p5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54"/>
          <p:cNvSpPr txBox="1"/>
          <p:nvPr/>
        </p:nvSpPr>
        <p:spPr>
          <a:xfrm>
            <a:off x="11468100" y="6410325"/>
            <a:ext cx="1524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43</a:t>
            </a:r>
            <a:endParaRPr/>
          </a:p>
        </p:txBody>
      </p:sp>
      <p:sp>
        <p:nvSpPr>
          <p:cNvPr id="806" name="Google Shape;806;p54"/>
          <p:cNvSpPr txBox="1"/>
          <p:nvPr/>
        </p:nvSpPr>
        <p:spPr>
          <a:xfrm>
            <a:off x="295275" y="1585168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C5A059"/>
                </a:solidFill>
                <a:latin typeface="Poppins"/>
                <a:ea typeface="Poppins"/>
                <a:cs typeface="Poppins"/>
                <a:sym typeface="Poppins"/>
              </a:rPr>
              <a:t>Summary &amp; Conclusion</a:t>
            </a:r>
            <a:endParaRPr/>
          </a:p>
        </p:txBody>
      </p:sp>
      <p:sp>
        <p:nvSpPr>
          <p:cNvPr id="807" name="Google Shape;807;p54"/>
          <p:cNvSpPr/>
          <p:nvPr/>
        </p:nvSpPr>
        <p:spPr>
          <a:xfrm>
            <a:off x="5715000" y="2625179"/>
            <a:ext cx="762000" cy="381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54"/>
          <p:cNvSpPr txBox="1"/>
          <p:nvPr/>
        </p:nvSpPr>
        <p:spPr>
          <a:xfrm>
            <a:off x="2286000" y="2949029"/>
            <a:ext cx="7620000" cy="1462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 Intel 8086 remains a fundamental subject for understanding computer architecture. Its parallel functional units, segmented memory model, and flexible instruction set laid the groundwork for decades of microprocessor evolution.</a:t>
            </a:r>
            <a:endParaRPr/>
          </a:p>
        </p:txBody>
      </p:sp>
      <p:sp>
        <p:nvSpPr>
          <p:cNvPr id="809" name="Google Shape;809;p54"/>
          <p:cNvSpPr txBox="1"/>
          <p:nvPr/>
        </p:nvSpPr>
        <p:spPr>
          <a:xfrm>
            <a:off x="571500" y="4983212"/>
            <a:ext cx="11049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Thank you for your time. Questions are welcome.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4" name="Google Shape;814;p5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55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816" name="Google Shape;816;p55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55"/>
          <p:cNvSpPr/>
          <p:nvPr/>
        </p:nvSpPr>
        <p:spPr>
          <a:xfrm>
            <a:off x="571500" y="166687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55"/>
          <p:cNvSpPr/>
          <p:nvPr/>
        </p:nvSpPr>
        <p:spPr>
          <a:xfrm>
            <a:off x="571500" y="245164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55"/>
          <p:cNvSpPr/>
          <p:nvPr/>
        </p:nvSpPr>
        <p:spPr>
          <a:xfrm>
            <a:off x="571500" y="3236416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55"/>
          <p:cNvSpPr/>
          <p:nvPr/>
        </p:nvSpPr>
        <p:spPr>
          <a:xfrm>
            <a:off x="571500" y="402118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55"/>
          <p:cNvSpPr/>
          <p:nvPr/>
        </p:nvSpPr>
        <p:spPr>
          <a:xfrm>
            <a:off x="571500" y="480595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55"/>
          <p:cNvSpPr/>
          <p:nvPr/>
        </p:nvSpPr>
        <p:spPr>
          <a:xfrm>
            <a:off x="571500" y="244212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55"/>
          <p:cNvSpPr/>
          <p:nvPr/>
        </p:nvSpPr>
        <p:spPr>
          <a:xfrm>
            <a:off x="571500" y="244212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55"/>
          <p:cNvSpPr/>
          <p:nvPr/>
        </p:nvSpPr>
        <p:spPr>
          <a:xfrm>
            <a:off x="571500" y="32268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55"/>
          <p:cNvSpPr/>
          <p:nvPr/>
        </p:nvSpPr>
        <p:spPr>
          <a:xfrm>
            <a:off x="571500" y="32268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55"/>
          <p:cNvSpPr/>
          <p:nvPr/>
        </p:nvSpPr>
        <p:spPr>
          <a:xfrm>
            <a:off x="571500" y="40116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55"/>
          <p:cNvSpPr/>
          <p:nvPr/>
        </p:nvSpPr>
        <p:spPr>
          <a:xfrm>
            <a:off x="571500" y="40116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55"/>
          <p:cNvSpPr/>
          <p:nvPr/>
        </p:nvSpPr>
        <p:spPr>
          <a:xfrm>
            <a:off x="571500" y="479643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55"/>
          <p:cNvSpPr/>
          <p:nvPr/>
        </p:nvSpPr>
        <p:spPr>
          <a:xfrm>
            <a:off x="571500" y="479643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55"/>
          <p:cNvSpPr/>
          <p:nvPr/>
        </p:nvSpPr>
        <p:spPr>
          <a:xfrm>
            <a:off x="571500" y="558120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55"/>
          <p:cNvSpPr/>
          <p:nvPr/>
        </p:nvSpPr>
        <p:spPr>
          <a:xfrm>
            <a:off x="571500" y="558120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2" name="Google Shape;832;p5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1629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55"/>
          <p:cNvSpPr txBox="1"/>
          <p:nvPr/>
        </p:nvSpPr>
        <p:spPr>
          <a:xfrm>
            <a:off x="1666875" y="180975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https://www.eeeguide.com/wp-content/uploads/2018/08/8086-Internal-Architecture.jpg</a:t>
            </a:r>
            <a:endParaRPr/>
          </a:p>
        </p:txBody>
      </p:sp>
      <p:sp>
        <p:nvSpPr>
          <p:cNvPr id="834" name="Google Shape;834;p55"/>
          <p:cNvSpPr txBox="1"/>
          <p:nvPr/>
        </p:nvSpPr>
        <p:spPr>
          <a:xfrm>
            <a:off x="1666875" y="205546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www.eeeguide.com</a:t>
            </a:r>
            <a:endParaRPr/>
          </a:p>
        </p:txBody>
      </p:sp>
      <p:pic>
        <p:nvPicPr>
          <p:cNvPr id="835" name="Google Shape;835;p5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60106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55"/>
          <p:cNvSpPr txBox="1"/>
          <p:nvPr/>
        </p:nvSpPr>
        <p:spPr>
          <a:xfrm>
            <a:off x="1666875" y="259452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https://electronicsmind.com/wp-content/uploads/2021/12/registers-in-8086-microprocessor-1419822061.jpeg.webp</a:t>
            </a:r>
            <a:endParaRPr/>
          </a:p>
        </p:txBody>
      </p:sp>
      <p:sp>
        <p:nvSpPr>
          <p:cNvPr id="837" name="Google Shape;837;p55"/>
          <p:cNvSpPr txBox="1"/>
          <p:nvPr/>
        </p:nvSpPr>
        <p:spPr>
          <a:xfrm>
            <a:off x="1666875" y="284023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electronicsmind.com</a:t>
            </a:r>
            <a:endParaRPr/>
          </a:p>
        </p:txBody>
      </p:sp>
      <p:pic>
        <p:nvPicPr>
          <p:cNvPr id="838" name="Google Shape;838;p5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85839"/>
            <a:ext cx="1333500" cy="578941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55"/>
          <p:cNvSpPr txBox="1"/>
          <p:nvPr/>
        </p:nvSpPr>
        <p:spPr>
          <a:xfrm>
            <a:off x="1666875" y="337929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https://static.righto.com/images/8086-ad-pins/physical-address-generation.jpg</a:t>
            </a:r>
            <a:endParaRPr/>
          </a:p>
        </p:txBody>
      </p:sp>
      <p:sp>
        <p:nvSpPr>
          <p:cNvPr id="840" name="Google Shape;840;p55"/>
          <p:cNvSpPr txBox="1"/>
          <p:nvPr/>
        </p:nvSpPr>
        <p:spPr>
          <a:xfrm>
            <a:off x="1666875" y="362500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www.righto.com</a:t>
            </a:r>
            <a:endParaRPr/>
          </a:p>
        </p:txBody>
      </p:sp>
      <p:pic>
        <p:nvPicPr>
          <p:cNvPr id="841" name="Google Shape;841;p5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17061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55"/>
          <p:cNvSpPr txBox="1"/>
          <p:nvPr/>
        </p:nvSpPr>
        <p:spPr>
          <a:xfrm>
            <a:off x="1666875" y="416406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https://electronicsmind.com/wp-content/uploads/2021/12/flag-registers-of-8086-microprocessor-152235522.jpeg</a:t>
            </a:r>
            <a:endParaRPr/>
          </a:p>
        </p:txBody>
      </p:sp>
      <p:sp>
        <p:nvSpPr>
          <p:cNvPr id="843" name="Google Shape;843;p55"/>
          <p:cNvSpPr txBox="1"/>
          <p:nvPr/>
        </p:nvSpPr>
        <p:spPr>
          <a:xfrm>
            <a:off x="1666875" y="440977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electronicsmind.com</a:t>
            </a:r>
            <a:endParaRPr/>
          </a:p>
        </p:txBody>
      </p:sp>
      <p:pic>
        <p:nvPicPr>
          <p:cNvPr id="844" name="Google Shape;844;p5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95538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55"/>
          <p:cNvSpPr txBox="1"/>
          <p:nvPr/>
        </p:nvSpPr>
        <p:spPr>
          <a:xfrm>
            <a:off x="1666875" y="494883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https://media.geeksforgeeks.org/wp-content/uploads/20221114154946/pindiagramof808611.png</a:t>
            </a:r>
            <a:endParaRPr/>
          </a:p>
        </p:txBody>
      </p:sp>
      <p:sp>
        <p:nvSpPr>
          <p:cNvPr id="846" name="Google Shape;846;p55"/>
          <p:cNvSpPr txBox="1"/>
          <p:nvPr/>
        </p:nvSpPr>
        <p:spPr>
          <a:xfrm>
            <a:off x="1666875" y="519454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www.geeksforgeeks.org</a:t>
            </a:r>
            <a:endParaRPr/>
          </a:p>
        </p:txBody>
      </p:sp>
      <p:pic>
        <p:nvPicPr>
          <p:cNvPr id="847" name="Google Shape;847;p5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574015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55"/>
          <p:cNvSpPr txBox="1"/>
          <p:nvPr/>
        </p:nvSpPr>
        <p:spPr>
          <a:xfrm>
            <a:off x="1666875" y="573360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https://media.geeksforgeeks.org/wp-content/uploads/20210527131324/Minmode-660x560.jpg</a:t>
            </a:r>
            <a:endParaRPr/>
          </a:p>
        </p:txBody>
      </p:sp>
      <p:sp>
        <p:nvSpPr>
          <p:cNvPr id="849" name="Google Shape;849;p55"/>
          <p:cNvSpPr txBox="1"/>
          <p:nvPr/>
        </p:nvSpPr>
        <p:spPr>
          <a:xfrm>
            <a:off x="1666875" y="597931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www.geeksforgeeks.org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4" name="Google Shape;854;p5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56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856" name="Google Shape;856;p56"/>
          <p:cNvSpPr/>
          <p:nvPr/>
        </p:nvSpPr>
        <p:spPr>
          <a:xfrm>
            <a:off x="571500" y="12668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56"/>
          <p:cNvSpPr/>
          <p:nvPr/>
        </p:nvSpPr>
        <p:spPr>
          <a:xfrm>
            <a:off x="571500" y="231278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56"/>
          <p:cNvSpPr/>
          <p:nvPr/>
        </p:nvSpPr>
        <p:spPr>
          <a:xfrm>
            <a:off x="571500" y="3097559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56"/>
          <p:cNvSpPr/>
          <p:nvPr/>
        </p:nvSpPr>
        <p:spPr>
          <a:xfrm>
            <a:off x="571500" y="3882330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56"/>
          <p:cNvSpPr/>
          <p:nvPr/>
        </p:nvSpPr>
        <p:spPr>
          <a:xfrm>
            <a:off x="571500" y="308803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56"/>
          <p:cNvSpPr/>
          <p:nvPr/>
        </p:nvSpPr>
        <p:spPr>
          <a:xfrm>
            <a:off x="571500" y="308803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56"/>
          <p:cNvSpPr/>
          <p:nvPr/>
        </p:nvSpPr>
        <p:spPr>
          <a:xfrm>
            <a:off x="571500" y="387280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56"/>
          <p:cNvSpPr/>
          <p:nvPr/>
        </p:nvSpPr>
        <p:spPr>
          <a:xfrm>
            <a:off x="571500" y="387280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56"/>
          <p:cNvSpPr/>
          <p:nvPr/>
        </p:nvSpPr>
        <p:spPr>
          <a:xfrm>
            <a:off x="571500" y="48556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56"/>
          <p:cNvSpPr/>
          <p:nvPr/>
        </p:nvSpPr>
        <p:spPr>
          <a:xfrm>
            <a:off x="571500" y="48556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6" name="Google Shape;866;p5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622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p56"/>
          <p:cNvSpPr txBox="1"/>
          <p:nvPr/>
        </p:nvSpPr>
        <p:spPr>
          <a:xfrm>
            <a:off x="1666875" y="245566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https://www.eeeguide.com/wp-content/uploads/2018/08/Maximum-Mode-Configuration-of-8086-2.jpg</a:t>
            </a:r>
            <a:endParaRPr/>
          </a:p>
        </p:txBody>
      </p:sp>
      <p:sp>
        <p:nvSpPr>
          <p:cNvPr id="868" name="Google Shape;868;p56"/>
          <p:cNvSpPr txBox="1"/>
          <p:nvPr/>
        </p:nvSpPr>
        <p:spPr>
          <a:xfrm>
            <a:off x="1666875" y="270137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www.eeeguide.com</a:t>
            </a:r>
            <a:endParaRPr/>
          </a:p>
        </p:txBody>
      </p:sp>
      <p:pic>
        <p:nvPicPr>
          <p:cNvPr id="869" name="Google Shape;869;p5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24698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56"/>
          <p:cNvSpPr txBox="1"/>
          <p:nvPr/>
        </p:nvSpPr>
        <p:spPr>
          <a:xfrm>
            <a:off x="1666875" y="324043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https://media.geeksforgeeks.org/wp-content/uploads/20200618092027/Untitleddrawing7.jpg</a:t>
            </a:r>
            <a:endParaRPr/>
          </a:p>
        </p:txBody>
      </p:sp>
      <p:sp>
        <p:nvSpPr>
          <p:cNvPr id="871" name="Google Shape;871;p56"/>
          <p:cNvSpPr txBox="1"/>
          <p:nvPr/>
        </p:nvSpPr>
        <p:spPr>
          <a:xfrm>
            <a:off x="1666875" y="348615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www.geeksforgeeks.org</a:t>
            </a:r>
            <a:endParaRPr/>
          </a:p>
        </p:txBody>
      </p:sp>
      <p:pic>
        <p:nvPicPr>
          <p:cNvPr id="872" name="Google Shape;872;p5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3087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56"/>
          <p:cNvSpPr txBox="1"/>
          <p:nvPr/>
        </p:nvSpPr>
        <p:spPr>
          <a:xfrm>
            <a:off x="1666875" y="4025205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https://blogger.googleusercontent.com/img/b/R29vZ2xl/AVvXsEi_bxRPI8uJq1qsaBu5Dr0Oie2KKeSxVLYr_72caAofBKFd6ACKZ9RmgRM4xH_j4hL-GZqbBI8kPHSwUFJchRZ696dBosLj1gjYWRQagseuV6_2pQPops4XSaOSTS83_bKaMCaCHmmfnYw/w1200-h630-p-k-no-nu/Screenshot_1.jpg</a:t>
            </a:r>
            <a:endParaRPr/>
          </a:p>
        </p:txBody>
      </p:sp>
      <p:sp>
        <p:nvSpPr>
          <p:cNvPr id="874" name="Google Shape;874;p56"/>
          <p:cNvSpPr txBox="1"/>
          <p:nvPr/>
        </p:nvSpPr>
        <p:spPr>
          <a:xfrm>
            <a:off x="1666875" y="446901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mmrcse.blogspot.com</a:t>
            </a:r>
            <a:endParaRPr/>
          </a:p>
        </p:txBody>
      </p:sp>
      <p:pic>
        <p:nvPicPr>
          <p:cNvPr id="875" name="Google Shape;875;p5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01461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56"/>
          <p:cNvSpPr txBox="1"/>
          <p:nvPr/>
        </p:nvSpPr>
        <p:spPr>
          <a:xfrm>
            <a:off x="1666875" y="500806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https://imgv2-2-f.scribdassets.com/img/document/940816001/298x396/747f741430/1761854090?v=1</a:t>
            </a:r>
            <a:endParaRPr/>
          </a:p>
        </p:txBody>
      </p:sp>
      <p:sp>
        <p:nvSpPr>
          <p:cNvPr id="877" name="Google Shape;877;p56"/>
          <p:cNvSpPr txBox="1"/>
          <p:nvPr/>
        </p:nvSpPr>
        <p:spPr>
          <a:xfrm>
            <a:off x="1666875" y="525378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www.scribd.com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1C67AF-B016-89EA-3287-46DE6409FF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" y="125730"/>
            <a:ext cx="11018520" cy="6732270"/>
          </a:xfrm>
        </p:spPr>
      </p:pic>
    </p:spTree>
    <p:extLst>
      <p:ext uri="{BB962C8B-B14F-4D97-AF65-F5344CB8AC3E}">
        <p14:creationId xmlns:p14="http://schemas.microsoft.com/office/powerpoint/2010/main" val="22722891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E2338F-442D-54A1-9F2D-1E0D19FF61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" y="226854"/>
            <a:ext cx="11064240" cy="6288246"/>
          </a:xfrm>
        </p:spPr>
      </p:pic>
    </p:spTree>
    <p:extLst>
      <p:ext uri="{BB962C8B-B14F-4D97-AF65-F5344CB8AC3E}">
        <p14:creationId xmlns:p14="http://schemas.microsoft.com/office/powerpoint/2010/main" val="1810417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2997</Words>
  <Application>Microsoft Office PowerPoint</Application>
  <PresentationFormat>Widescreen</PresentationFormat>
  <Paragraphs>345</Paragraphs>
  <Slides>53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53</vt:i4>
      </vt:variant>
    </vt:vector>
  </HeadingPairs>
  <TitlesOfParts>
    <vt:vector size="60" baseType="lpstr">
      <vt:lpstr>Lato</vt:lpstr>
      <vt:lpstr>Calibri</vt:lpstr>
      <vt:lpstr>Poppins</vt:lpstr>
      <vt:lpstr>Arial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arepa</dc:creator>
  <cp:lastModifiedBy>arepallirama@outlook.com</cp:lastModifiedBy>
  <cp:revision>2</cp:revision>
  <dcterms:modified xsi:type="dcterms:W3CDTF">2026-06-30T07:20:53Z</dcterms:modified>
</cp:coreProperties>
</file>