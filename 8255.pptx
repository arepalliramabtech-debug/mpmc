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05" r:id="rId2"/>
    <p:sldId id="297" r:id="rId3"/>
    <p:sldId id="296" r:id="rId4"/>
    <p:sldId id="295" r:id="rId5"/>
    <p:sldId id="300" r:id="rId6"/>
    <p:sldId id="294" r:id="rId7"/>
    <p:sldId id="293" r:id="rId8"/>
    <p:sldId id="292" r:id="rId9"/>
    <p:sldId id="291" r:id="rId10"/>
    <p:sldId id="290" r:id="rId11"/>
    <p:sldId id="289" r:id="rId12"/>
    <p:sldId id="301" r:id="rId13"/>
    <p:sldId id="288" r:id="rId14"/>
    <p:sldId id="287" r:id="rId15"/>
    <p:sldId id="286" r:id="rId16"/>
    <p:sldId id="285" r:id="rId17"/>
    <p:sldId id="302" r:id="rId18"/>
    <p:sldId id="284" r:id="rId19"/>
    <p:sldId id="283" r:id="rId20"/>
    <p:sldId id="282" r:id="rId21"/>
    <p:sldId id="281" r:id="rId22"/>
    <p:sldId id="303" r:id="rId23"/>
    <p:sldId id="280" r:id="rId24"/>
    <p:sldId id="279" r:id="rId25"/>
    <p:sldId id="278" r:id="rId26"/>
    <p:sldId id="277" r:id="rId27"/>
    <p:sldId id="276" r:id="rId28"/>
    <p:sldId id="275" r:id="rId29"/>
    <p:sldId id="274" r:id="rId30"/>
    <p:sldId id="273" r:id="rId31"/>
    <p:sldId id="272" r:id="rId32"/>
    <p:sldId id="271" r:id="rId33"/>
    <p:sldId id="270" r:id="rId34"/>
    <p:sldId id="269" r:id="rId35"/>
    <p:sldId id="268" r:id="rId36"/>
    <p:sldId id="267" r:id="rId37"/>
    <p:sldId id="266" r:id="rId38"/>
    <p:sldId id="265" r:id="rId39"/>
    <p:sldId id="264" r:id="rId40"/>
    <p:sldId id="263" r:id="rId41"/>
    <p:sldId id="262" r:id="rId42"/>
    <p:sldId id="261" r:id="rId43"/>
    <p:sldId id="260" r:id="rId44"/>
    <p:sldId id="259" r:id="rId45"/>
    <p:sldId id="258" r:id="rId46"/>
    <p:sldId id="257" r:id="rId47"/>
    <p:sldId id="298" r:id="rId48"/>
    <p:sldId id="304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05F20-339C-4AB7-9DB5-24546044AA32}" type="datetimeFigureOut">
              <a:rPr lang="en-US" smtClean="0"/>
              <a:pPr/>
              <a:t>5/24/2021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A275B-1E51-4345-AAE5-9EE8C9E913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F739F4-7299-48E8-AA83-F0DDE526C956}" type="slidenum">
              <a:rPr lang="zh-TW" altLang="en-US" smtClean="0">
                <a:ea typeface="PMingLiU" pitchFamily="18" charset="-120"/>
              </a:rPr>
              <a:pPr/>
              <a:t>1</a:t>
            </a:fld>
            <a:endParaRPr lang="en-US" altLang="zh-TW" dirty="0" smtClean="0">
              <a:ea typeface="PMingLiU" pitchFamily="18" charset="-12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141" y="4343559"/>
            <a:ext cx="5027720" cy="411511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  <p:sp>
        <p:nvSpPr>
          <p:cNvPr id="72709" name="Header Placeholder 4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TW" dirty="0" smtClean="0">
                <a:ea typeface="PMingLiU" pitchFamily="18" charset="-120"/>
              </a:rPr>
              <a:t>RCE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FE69D-DE85-4C91-A5E4-4F03B326E301}" type="datetimeFigureOut">
              <a:rPr lang="en-US" smtClean="0"/>
              <a:pPr/>
              <a:t>5/24/2021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3DC6-4247-44A6-808E-CC7720478BF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667000"/>
            <a:ext cx="7666892" cy="3448050"/>
          </a:xfrm>
        </p:spPr>
        <p:txBody>
          <a:bodyPr rtlCol="0">
            <a:normAutofit/>
          </a:bodyPr>
          <a:lstStyle/>
          <a:p>
            <a:pPr algn="r" eaLnBrk="1" fontAlgn="auto" hangingPunct="1">
              <a:spcAft>
                <a:spcPts val="600"/>
              </a:spcAft>
              <a:defRPr/>
            </a:pP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</a:t>
            </a:r>
            <a:b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NVDP Murthy</a:t>
            </a:r>
            <a: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                        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Assist Prof</a:t>
            </a:r>
            <a:b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ECE Dept</a:t>
            </a:r>
            <a:endParaRPr lang="en-US" altLang="zh-TW" sz="3200" b="1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7010400" y="6356351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FD196863-0F68-4D45-8D14-174155202345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124" name="Rectangle 2"/>
          <p:cNvSpPr txBox="1">
            <a:spLocks noChangeArrowheads="1"/>
          </p:cNvSpPr>
          <p:nvPr/>
        </p:nvSpPr>
        <p:spPr bwMode="auto">
          <a:xfrm>
            <a:off x="685800" y="457201"/>
            <a:ext cx="7772400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 smtClean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r">
              <a:spcAft>
                <a:spcPts val="600"/>
              </a:spcAft>
              <a:defRPr/>
            </a:pPr>
            <a:r>
              <a:rPr lang="en-US" sz="3600" b="1" i="0" u="none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MPMC – </a:t>
            </a:r>
            <a:r>
              <a:rPr lang="en-US" sz="3600" b="1" dirty="0"/>
              <a:t>MICROPROCESSORS AND </a:t>
            </a:r>
            <a:r>
              <a:rPr lang="en-US" sz="3600" b="1" dirty="0" smtClean="0"/>
              <a:t>       MICROCONTROLLERS</a:t>
            </a:r>
            <a:endParaRPr lang="en-US" sz="3600" dirty="0"/>
          </a:p>
          <a:p>
            <a:pPr algn="ctr">
              <a:spcAft>
                <a:spcPts val="600"/>
              </a:spcAft>
              <a:defRPr/>
            </a:pPr>
            <a:endParaRPr lang="en-US" sz="3600" b="1" i="0" u="none" dirty="0" smtClean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US" sz="3600" b="1" i="0" u="none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> </a:t>
            </a:r>
            <a:r>
              <a:rPr lang="en-US" sz="3600" b="1" i="0" u="none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  <a:t/>
            </a:r>
            <a:br>
              <a:rPr lang="en-US" sz="3600" b="1" i="0" u="none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pitchFamily="18" charset="-120"/>
              </a:rPr>
            </a:br>
            <a:r>
              <a:rPr kumimoji="1" lang="en-US" altLang="zh-TW" sz="3600" i="0" u="none" dirty="0">
                <a:solidFill>
                  <a:schemeClr val="tx1"/>
                </a:solidFill>
                <a:latin typeface="Book Antiqua" pitchFamily="18" charset="0"/>
                <a:ea typeface="新細明體" pitchFamily="18" charset="-120"/>
              </a:rPr>
              <a:t/>
            </a:r>
            <a:br>
              <a:rPr kumimoji="1" lang="en-US" altLang="zh-TW" sz="3600" i="0" u="none" dirty="0">
                <a:solidFill>
                  <a:schemeClr val="tx1"/>
                </a:solidFill>
                <a:latin typeface="Book Antiqua" pitchFamily="18" charset="0"/>
                <a:ea typeface="新細明體" pitchFamily="18" charset="-120"/>
              </a:rPr>
            </a:br>
            <a:endParaRPr kumimoji="1" lang="en-US" altLang="zh-TW" sz="3600" i="0" u="none" dirty="0">
              <a:solidFill>
                <a:schemeClr val="tx1"/>
              </a:solidFill>
              <a:latin typeface="Book Antiqua" pitchFamily="18" charset="0"/>
              <a:ea typeface="新細明體" pitchFamily="18" charset="-120"/>
            </a:endParaRPr>
          </a:p>
        </p:txBody>
      </p:sp>
      <p:pic>
        <p:nvPicPr>
          <p:cNvPr id="15366" name="Picture 6" descr="E:\2016-17\Header with NAAC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228" y="531814"/>
            <a:ext cx="778119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PIO 8255: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endParaRPr lang="en-US" sz="3200" b="1" u="sng" dirty="0"/>
          </a:p>
          <a:p>
            <a:r>
              <a:rPr lang="en-US" sz="2800" dirty="0"/>
              <a:t>• The parallel input-output port chip 8255 is also called as </a:t>
            </a:r>
            <a:r>
              <a:rPr lang="en-US" sz="2800" dirty="0" smtClean="0"/>
              <a:t>programmable</a:t>
            </a:r>
            <a:r>
              <a:rPr lang="en-US" sz="2800" b="1" i="1" dirty="0" smtClean="0"/>
              <a:t> </a:t>
            </a:r>
            <a:r>
              <a:rPr lang="en-US" sz="2800" dirty="0" smtClean="0"/>
              <a:t>peripheral input-output port The Intel’s 8255 </a:t>
            </a:r>
            <a:endParaRPr lang="en-US" sz="2800" dirty="0"/>
          </a:p>
          <a:p>
            <a:r>
              <a:rPr lang="en-US" sz="2800" dirty="0" smtClean="0"/>
              <a:t> is </a:t>
            </a:r>
            <a:r>
              <a:rPr lang="en-US" sz="2800" dirty="0"/>
              <a:t>designed for use with Intel’s </a:t>
            </a:r>
            <a:r>
              <a:rPr lang="en-US" sz="2800" dirty="0" smtClean="0"/>
              <a:t>8- bit, 16-bit and higher </a:t>
            </a:r>
            <a:endParaRPr lang="en-US" sz="2800" b="1" i="1" dirty="0"/>
          </a:p>
          <a:p>
            <a:r>
              <a:rPr lang="en-US" sz="2800" dirty="0" smtClean="0"/>
              <a:t>capability </a:t>
            </a:r>
            <a:r>
              <a:rPr lang="en-US" sz="2800" dirty="0"/>
              <a:t>microprocessors. It has 24 input/output lines</a:t>
            </a:r>
          </a:p>
          <a:p>
            <a:r>
              <a:rPr lang="en-US" sz="2800" dirty="0"/>
              <a:t>which may be individually programmed in two groups of twelve lines each, </a:t>
            </a:r>
            <a:r>
              <a:rPr lang="en-US" sz="2800" dirty="0" smtClean="0"/>
              <a:t>or three groups of eight lines.</a:t>
            </a:r>
          </a:p>
          <a:p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52400" y="4495800"/>
            <a:ext cx="899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3749457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The two groups of I/O pins are named as Group A and Group B. Each of these two groups contains a subgroup of </a:t>
            </a:r>
          </a:p>
          <a:p>
            <a:r>
              <a:rPr lang="en-US" sz="2800" dirty="0" smtClean="0"/>
              <a:t>eight I/O lines called as 8-bit port and another subgroup of four lines or a 4-bit port Thus Group A contains an 8-bit port A along with a 4-bit port C upper</a:t>
            </a:r>
          </a:p>
          <a:p>
            <a:endParaRPr lang="en-US" sz="2800" dirty="0" smtClean="0"/>
          </a:p>
          <a:p>
            <a:r>
              <a:rPr lang="en-US" sz="2800" dirty="0" smtClean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• The port A lines are identified by symbols PA0-PA7 while the port C lines </a:t>
            </a:r>
            <a:r>
              <a:rPr lang="en-US" sz="2800" dirty="0" smtClean="0"/>
              <a:t>are identified as PC4-PC7. Similarly, Group B contains an 8-bit port B, containing lines PB0-PB7 and </a:t>
            </a:r>
            <a:endParaRPr lang="en-US" sz="2800" dirty="0"/>
          </a:p>
          <a:p>
            <a:r>
              <a:rPr lang="en-US" sz="2800" dirty="0" smtClean="0"/>
              <a:t>a </a:t>
            </a:r>
            <a:r>
              <a:rPr lang="en-US" sz="2800" dirty="0"/>
              <a:t>4-bit port C with lower bits PC0- PC3</a:t>
            </a:r>
            <a:r>
              <a:rPr lang="en-US" sz="2800" dirty="0" smtClean="0"/>
              <a:t>. </a:t>
            </a:r>
            <a:r>
              <a:rPr lang="en-US" sz="2800" dirty="0"/>
              <a:t>The port C upper and</a:t>
            </a:r>
          </a:p>
          <a:p>
            <a:r>
              <a:rPr lang="en-US" sz="2800" dirty="0"/>
              <a:t>port C lower can be used in combination as an 8-bit port C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Both the port C are assigned the same address. Thus one may have either three </a:t>
            </a:r>
            <a:r>
              <a:rPr lang="en-US" sz="2800" dirty="0" smtClean="0"/>
              <a:t>8- bit I/O ports or two 8-bit and two</a:t>
            </a:r>
          </a:p>
          <a:p>
            <a:r>
              <a:rPr lang="en-US" sz="2800" dirty="0" smtClean="0"/>
              <a:t> 4-bit ports from 8255. All of these ports can function</a:t>
            </a:r>
          </a:p>
          <a:p>
            <a:r>
              <a:rPr lang="en-US" sz="2800" dirty="0" smtClean="0"/>
              <a:t>independently either as input or as output ports. This can </a:t>
            </a:r>
          </a:p>
          <a:p>
            <a:r>
              <a:rPr lang="en-US" sz="2800" dirty="0" smtClean="0"/>
              <a:t>be </a:t>
            </a:r>
            <a:r>
              <a:rPr lang="en-US" sz="2800" dirty="0"/>
              <a:t>achieved </a:t>
            </a:r>
            <a:r>
              <a:rPr lang="en-US" sz="2800" dirty="0" smtClean="0"/>
              <a:t>by programming the bits of an internal register</a:t>
            </a:r>
            <a:endParaRPr lang="en-US" sz="2800" dirty="0"/>
          </a:p>
          <a:p>
            <a:r>
              <a:rPr lang="en-US" sz="2800" dirty="0" smtClean="0"/>
              <a:t>of </a:t>
            </a:r>
            <a:r>
              <a:rPr lang="en-US" sz="2800" dirty="0"/>
              <a:t>8255 called as control </a:t>
            </a:r>
            <a:r>
              <a:rPr lang="en-US" sz="2800" dirty="0" smtClean="0"/>
              <a:t>word register ( CWR ).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The internal block diagram and the pin configuration of 8255 are shown in fig.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• The 8-bit data bus buffer is controlled by the read/write control logic. </a:t>
            </a:r>
            <a:r>
              <a:rPr lang="en-US" sz="2800" dirty="0" smtClean="0"/>
              <a:t>The read/write control logic manages all of the </a:t>
            </a:r>
            <a:endParaRPr lang="en-US" sz="2800" dirty="0"/>
          </a:p>
          <a:p>
            <a:r>
              <a:rPr lang="en-US" sz="2800" dirty="0" smtClean="0"/>
              <a:t>internal </a:t>
            </a:r>
            <a:r>
              <a:rPr lang="en-US" sz="2800" dirty="0"/>
              <a:t>and external transfers of </a:t>
            </a:r>
            <a:r>
              <a:rPr lang="en-US" sz="2800" dirty="0" smtClean="0"/>
              <a:t>bothdata and control words.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RD , WR , A1, A0 and RESET are the inputs provided by the microprocessor </a:t>
            </a:r>
            <a:r>
              <a:rPr lang="en-US" sz="2800" dirty="0" smtClean="0"/>
              <a:t>to the READ/ WRITE control logic of 8255. 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8-bit, 3-state bidirectional buffer </a:t>
            </a:r>
            <a:r>
              <a:rPr lang="en-US" sz="2800" dirty="0" smtClean="0"/>
              <a:t>is used to interface the 8255 internal data bus with the external system data bus.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This buffer receives or transmits data upon the execution of input or </a:t>
            </a:r>
            <a:r>
              <a:rPr lang="en-US" sz="2800" dirty="0" smtClean="0"/>
              <a:t>output instructions by the microprocessor. 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control words or status information is </a:t>
            </a:r>
            <a:r>
              <a:rPr lang="en-US" sz="2800" dirty="0" smtClean="0"/>
              <a:t>also transferred</a:t>
            </a:r>
            <a:endParaRPr lang="en-US" sz="2800" dirty="0"/>
          </a:p>
          <a:p>
            <a:r>
              <a:rPr lang="en-US" sz="2800" dirty="0" smtClean="0"/>
              <a:t>through </a:t>
            </a:r>
            <a:r>
              <a:rPr lang="en-US" sz="2800" dirty="0"/>
              <a:t>the buffer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The signal description of 8255 as follows :</a:t>
            </a:r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PA7-PA0</a:t>
            </a:r>
            <a:r>
              <a:rPr lang="en-US" sz="2800" b="1" dirty="0" smtClean="0"/>
              <a:t>: </a:t>
            </a:r>
            <a:r>
              <a:rPr lang="en-US" sz="2800" dirty="0" smtClean="0"/>
              <a:t>These are eight port A lines that acts as either latched output or buffered input lines depending upon </a:t>
            </a:r>
            <a:endParaRPr lang="en-US" sz="2800" b="1" dirty="0" smtClean="0"/>
          </a:p>
          <a:p>
            <a:r>
              <a:rPr lang="en-US" sz="2800" dirty="0" smtClean="0"/>
              <a:t>the control word loaded into the control word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0" y="220980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PC7-PC4 : </a:t>
            </a:r>
            <a:r>
              <a:rPr lang="en-US" sz="2800" dirty="0" smtClean="0"/>
              <a:t>Upper nibble of port C lines. They may act as either output latches or input buffers lines. This port also can be used for generation of handshake lines in mode 1 or mode</a:t>
            </a:r>
          </a:p>
          <a:p>
            <a:endParaRPr lang="en-US" sz="2800" dirty="0" smtClean="0"/>
          </a:p>
          <a:p>
            <a:endParaRPr lang="en-US" sz="2800" b="1" dirty="0" smtClean="0"/>
          </a:p>
          <a:p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0" y="3749457"/>
            <a:ext cx="8991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PC3-PC0 </a:t>
            </a:r>
            <a:r>
              <a:rPr lang="en-US" sz="2800" dirty="0" smtClean="0">
                <a:solidFill>
                  <a:srgbClr val="FF0000"/>
                </a:solidFill>
              </a:rPr>
              <a:t>: </a:t>
            </a:r>
            <a:r>
              <a:rPr lang="en-US" sz="2800" dirty="0" smtClean="0"/>
              <a:t>These are the lower port C lines, other details are the same as PC7-PC4 lines.</a:t>
            </a:r>
          </a:p>
          <a:p>
            <a:endParaRPr lang="en-US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PB0-PB7</a:t>
            </a:r>
            <a:r>
              <a:rPr lang="en-US" sz="2800" dirty="0" smtClean="0"/>
              <a:t> : These are the eight port B lines which are used as latched output lines or buffered input lines in the same way as port A.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RD</a:t>
            </a:r>
            <a:r>
              <a:rPr lang="en-US" sz="2800" dirty="0" smtClean="0"/>
              <a:t> : This is the input line driven by the microprocessor and should be low to indicate read operation to 8255.</a:t>
            </a:r>
          </a:p>
          <a:p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WR</a:t>
            </a:r>
            <a:r>
              <a:rPr lang="en-US" sz="2800" dirty="0" smtClean="0"/>
              <a:t> : This is an input line driven by the microprocessor. A low on this line indicates write operation</a:t>
            </a:r>
          </a:p>
          <a:p>
            <a:endParaRPr lang="en-US" sz="28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CS</a:t>
            </a:r>
            <a:r>
              <a:rPr lang="en-US" sz="2800" dirty="0" smtClean="0"/>
              <a:t> : This is a chip select line. If this line goes low, it enables the 8255 to respond to RD and WR signals, otherwise </a:t>
            </a:r>
          </a:p>
          <a:p>
            <a:r>
              <a:rPr lang="en-US" sz="2800" dirty="0" smtClean="0"/>
              <a:t>RD and WR signal are neglected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0" y="4180344"/>
            <a:ext cx="89154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D0-D7</a:t>
            </a:r>
            <a:r>
              <a:rPr lang="en-US" sz="2800" dirty="0" smtClean="0"/>
              <a:t> : These are the data bus lines those carry data or control word to/from the microprocessor.</a:t>
            </a:r>
          </a:p>
          <a:p>
            <a:endParaRPr lang="en-US" sz="2800" dirty="0" smtClean="0"/>
          </a:p>
          <a:p>
            <a:r>
              <a:rPr lang="en-US" sz="2800" b="1" dirty="0" smtClean="0">
                <a:solidFill>
                  <a:srgbClr val="FF0000"/>
                </a:solidFill>
              </a:rPr>
              <a:t>RESET</a:t>
            </a:r>
            <a:r>
              <a:rPr lang="en-US" sz="2800" dirty="0" smtClean="0"/>
              <a:t> : A logic high on this line clears the control word register of 8255. All ports are set as input ports by default after reset</a:t>
            </a:r>
          </a:p>
          <a:p>
            <a:endParaRPr lang="en-US" sz="28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dirty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A1-A0</a:t>
            </a:r>
            <a:r>
              <a:rPr lang="en-US" sz="2800" dirty="0"/>
              <a:t> : These are the address input lines and are driven by the microprocessor</a:t>
            </a:r>
            <a:r>
              <a:rPr lang="en-US" sz="2800" dirty="0" smtClean="0"/>
              <a:t>. These lines A1-A0 with RD ,WR and CS </a:t>
            </a:r>
            <a:endParaRPr lang="en-US" sz="2800" dirty="0"/>
          </a:p>
          <a:p>
            <a:r>
              <a:rPr lang="en-US" sz="2800" dirty="0" smtClean="0"/>
              <a:t> from </a:t>
            </a:r>
            <a:r>
              <a:rPr lang="en-US" sz="2800" dirty="0"/>
              <a:t>the following operations </a:t>
            </a:r>
            <a:r>
              <a:rPr lang="en-US" sz="2800" dirty="0" smtClean="0"/>
              <a:t>for 8255. These address lines are used for addressing any one of the four registers, i.e.</a:t>
            </a:r>
            <a:endParaRPr lang="en-US" sz="2800" dirty="0"/>
          </a:p>
          <a:p>
            <a:r>
              <a:rPr lang="en-US" sz="2800" dirty="0" smtClean="0"/>
              <a:t>three </a:t>
            </a:r>
            <a:r>
              <a:rPr lang="en-US" sz="2800" dirty="0"/>
              <a:t>ports and a control word register as given in table below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In case of 8086 systems, if the 8255 is to be interfaced with lower order data bus</a:t>
            </a:r>
            <a:r>
              <a:rPr lang="en-US" sz="2800" dirty="0" smtClean="0"/>
              <a:t>, the A0 and A1 pins of 8255 are </a:t>
            </a:r>
            <a:endParaRPr lang="en-US" sz="2800" dirty="0"/>
          </a:p>
          <a:p>
            <a:r>
              <a:rPr lang="en-US" sz="2800" dirty="0" smtClean="0"/>
              <a:t>connected </a:t>
            </a:r>
            <a:r>
              <a:rPr lang="en-US" sz="2800" dirty="0"/>
              <a:t>with A1 and A2 respectively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28600"/>
            <a:ext cx="8686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676400" y="6019800"/>
            <a:ext cx="56391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Block Diagram of 8255 (Architecture</a:t>
            </a:r>
            <a:r>
              <a:rPr lang="en-US" b="1" dirty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• It has a 40 pins of 4 groups.</a:t>
            </a:r>
          </a:p>
          <a:p>
            <a:r>
              <a:rPr lang="en-US" sz="2800" dirty="0"/>
              <a:t>1. Data bus buffer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219200"/>
            <a:ext cx="9144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2. Read Write control logic</a:t>
            </a:r>
          </a:p>
          <a:p>
            <a:r>
              <a:rPr lang="en-US" sz="2800" dirty="0"/>
              <a:t>3. Group A and Group B controls</a:t>
            </a:r>
          </a:p>
          <a:p>
            <a:r>
              <a:rPr lang="en-US" sz="2800" dirty="0"/>
              <a:t>4. Port A, B and </a:t>
            </a:r>
            <a:r>
              <a:rPr lang="en-US" sz="2800" dirty="0" smtClean="0"/>
              <a:t>C</a:t>
            </a:r>
          </a:p>
          <a:p>
            <a:endParaRPr lang="en-US" sz="2800" dirty="0"/>
          </a:p>
          <a:p>
            <a:r>
              <a:rPr lang="en-US" sz="2800" b="1" dirty="0" smtClean="0">
                <a:solidFill>
                  <a:srgbClr val="FF0000"/>
                </a:solidFill>
              </a:rPr>
              <a:t>Data </a:t>
            </a:r>
            <a:r>
              <a:rPr lang="en-US" sz="2800" b="1" dirty="0">
                <a:solidFill>
                  <a:srgbClr val="FF0000"/>
                </a:solidFill>
              </a:rPr>
              <a:t>bus buffer</a:t>
            </a:r>
            <a:r>
              <a:rPr lang="en-US" sz="2800" dirty="0"/>
              <a:t>: This is a tristate bidirectional buffer used to interface the 8255</a:t>
            </a:r>
            <a:r>
              <a:rPr lang="en-US" sz="2800" b="1" i="1" dirty="0"/>
              <a:t> </a:t>
            </a:r>
            <a:r>
              <a:rPr lang="en-US" sz="2800" b="1" i="1" dirty="0" smtClean="0"/>
              <a:t>to</a:t>
            </a:r>
            <a:r>
              <a:rPr lang="en-US" sz="2800" dirty="0" smtClean="0"/>
              <a:t> system data bus. Data is transmitted </a:t>
            </a:r>
            <a:endParaRPr lang="en-US" sz="2800" b="1" i="1" dirty="0"/>
          </a:p>
          <a:p>
            <a:r>
              <a:rPr lang="en-US" sz="2800" dirty="0" smtClean="0"/>
              <a:t>or </a:t>
            </a:r>
            <a:r>
              <a:rPr lang="en-US" sz="2800" dirty="0"/>
              <a:t>received by the buffer on execution </a:t>
            </a:r>
            <a:r>
              <a:rPr lang="en-US" sz="2800" dirty="0" smtClean="0"/>
              <a:t>of input or output </a:t>
            </a:r>
            <a:endParaRPr lang="en-US" sz="2800" dirty="0"/>
          </a:p>
          <a:p>
            <a:r>
              <a:rPr lang="en-US" sz="2800" dirty="0" smtClean="0"/>
              <a:t>instruction </a:t>
            </a:r>
            <a:r>
              <a:rPr lang="en-US" sz="2800" dirty="0"/>
              <a:t>by the CPU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Control word and status information are also transferred through this </a:t>
            </a:r>
            <a:r>
              <a:rPr lang="en-US" sz="2800" dirty="0" smtClean="0"/>
              <a:t>unit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a) </a:t>
            </a:r>
            <a:r>
              <a:rPr lang="en-US" sz="2800" b="1" dirty="0">
                <a:solidFill>
                  <a:srgbClr val="FF0000"/>
                </a:solidFill>
              </a:rPr>
              <a:t>CS</a:t>
            </a:r>
            <a:r>
              <a:rPr lang="en-US" sz="2800" dirty="0"/>
              <a:t> – Chipselect : A low on this PIN enables the communication between </a:t>
            </a:r>
            <a:r>
              <a:rPr lang="en-US" sz="2800" dirty="0" smtClean="0"/>
              <a:t>CPU and 8255.</a:t>
            </a:r>
          </a:p>
          <a:p>
            <a:endParaRPr lang="en-US" sz="2800" dirty="0"/>
          </a:p>
          <a:p>
            <a:r>
              <a:rPr lang="en-US" sz="2800" dirty="0" smtClean="0"/>
              <a:t>b</a:t>
            </a:r>
            <a:r>
              <a:rPr lang="en-US" sz="2800" dirty="0"/>
              <a:t>) </a:t>
            </a:r>
            <a:r>
              <a:rPr lang="en-US" sz="2800" b="1" dirty="0">
                <a:solidFill>
                  <a:srgbClr val="FF0000"/>
                </a:solidFill>
              </a:rPr>
              <a:t>RD</a:t>
            </a:r>
            <a:r>
              <a:rPr lang="en-US" sz="2800" dirty="0"/>
              <a:t> (Read) – A low on this pin enables the CPU to read the data in the ports </a:t>
            </a:r>
            <a:r>
              <a:rPr lang="en-US" sz="2800" dirty="0" smtClean="0"/>
              <a:t>or the status word through data bus buffer.</a:t>
            </a:r>
          </a:p>
          <a:p>
            <a:endParaRPr lang="en-US" sz="2800" dirty="0"/>
          </a:p>
          <a:p>
            <a:r>
              <a:rPr lang="en-US" sz="2800" dirty="0" smtClean="0"/>
              <a:t>c</a:t>
            </a:r>
            <a:r>
              <a:rPr lang="en-US" sz="2800" dirty="0"/>
              <a:t>) </a:t>
            </a:r>
            <a:r>
              <a:rPr lang="en-US" sz="2800" b="1" dirty="0">
                <a:solidFill>
                  <a:srgbClr val="FF0000"/>
                </a:solidFill>
              </a:rPr>
              <a:t>WR</a:t>
            </a:r>
            <a:r>
              <a:rPr lang="en-US" sz="2800" dirty="0"/>
              <a:t> ( Write ) : A low on this pin, the CPU can write data on to the ports or on </a:t>
            </a:r>
            <a:r>
              <a:rPr lang="en-US" sz="2800" dirty="0" smtClean="0"/>
              <a:t>to the control register through the data bus buffer.</a:t>
            </a:r>
          </a:p>
          <a:p>
            <a:endParaRPr lang="en-US" sz="2800" dirty="0"/>
          </a:p>
          <a:p>
            <a:r>
              <a:rPr lang="en-US" sz="2800" dirty="0" smtClean="0"/>
              <a:t>d</a:t>
            </a:r>
            <a:r>
              <a:rPr lang="en-US" sz="2800" dirty="0"/>
              <a:t>) </a:t>
            </a:r>
            <a:r>
              <a:rPr lang="en-US" sz="2800" b="1" dirty="0">
                <a:solidFill>
                  <a:srgbClr val="FF0000"/>
                </a:solidFill>
              </a:rPr>
              <a:t>RESET</a:t>
            </a:r>
            <a:r>
              <a:rPr lang="en-US" sz="2800" b="1" dirty="0"/>
              <a:t>: A high on this pin clears the control register and all ports are set to the</a:t>
            </a:r>
          </a:p>
          <a:p>
            <a:r>
              <a:rPr lang="en-US" sz="2800" dirty="0"/>
              <a:t>input mode</a:t>
            </a:r>
          </a:p>
          <a:p>
            <a:r>
              <a:rPr lang="en-US" sz="2800" dirty="0"/>
              <a:t>e) </a:t>
            </a:r>
            <a:r>
              <a:rPr lang="en-US" sz="2800" b="1" dirty="0">
                <a:solidFill>
                  <a:srgbClr val="FF0000"/>
                </a:solidFill>
              </a:rPr>
              <a:t>A0 and A1 </a:t>
            </a:r>
            <a:r>
              <a:rPr lang="en-US" sz="2800" b="1" dirty="0"/>
              <a:t>( Address pins ): These pins in conjunction with RD and WR pins</a:t>
            </a:r>
          </a:p>
          <a:p>
            <a:r>
              <a:rPr lang="en-US" sz="2800" dirty="0"/>
              <a:t>control the selection of one of the 3 ports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960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Group A and Group B controls </a:t>
            </a:r>
            <a:r>
              <a:rPr lang="en-US" sz="2800" dirty="0"/>
              <a:t>: These block receive control from the CPU </a:t>
            </a:r>
            <a:r>
              <a:rPr lang="en-US" sz="2800" dirty="0" smtClean="0"/>
              <a:t>and issues commands to their respective ports.</a:t>
            </a:r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Group A </a:t>
            </a:r>
            <a:r>
              <a:rPr lang="en-US" sz="2800" dirty="0"/>
              <a:t>- PA and PCU ( PC7 –PC4)</a:t>
            </a:r>
          </a:p>
          <a:p>
            <a:r>
              <a:rPr lang="en-US" sz="2800" dirty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Group B </a:t>
            </a:r>
            <a:r>
              <a:rPr lang="en-US" sz="2800" dirty="0"/>
              <a:t>- PCL ( PC3 – PC0)</a:t>
            </a:r>
          </a:p>
          <a:p>
            <a:r>
              <a:rPr lang="en-US" sz="2800" dirty="0"/>
              <a:t>• Control word register can only be written into no read operation of the </a:t>
            </a:r>
            <a:r>
              <a:rPr lang="en-US" sz="2800" dirty="0" smtClean="0"/>
              <a:t>CW register is allowed.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a) </a:t>
            </a:r>
            <a:r>
              <a:rPr lang="en-US" sz="2800" b="1" dirty="0">
                <a:solidFill>
                  <a:srgbClr val="FF0000"/>
                </a:solidFill>
              </a:rPr>
              <a:t>Port A</a:t>
            </a:r>
            <a:r>
              <a:rPr lang="en-US" sz="2800" dirty="0"/>
              <a:t>: This has an 8 bit latched/buffered O/P and 8 bit input latch. It can </a:t>
            </a:r>
            <a:r>
              <a:rPr lang="en-US" sz="2800" dirty="0" smtClean="0"/>
              <a:t>be</a:t>
            </a:r>
            <a:r>
              <a:rPr lang="fr-FR" sz="2800" dirty="0" smtClean="0"/>
              <a:t> programmed in 3 modes – mode 0</a:t>
            </a:r>
            <a:endParaRPr lang="en-US" sz="2800" dirty="0"/>
          </a:p>
          <a:p>
            <a:r>
              <a:rPr lang="fr-FR" sz="2800" dirty="0" smtClean="0"/>
              <a:t>mode </a:t>
            </a:r>
            <a:r>
              <a:rPr lang="fr-FR" sz="2800" dirty="0"/>
              <a:t>1, mode 2</a:t>
            </a:r>
            <a:r>
              <a:rPr lang="fr-FR" sz="2800" dirty="0" smtClean="0"/>
              <a:t>.</a:t>
            </a:r>
          </a:p>
          <a:p>
            <a:endParaRPr lang="fr-FR" sz="2800" dirty="0"/>
          </a:p>
          <a:p>
            <a:r>
              <a:rPr lang="en-US" sz="2800" dirty="0"/>
              <a:t>b) </a:t>
            </a:r>
            <a:r>
              <a:rPr lang="en-US" sz="2800" b="1" dirty="0">
                <a:solidFill>
                  <a:srgbClr val="FF0000"/>
                </a:solidFill>
              </a:rPr>
              <a:t>Port B</a:t>
            </a:r>
            <a:r>
              <a:rPr lang="en-US" sz="2800" dirty="0"/>
              <a:t>: This has an 8 bit latched / buffered O/P and 8 bit input latch. It can </a:t>
            </a:r>
            <a:r>
              <a:rPr lang="en-US" sz="2800" dirty="0" smtClean="0"/>
              <a:t>be </a:t>
            </a:r>
            <a:r>
              <a:rPr lang="fr-FR" sz="2800" dirty="0" smtClean="0"/>
              <a:t>programmed in mode 0, mode1.</a:t>
            </a:r>
            <a:endParaRPr lang="fr-FR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sz="2800" dirty="0" smtClean="0"/>
              <a:t>c) </a:t>
            </a:r>
            <a:r>
              <a:rPr lang="en-US" sz="2800" b="1" dirty="0" smtClean="0">
                <a:solidFill>
                  <a:srgbClr val="FF0000"/>
                </a:solidFill>
              </a:rPr>
              <a:t>Port C </a:t>
            </a:r>
            <a:r>
              <a:rPr lang="en-US" sz="2800" b="1" dirty="0" smtClean="0"/>
              <a:t>: </a:t>
            </a:r>
            <a:r>
              <a:rPr lang="en-US" sz="2800" dirty="0" smtClean="0"/>
              <a:t>This has an 8 bit latched input buffer and 8 bit out put latched/buffer</a:t>
            </a:r>
            <a:r>
              <a:rPr lang="en-US" sz="2800" b="1" dirty="0" smtClean="0"/>
              <a:t>.</a:t>
            </a:r>
            <a:r>
              <a:rPr lang="en-US" sz="2800" dirty="0" smtClean="0"/>
              <a:t> This port can be divided into two 4 bit </a:t>
            </a:r>
            <a:endParaRPr lang="en-US" sz="2800" b="1" dirty="0" smtClean="0"/>
          </a:p>
          <a:p>
            <a:r>
              <a:rPr lang="en-US" sz="2800" dirty="0" smtClean="0"/>
              <a:t>ports and can be used as control signals for port A and port B. </a:t>
            </a:r>
          </a:p>
          <a:p>
            <a:r>
              <a:rPr lang="en-US" sz="2800" dirty="0" smtClean="0"/>
              <a:t>it can be programmed in mode 0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Modes of Operation of 8255</a:t>
            </a:r>
          </a:p>
          <a:p>
            <a:r>
              <a:rPr lang="en-US" sz="2800" dirty="0" smtClean="0"/>
              <a:t>• These are two basic modes of operation of 8255. I/O mode and Bit Set-Reset mode (BSR).</a:t>
            </a:r>
          </a:p>
          <a:p>
            <a:endParaRPr lang="en-US" sz="2800" dirty="0" smtClean="0"/>
          </a:p>
          <a:p>
            <a:r>
              <a:rPr lang="en-US" sz="2800" dirty="0" smtClean="0"/>
              <a:t>• In I/O mode, the 8255 ports work as programmable I/O ports, while in BSR mode only port C (PC0-PC7) can be used </a:t>
            </a:r>
          </a:p>
          <a:p>
            <a:r>
              <a:rPr lang="en-US" sz="2800" dirty="0" smtClean="0"/>
              <a:t>to set or reset its individual port bits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1524000"/>
            <a:ext cx="899160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b="1" dirty="0" smtClean="0">
                <a:solidFill>
                  <a:srgbClr val="FF0000"/>
                </a:solidFill>
              </a:rPr>
              <a:t>BSR Mode</a:t>
            </a:r>
            <a:r>
              <a:rPr lang="en-US" sz="2800" dirty="0" smtClean="0"/>
              <a:t> : </a:t>
            </a:r>
            <a:r>
              <a:rPr lang="en-US" sz="2800" dirty="0"/>
              <a:t>In this mode any of the 8-bits of port C can be set or reset </a:t>
            </a:r>
            <a:r>
              <a:rPr lang="en-US" sz="2800" dirty="0" smtClean="0"/>
              <a:t>depending on D0 of the control word. The bit </a:t>
            </a:r>
            <a:endParaRPr lang="en-US" sz="2800" dirty="0"/>
          </a:p>
          <a:p>
            <a:r>
              <a:rPr lang="en-US" sz="2800" dirty="0" smtClean="0"/>
              <a:t>to </a:t>
            </a:r>
            <a:r>
              <a:rPr lang="en-US" sz="2800" dirty="0"/>
              <a:t>be set or reset is selected by bit select </a:t>
            </a:r>
            <a:r>
              <a:rPr lang="en-US" sz="2800" dirty="0" smtClean="0"/>
              <a:t>flags D3, D2 and D1 </a:t>
            </a:r>
            <a:endParaRPr lang="en-US" sz="2800" dirty="0"/>
          </a:p>
          <a:p>
            <a:r>
              <a:rPr lang="en-US" sz="2800" dirty="0" smtClean="0"/>
              <a:t>of </a:t>
            </a:r>
            <a:r>
              <a:rPr lang="en-US" sz="2800" dirty="0"/>
              <a:t>the CWR as given in table.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• </a:t>
            </a:r>
            <a:r>
              <a:rPr lang="en-US" sz="2800" b="1" dirty="0">
                <a:solidFill>
                  <a:srgbClr val="FF0000"/>
                </a:solidFill>
              </a:rPr>
              <a:t>I/O Modes </a:t>
            </a:r>
            <a:r>
              <a:rPr lang="en-US" sz="2800" b="1" dirty="0"/>
              <a:t>:</a:t>
            </a:r>
          </a:p>
          <a:p>
            <a:r>
              <a:rPr lang="en-US" sz="2800" b="1" dirty="0"/>
              <a:t>a) </a:t>
            </a:r>
            <a:r>
              <a:rPr lang="en-US" sz="2800" b="1" dirty="0">
                <a:solidFill>
                  <a:srgbClr val="FF0000"/>
                </a:solidFill>
              </a:rPr>
              <a:t>Mode 0 ( Basic I/O mode ): </a:t>
            </a:r>
            <a:r>
              <a:rPr lang="en-US" sz="2800" dirty="0"/>
              <a:t>This mode is also called as basic </a:t>
            </a:r>
            <a:r>
              <a:rPr lang="en-US" sz="2800" dirty="0" smtClean="0"/>
              <a:t>input/output mode. This mode provides simple </a:t>
            </a:r>
            <a:endParaRPr lang="en-US" sz="2800" dirty="0"/>
          </a:p>
          <a:p>
            <a:r>
              <a:rPr lang="en-US" sz="2800" dirty="0" smtClean="0"/>
              <a:t>input </a:t>
            </a:r>
            <a:r>
              <a:rPr lang="en-US" sz="2800" dirty="0"/>
              <a:t>and output capabilities using each of the three</a:t>
            </a:r>
          </a:p>
          <a:p>
            <a:r>
              <a:rPr lang="en-US" sz="2800" dirty="0"/>
              <a:t>ports. Data can be simply read from and written to the input and output </a:t>
            </a:r>
            <a:r>
              <a:rPr lang="en-US" sz="2800" dirty="0" smtClean="0"/>
              <a:t>ports respectively, after appropriate initialisation.</a:t>
            </a: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 </a:t>
            </a:r>
            <a:r>
              <a:rPr lang="en-US" sz="2800" dirty="0" smtClean="0"/>
              <a:t>Under the I/O mode of operation, further there are three modes of operation of 8255, so as to support different types </a:t>
            </a:r>
          </a:p>
          <a:p>
            <a:r>
              <a:rPr lang="en-US" sz="2800" dirty="0" smtClean="0"/>
              <a:t>of applications, mode 0, mode 1 and mode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04800"/>
            <a:ext cx="7620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276600"/>
            <a:ext cx="7696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• The salient features of this mode are as listed below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r>
              <a:rPr lang="en-US" sz="2800" dirty="0"/>
              <a:t>1. Two 8-bit ports ( port A and port B )and two 4-bit ports (port C upper and lower </a:t>
            </a:r>
            <a:r>
              <a:rPr lang="en-US" sz="2800" dirty="0" smtClean="0"/>
              <a:t>) are available. The two 4-bit ports </a:t>
            </a:r>
            <a:endParaRPr lang="en-US" sz="2800" dirty="0"/>
          </a:p>
          <a:p>
            <a:r>
              <a:rPr lang="en-US" sz="2800" dirty="0" smtClean="0"/>
              <a:t>can </a:t>
            </a:r>
            <a:r>
              <a:rPr lang="en-US" sz="2800" dirty="0"/>
              <a:t>be combinedly used as a third 8-bit port.</a:t>
            </a:r>
          </a:p>
          <a:p>
            <a:r>
              <a:rPr lang="en-US" sz="2800" dirty="0"/>
              <a:t>2. Any port can be used as an input or output port.</a:t>
            </a:r>
          </a:p>
          <a:p>
            <a:r>
              <a:rPr lang="en-US" sz="2800" dirty="0"/>
              <a:t>3. Output ports are latched. Input ports are not latched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50520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4. A maximum of four ports are available so that overall 16 I/O configuration </a:t>
            </a:r>
            <a:r>
              <a:rPr lang="en-US" sz="2800" dirty="0" smtClean="0"/>
              <a:t>are possible.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All these modes can be selected by programming a register internal to </a:t>
            </a:r>
            <a:r>
              <a:rPr lang="en-US" sz="2800" dirty="0" smtClean="0"/>
              <a:t>8255 known as CWR.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8600"/>
            <a:ext cx="65532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914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0"/>
            <a:ext cx="58674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403860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The control word register has two formats. The first format is valid for I/O modes of operation, i.e. modes 0, mode 1 </a:t>
            </a:r>
          </a:p>
          <a:p>
            <a:r>
              <a:rPr lang="en-US" sz="2800" dirty="0" smtClean="0"/>
              <a:t>and mode 2 while the second format is valid for bit set/reset </a:t>
            </a:r>
          </a:p>
          <a:p>
            <a:r>
              <a:rPr lang="en-US" sz="2800" dirty="0" smtClean="0"/>
              <a:t>(BSR) mode of operation. These formats are shown in following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8392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3886200"/>
            <a:ext cx="9144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Mode 1</a:t>
            </a:r>
            <a:r>
              <a:rPr lang="en-US" sz="2800" dirty="0"/>
              <a:t>: ( Strobed input/output mode ) In this mode the handshaking control the </a:t>
            </a:r>
            <a:r>
              <a:rPr lang="en-US" sz="2800" dirty="0" smtClean="0"/>
              <a:t>input and output action of the </a:t>
            </a:r>
            <a:endParaRPr lang="en-US" sz="2800" dirty="0"/>
          </a:p>
          <a:p>
            <a:r>
              <a:rPr lang="en-US" sz="2800" dirty="0" smtClean="0"/>
              <a:t>specified </a:t>
            </a:r>
            <a:r>
              <a:rPr lang="en-US" sz="2800" dirty="0"/>
              <a:t>port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Port C :</a:t>
            </a:r>
            <a:r>
              <a:rPr lang="en-US" sz="2800" dirty="0" smtClean="0"/>
              <a:t>lines </a:t>
            </a:r>
            <a:r>
              <a:rPr lang="en-US" sz="2800" dirty="0"/>
              <a:t>PC0-PC2, provide strobe </a:t>
            </a:r>
            <a:r>
              <a:rPr lang="en-US" sz="2800" dirty="0" smtClean="0"/>
              <a:t>or handshake lines for port B. This group which includes port B and PC0-PC2 </a:t>
            </a:r>
            <a:endParaRPr lang="en-US" sz="2800" dirty="0"/>
          </a:p>
          <a:p>
            <a:r>
              <a:rPr lang="en-US" sz="2800" dirty="0" smtClean="0"/>
              <a:t>is </a:t>
            </a:r>
            <a:r>
              <a:rPr lang="en-US" sz="2800" dirty="0"/>
              <a:t>called </a:t>
            </a:r>
            <a:r>
              <a:rPr lang="en-US" sz="2800" dirty="0" smtClean="0"/>
              <a:t>as group B for Strobed data input/output Port C lines PC3-PC5 provide strobe lines for port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0"/>
            <a:ext cx="89916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This group including port A and PC3-PC5 from group A. Thus port C is utilized for</a:t>
            </a:r>
          </a:p>
          <a:p>
            <a:r>
              <a:rPr lang="en-US" sz="2800" dirty="0"/>
              <a:t>generating handshake signals. The salient features of mode 1 are listed as follows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r>
              <a:rPr lang="en-US" sz="2800" dirty="0"/>
              <a:t>1. </a:t>
            </a:r>
            <a:r>
              <a:rPr lang="en-US" sz="2800" dirty="0">
                <a:solidFill>
                  <a:srgbClr val="FF0000"/>
                </a:solidFill>
              </a:rPr>
              <a:t>Two groups </a:t>
            </a:r>
            <a:r>
              <a:rPr lang="en-US" sz="2800" dirty="0"/>
              <a:t>– group A and group B are available for strobed data transfer.</a:t>
            </a:r>
          </a:p>
          <a:p>
            <a:r>
              <a:rPr lang="en-US" sz="2800" dirty="0"/>
              <a:t>2. Each group contains one 8-bit data I/O port and one 4-bit control/data port.</a:t>
            </a:r>
          </a:p>
          <a:p>
            <a:r>
              <a:rPr lang="en-US" sz="2800" dirty="0"/>
              <a:t>3. The 8-bit data port can be either used as input and output port. The inputs </a:t>
            </a:r>
            <a:r>
              <a:rPr lang="en-US" sz="2800" dirty="0" smtClean="0"/>
              <a:t>and outputs both are latched.</a:t>
            </a:r>
          </a:p>
          <a:p>
            <a:endParaRPr lang="en-US" sz="2800" dirty="0"/>
          </a:p>
          <a:p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57200"/>
            <a:ext cx="8991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4. Out of 8-bit port C, PC0-PC2 are used to generate control signals for port B and PC3-PC5 are used to generate control</a:t>
            </a:r>
          </a:p>
          <a:p>
            <a:r>
              <a:rPr lang="en-US" sz="2800" dirty="0" smtClean="0"/>
              <a:t>signals for port A. the lines PC6, PC7 may be used as </a:t>
            </a:r>
          </a:p>
          <a:p>
            <a:r>
              <a:rPr lang="en-US" sz="2800" dirty="0" smtClean="0"/>
              <a:t>independent data lines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The control signals for both the groups in input and output modes are</a:t>
            </a:r>
          </a:p>
          <a:p>
            <a:r>
              <a:rPr lang="en-US" sz="2800" dirty="0" smtClean="0"/>
              <a:t>explained as follows:</a:t>
            </a:r>
          </a:p>
          <a:p>
            <a:endParaRPr lang="en-US" sz="2800" dirty="0" smtClean="0"/>
          </a:p>
          <a:p>
            <a:r>
              <a:rPr lang="fr-FR" sz="2800" b="1" dirty="0" smtClean="0">
                <a:solidFill>
                  <a:srgbClr val="FF0000"/>
                </a:solidFill>
              </a:rPr>
              <a:t>Input control signal definitions (mode 1 ):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STB</a:t>
            </a:r>
            <a:r>
              <a:rPr lang="en-US" sz="2800" dirty="0" smtClean="0"/>
              <a:t> ( Strobe input ) – If this lines falls to logic low level, the data available at 8-bit input port is loaded into input latches.</a:t>
            </a:r>
          </a:p>
          <a:p>
            <a:endParaRPr lang="en-US" sz="2800" dirty="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IBF ( Input buffer full ) </a:t>
            </a:r>
            <a:r>
              <a:rPr lang="en-US" sz="2800" dirty="0"/>
              <a:t>– If this signal rises to logic 1, it indicates that data </a:t>
            </a:r>
            <a:r>
              <a:rPr lang="en-US" sz="2800" dirty="0" smtClean="0"/>
              <a:t>has been loaded into latches, i.e. it works as an acknowledgement. IBF is set by a low on STB and is </a:t>
            </a:r>
            <a:endParaRPr lang="en-US" sz="2800" dirty="0"/>
          </a:p>
          <a:p>
            <a:r>
              <a:rPr lang="en-US" sz="2800" dirty="0" smtClean="0"/>
              <a:t>reset </a:t>
            </a:r>
            <a:r>
              <a:rPr lang="en-US" sz="2800" dirty="0"/>
              <a:t>by the rising edge of RD input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INTR ( Interrupt request ) </a:t>
            </a:r>
            <a:r>
              <a:rPr lang="en-US" sz="2800" b="1" dirty="0"/>
              <a:t>– </a:t>
            </a:r>
            <a:r>
              <a:rPr lang="en-US" sz="2800" dirty="0"/>
              <a:t>This active high output signal can be used </a:t>
            </a:r>
            <a:r>
              <a:rPr lang="en-US" sz="2800" dirty="0" smtClean="0"/>
              <a:t>to interrupt the CPU whenever an input device </a:t>
            </a:r>
            <a:endParaRPr lang="en-US" sz="2800" dirty="0"/>
          </a:p>
          <a:p>
            <a:r>
              <a:rPr lang="en-US" sz="2800" dirty="0" smtClean="0"/>
              <a:t>requests </a:t>
            </a:r>
            <a:r>
              <a:rPr lang="en-US" sz="2800" dirty="0"/>
              <a:t>the service. INTR is set by </a:t>
            </a:r>
            <a:r>
              <a:rPr lang="en-US" sz="2800" dirty="0" smtClean="0"/>
              <a:t>a high STB pin and a high </a:t>
            </a:r>
            <a:endParaRPr lang="en-US" sz="2800" dirty="0"/>
          </a:p>
          <a:p>
            <a:r>
              <a:rPr lang="en-US" sz="2800" dirty="0" smtClean="0"/>
              <a:t>at </a:t>
            </a:r>
            <a:r>
              <a:rPr lang="en-US" sz="2800" dirty="0"/>
              <a:t>IBF pin. INTE is an internal flag that can be </a:t>
            </a:r>
            <a:r>
              <a:rPr lang="en-US" sz="2800" dirty="0" smtClean="0"/>
              <a:t>controlled by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bit set/reset mode of either PC4(INTEA) or PC2(INTEB) </a:t>
            </a:r>
          </a:p>
          <a:p>
            <a:endParaRPr lang="en-US" sz="2800" dirty="0"/>
          </a:p>
          <a:p>
            <a:r>
              <a:rPr lang="en-US" sz="2800" b="1" i="1" dirty="0" smtClean="0">
                <a:solidFill>
                  <a:srgbClr val="FF0000"/>
                </a:solidFill>
              </a:rPr>
              <a:t>INTR</a:t>
            </a:r>
            <a:r>
              <a:rPr lang="en-US" sz="2800" dirty="0" smtClean="0"/>
              <a:t> </a:t>
            </a:r>
            <a:r>
              <a:rPr lang="en-US" sz="2800" dirty="0"/>
              <a:t>is reset by a falling edge of RD input. Thus an external input device can </a:t>
            </a:r>
            <a:r>
              <a:rPr lang="en-US" sz="2800" dirty="0" smtClean="0"/>
              <a:t>be request the service of the processor </a:t>
            </a:r>
            <a:endParaRPr lang="en-US" sz="2800" dirty="0"/>
          </a:p>
          <a:p>
            <a:r>
              <a:rPr lang="en-US" sz="2800" dirty="0" smtClean="0"/>
              <a:t>by </a:t>
            </a:r>
            <a:r>
              <a:rPr lang="en-US" sz="2800" dirty="0"/>
              <a:t>putting the data on the bus and sending the</a:t>
            </a:r>
          </a:p>
          <a:p>
            <a:r>
              <a:rPr lang="en-US" sz="2800" dirty="0"/>
              <a:t>strobe signal.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8847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Output control signal definitions (mode 1) :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• OBF (Output buffer full ) </a:t>
            </a:r>
            <a:r>
              <a:rPr lang="en-US" sz="2800" dirty="0"/>
              <a:t>– This status signal, whenever falls to low, </a:t>
            </a:r>
            <a:r>
              <a:rPr lang="en-US" sz="2800" dirty="0" smtClean="0"/>
              <a:t>indicates that CPU has written data to the specified </a:t>
            </a:r>
            <a:endParaRPr lang="en-US" sz="2800" dirty="0"/>
          </a:p>
          <a:p>
            <a:r>
              <a:rPr lang="en-US" sz="2800" dirty="0" smtClean="0"/>
              <a:t>output </a:t>
            </a:r>
            <a:r>
              <a:rPr lang="en-US" sz="2800" dirty="0"/>
              <a:t>port. The OBF flip-flop will </a:t>
            </a:r>
            <a:r>
              <a:rPr lang="en-US" sz="2800" dirty="0" smtClean="0"/>
              <a:t>be set by a rising edge </a:t>
            </a:r>
            <a:endParaRPr lang="en-US" sz="2800" dirty="0"/>
          </a:p>
          <a:p>
            <a:r>
              <a:rPr lang="en-US" sz="2800" dirty="0" smtClean="0"/>
              <a:t>of </a:t>
            </a:r>
            <a:r>
              <a:rPr lang="en-US" sz="2800" dirty="0"/>
              <a:t>WR signal and reset by a low going edge at the </a:t>
            </a:r>
            <a:r>
              <a:rPr lang="en-US" sz="2800" dirty="0" smtClean="0"/>
              <a:t>ACK input.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ACK ( Acknowledge input ) – ACK signal acts as an acknowledgement to </a:t>
            </a:r>
            <a:r>
              <a:rPr lang="en-US" sz="2800" dirty="0" smtClean="0"/>
              <a:t>be given by an output device. ACK signal</a:t>
            </a:r>
            <a:endParaRPr lang="en-US" sz="2800" dirty="0"/>
          </a:p>
          <a:p>
            <a:r>
              <a:rPr lang="en-US" sz="2800" dirty="0" smtClean="0"/>
              <a:t>whenever </a:t>
            </a:r>
            <a:r>
              <a:rPr lang="en-US" sz="2800" dirty="0"/>
              <a:t>low, informs the CPU that </a:t>
            </a:r>
            <a:r>
              <a:rPr lang="en-US" sz="2800" dirty="0" smtClean="0"/>
              <a:t>the data transferred by 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CPU to the output device through the port is received by</a:t>
            </a:r>
          </a:p>
          <a:p>
            <a:r>
              <a:rPr lang="en-US" sz="2800" dirty="0"/>
              <a:t>the output device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INTR ( Interrupt request ) </a:t>
            </a:r>
            <a:r>
              <a:rPr lang="en-US" sz="2800" dirty="0"/>
              <a:t>– Thus an output signal that can be used to </a:t>
            </a:r>
            <a:r>
              <a:rPr lang="en-US" sz="2800" dirty="0" smtClean="0"/>
              <a:t>interrupt the CPU when an output device </a:t>
            </a:r>
            <a:endParaRPr lang="en-US" sz="2800" dirty="0"/>
          </a:p>
          <a:p>
            <a:r>
              <a:rPr lang="en-US" sz="2800" dirty="0" smtClean="0"/>
              <a:t>acknowledges </a:t>
            </a:r>
            <a:r>
              <a:rPr lang="en-US" sz="2800" dirty="0"/>
              <a:t>the data received from the CPU</a:t>
            </a:r>
            <a:r>
              <a:rPr lang="en-US" sz="2800" dirty="0" smtClean="0"/>
              <a:t>. INTR is set when ACK OBF and INTE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8763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1"/>
            <a:ext cx="8077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276600"/>
            <a:ext cx="8839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52400"/>
            <a:ext cx="91440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34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Mode 2 ( Strobed bidirectional I/O ):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dirty="0" smtClean="0"/>
              <a:t>This </a:t>
            </a:r>
            <a:r>
              <a:rPr lang="en-US" sz="2800" dirty="0"/>
              <a:t>mode of operation of 8255 is </a:t>
            </a:r>
            <a:r>
              <a:rPr lang="en-US" sz="2800" dirty="0" smtClean="0"/>
              <a:t>also called as strobed bidirectional I/O. This mode of operation provides 8255 with </a:t>
            </a:r>
            <a:endParaRPr lang="en-US" sz="2800" dirty="0"/>
          </a:p>
          <a:p>
            <a:r>
              <a:rPr lang="en-US" sz="2800" dirty="0" smtClean="0"/>
              <a:t>an additional features for communicating with a peripheral </a:t>
            </a:r>
            <a:endParaRPr lang="en-US" sz="2800" dirty="0"/>
          </a:p>
          <a:p>
            <a:r>
              <a:rPr lang="en-US" sz="2800" dirty="0" smtClean="0"/>
              <a:t>device </a:t>
            </a:r>
            <a:r>
              <a:rPr lang="en-US" sz="2800" dirty="0"/>
              <a:t>on an 8-bit </a:t>
            </a:r>
            <a:r>
              <a:rPr lang="en-US" sz="2800" dirty="0" smtClean="0"/>
              <a:t>data bus. Handshaking signals are provided</a:t>
            </a:r>
            <a:endParaRPr lang="en-US" sz="2800" dirty="0"/>
          </a:p>
          <a:p>
            <a:r>
              <a:rPr lang="en-US" sz="2800" dirty="0" smtClean="0"/>
              <a:t>to </a:t>
            </a:r>
            <a:r>
              <a:rPr lang="en-US" sz="2800" dirty="0"/>
              <a:t>maintain proper data flow </a:t>
            </a:r>
            <a:r>
              <a:rPr lang="en-US" sz="2800" dirty="0" smtClean="0"/>
              <a:t>and synchronization between the data transmitter and receiver. The interrupt generation </a:t>
            </a:r>
            <a:endParaRPr lang="en-US" sz="2800" dirty="0"/>
          </a:p>
          <a:p>
            <a:r>
              <a:rPr lang="en-US" sz="2800" dirty="0" smtClean="0"/>
              <a:t>and other functions are similar to mode 1.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• In this mode, 8255 is a bidirectional 8-bit port with handshake signals. The </a:t>
            </a:r>
            <a:r>
              <a:rPr lang="en-US" sz="2800" dirty="0" smtClean="0"/>
              <a:t>Rd and WR signals decide whether 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8255 is going to operate as an input port </a:t>
            </a:r>
            <a:r>
              <a:rPr lang="en-US" sz="2800" dirty="0" smtClean="0"/>
              <a:t>or output port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1. The single 8-bit port in group A is available.</a:t>
            </a:r>
          </a:p>
          <a:p>
            <a:r>
              <a:rPr lang="en-US" sz="2800" dirty="0"/>
              <a:t>2. The 8-bit port is bidirectional and additionally a 5-bit control port is available.</a:t>
            </a:r>
          </a:p>
          <a:p>
            <a:r>
              <a:rPr lang="en-US" sz="2800" dirty="0"/>
              <a:t>3. Three I/O lines are available at port C.( PC2 – PC0 )</a:t>
            </a:r>
          </a:p>
          <a:p>
            <a:r>
              <a:rPr lang="en-US" sz="2800" dirty="0"/>
              <a:t>4. Inputs and outputs are both latched.</a:t>
            </a:r>
          </a:p>
          <a:p>
            <a:r>
              <a:rPr lang="en-US" sz="2800" dirty="0" smtClean="0"/>
              <a:t>5.The </a:t>
            </a:r>
            <a:r>
              <a:rPr lang="en-US" sz="2800" dirty="0"/>
              <a:t>5-bit control port C (PC3-PC7) is used for generating </a:t>
            </a:r>
            <a:r>
              <a:rPr lang="en-US" sz="2800" dirty="0" smtClean="0"/>
              <a:t>/ accepting hand shake signals for the 8-bit data transfer on port A.</a:t>
            </a:r>
          </a:p>
          <a:p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0" y="35814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• Control signal definitions in mode 2</a:t>
            </a:r>
            <a:r>
              <a:rPr lang="en-US" sz="2800" b="1" i="1" dirty="0" smtClean="0"/>
              <a:t>:</a:t>
            </a:r>
          </a:p>
          <a:p>
            <a:r>
              <a:rPr lang="en-US" sz="2800" dirty="0" smtClean="0"/>
              <a:t>• </a:t>
            </a:r>
            <a:r>
              <a:rPr lang="en-US" sz="2800" b="1" dirty="0" smtClean="0">
                <a:solidFill>
                  <a:srgbClr val="FF0000"/>
                </a:solidFill>
              </a:rPr>
              <a:t>INTR</a:t>
            </a:r>
            <a:r>
              <a:rPr lang="en-US" sz="2800" b="1" dirty="0" smtClean="0"/>
              <a:t> – </a:t>
            </a:r>
            <a:r>
              <a:rPr lang="en-US" sz="2800" dirty="0" smtClean="0"/>
              <a:t>(Interrupt request) As in mode 1, this control signal is active high and is used to interrupt the microprocessor </a:t>
            </a:r>
          </a:p>
          <a:p>
            <a:r>
              <a:rPr lang="en-US" sz="2800" dirty="0" smtClean="0"/>
              <a:t>to ask for transfer of the next data byte to/from it. This signal is used for input ( read ) as well as output ( write ) operations</a:t>
            </a:r>
          </a:p>
          <a:p>
            <a:endParaRPr lang="en-US" sz="2800" dirty="0" smtClean="0"/>
          </a:p>
          <a:p>
            <a:endParaRPr lang="en-US" sz="2800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914400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.</a:t>
            </a:r>
            <a:endParaRPr lang="en-US" dirty="0"/>
          </a:p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Control Signals for Output operations: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OBF</a:t>
            </a:r>
            <a:r>
              <a:rPr lang="en-US" sz="2800" dirty="0" smtClean="0"/>
              <a:t> </a:t>
            </a:r>
            <a:r>
              <a:rPr lang="en-US" sz="2800" dirty="0"/>
              <a:t>( Output buffer full ) – This signal, when falls to low level, indicates that </a:t>
            </a:r>
            <a:r>
              <a:rPr lang="en-US" sz="2800" dirty="0" smtClean="0"/>
              <a:t>the CPU has written data to port A.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ACK</a:t>
            </a:r>
            <a:r>
              <a:rPr lang="en-US" sz="2800" dirty="0"/>
              <a:t> ( Acknowledge ) This control input, when falls to logic low level</a:t>
            </a:r>
            <a:r>
              <a:rPr lang="en-US" sz="2800" dirty="0" smtClean="0"/>
              <a:t>, acknowledges that the previous data byte is received by the destination and next byte may be sent by the </a:t>
            </a:r>
            <a:endParaRPr lang="en-US" sz="2800" dirty="0"/>
          </a:p>
          <a:p>
            <a:r>
              <a:rPr lang="en-US" sz="2800" dirty="0" smtClean="0"/>
              <a:t>processor</a:t>
            </a:r>
            <a:r>
              <a:rPr lang="en-US" sz="2800" dirty="0"/>
              <a:t>. This signal enables the internal tristate buffers</a:t>
            </a:r>
          </a:p>
          <a:p>
            <a:r>
              <a:rPr lang="en-US" sz="2800" dirty="0"/>
              <a:t>to send the next data byte on port A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INTE1</a:t>
            </a:r>
            <a:r>
              <a:rPr lang="en-US" sz="2800" dirty="0"/>
              <a:t> ( A flag associated with OBF ) This can be controlled by bit </a:t>
            </a:r>
            <a:r>
              <a:rPr lang="en-US" sz="2800" dirty="0" smtClean="0"/>
              <a:t>set/reset mode with PC6.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Control signals for input operations </a:t>
            </a:r>
            <a:r>
              <a:rPr lang="en-US" sz="2800" b="1" dirty="0" smtClean="0">
                <a:solidFill>
                  <a:srgbClr val="FF0000"/>
                </a:solidFill>
              </a:rPr>
              <a:t>: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STB </a:t>
            </a:r>
            <a:r>
              <a:rPr lang="en-US" sz="2800" dirty="0"/>
              <a:t>(Strobe input ) A low on this line is used to strobe in the data into the </a:t>
            </a:r>
            <a:r>
              <a:rPr lang="en-US" sz="2800" dirty="0" smtClean="0"/>
              <a:t>input latches of 8255.</a:t>
            </a:r>
          </a:p>
          <a:p>
            <a:endParaRPr lang="en-US" sz="2800" dirty="0"/>
          </a:p>
          <a:p>
            <a:r>
              <a:rPr lang="en-US" sz="2800" b="1" dirty="0" smtClean="0">
                <a:solidFill>
                  <a:srgbClr val="FF0000"/>
                </a:solidFill>
              </a:rPr>
              <a:t>IBF </a:t>
            </a:r>
            <a:r>
              <a:rPr lang="en-US" sz="2800" dirty="0"/>
              <a:t>( Input buffer full ) When the data is loaded into input buffer, this signal </a:t>
            </a:r>
            <a:r>
              <a:rPr lang="en-US" sz="2800" dirty="0" smtClean="0"/>
              <a:t>rises to logic ‘1’. This can be used as an </a:t>
            </a:r>
            <a:endParaRPr lang="en-US" sz="2800" dirty="0"/>
          </a:p>
          <a:p>
            <a:r>
              <a:rPr lang="en-US" sz="2800" dirty="0" smtClean="0"/>
              <a:t>acknowledge </a:t>
            </a:r>
            <a:r>
              <a:rPr lang="en-US" sz="2800" dirty="0"/>
              <a:t>that the data has been </a:t>
            </a:r>
            <a:r>
              <a:rPr lang="en-US" sz="2800" dirty="0" smtClean="0"/>
              <a:t>received by the receiver.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The waveforms in fig show the operation in Mode 2 for output as well as </a:t>
            </a:r>
            <a:r>
              <a:rPr lang="en-US" sz="2800" dirty="0" smtClean="0"/>
              <a:t>input port.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Note: WR must occur before ACK and STB must be activated before RD 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0"/>
            <a:ext cx="8458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4611231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The following fig shows a schematic diagram containing an 8-bit bidirectional port, 5-bit control port and the relation of </a:t>
            </a:r>
          </a:p>
          <a:p>
            <a:r>
              <a:rPr lang="en-US" sz="2800" dirty="0" smtClean="0"/>
              <a:t>INTR with the control pins. Port B can either be set to Mode 0 or 1 with port A( Group A ) is in Mode 2</a:t>
            </a:r>
          </a:p>
          <a:p>
            <a:endParaRPr lang="en-US" sz="2800" dirty="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dirty="0" smtClean="0"/>
              <a:t> </a:t>
            </a:r>
            <a:r>
              <a:rPr lang="en-US" sz="2800" dirty="0"/>
              <a:t>Mode 2 is not available for port B. The following fig shows the control word</a:t>
            </a:r>
            <a:r>
              <a:rPr lang="en-US" sz="2800" dirty="0" smtClean="0"/>
              <a:t>. The INTR goes high only if either IBF INTE2, </a:t>
            </a:r>
            <a:endParaRPr lang="en-US" sz="2800" dirty="0"/>
          </a:p>
          <a:p>
            <a:r>
              <a:rPr lang="en-US" sz="2800" dirty="0" smtClean="0"/>
              <a:t>STB </a:t>
            </a:r>
            <a:r>
              <a:rPr lang="en-US" sz="2800" dirty="0"/>
              <a:t>and RD go high or OBF</a:t>
            </a:r>
            <a:r>
              <a:rPr lang="en-US" sz="2800" dirty="0" smtClean="0"/>
              <a:t>, INTE1, ACK and WR go high. </a:t>
            </a:r>
          </a:p>
          <a:p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port C can be read to know the status of </a:t>
            </a:r>
            <a:r>
              <a:rPr lang="en-US" sz="2800" dirty="0" smtClean="0"/>
              <a:t>the peripheral device in terms of the control signals, using the normal I/O </a:t>
            </a:r>
            <a:endParaRPr lang="en-US" sz="2800" dirty="0"/>
          </a:p>
          <a:p>
            <a:r>
              <a:rPr lang="en-US" sz="2800" dirty="0" smtClean="0"/>
              <a:t> instructions</a:t>
            </a:r>
          </a:p>
          <a:p>
            <a:endParaRPr lang="en-US" sz="2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581400"/>
            <a:ext cx="7239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1000"/>
            <a:ext cx="88392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8254</a:t>
            </a:r>
          </a:p>
          <a:p>
            <a:r>
              <a:rPr lang="en-US" sz="2800" dirty="0"/>
              <a:t>• Compatible with All Intel and Most other Microprocessors</a:t>
            </a:r>
          </a:p>
          <a:p>
            <a:r>
              <a:rPr lang="en-US" sz="2800" dirty="0"/>
              <a:t>• Handles Inputs from DC to 10 MHz</a:t>
            </a:r>
          </a:p>
          <a:p>
            <a:r>
              <a:rPr lang="en-US" sz="2800" dirty="0"/>
              <a:t>• 8 MHz 8254</a:t>
            </a:r>
          </a:p>
          <a:p>
            <a:r>
              <a:rPr lang="en-US" sz="2800" dirty="0"/>
              <a:t>• 10 MHz 8254-2</a:t>
            </a:r>
          </a:p>
          <a:p>
            <a:r>
              <a:rPr lang="en-US" sz="2800" dirty="0"/>
              <a:t>• Status Read-Back Command</a:t>
            </a:r>
          </a:p>
          <a:p>
            <a:r>
              <a:rPr lang="en-US" sz="2800" dirty="0"/>
              <a:t>• Six Programmable Counter Modes</a:t>
            </a:r>
          </a:p>
          <a:p>
            <a:r>
              <a:rPr lang="en-US" sz="2800" dirty="0"/>
              <a:t>• Three Independent 16-Bit Counters</a:t>
            </a:r>
          </a:p>
          <a:p>
            <a:r>
              <a:rPr lang="en-US" sz="2800" dirty="0"/>
              <a:t>• Binary or BCD Counting</a:t>
            </a:r>
          </a:p>
          <a:p>
            <a:r>
              <a:rPr lang="en-US" sz="2800" dirty="0"/>
              <a:t>• Single a 5V Supply</a:t>
            </a:r>
          </a:p>
          <a:p>
            <a:r>
              <a:rPr lang="en-US" sz="2800" dirty="0"/>
              <a:t>• Standard Temperature Range</a:t>
            </a:r>
          </a:p>
          <a:p>
            <a:r>
              <a:rPr lang="en-US" sz="2800" dirty="0"/>
              <a:t>• The Intel 8254 is a counter/timer device designed to solve the common timing</a:t>
            </a:r>
          </a:p>
          <a:p>
            <a:r>
              <a:rPr lang="en-US" sz="2800" dirty="0"/>
              <a:t>control problems in microcomputer system design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0"/>
            <a:ext cx="4495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5473005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It provides three independent 16-bit counters, each capable of handling clock inputs up to 10 MHz.</a:t>
            </a:r>
          </a:p>
          <a:p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All modes are software programmable. The 8254 is a superset of the 8253.The 8254 uses HMOS technology and </a:t>
            </a:r>
          </a:p>
          <a:p>
            <a:r>
              <a:rPr lang="en-US" sz="2800" dirty="0" smtClean="0"/>
              <a:t>comes in a 24-pin plastic or CERDIP package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52800"/>
            <a:ext cx="9144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7200"/>
            <a:ext cx="91440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281940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Functional </a:t>
            </a:r>
            <a:r>
              <a:rPr lang="en-US" sz="2800" b="1" u="sng" dirty="0" smtClean="0">
                <a:solidFill>
                  <a:srgbClr val="FF0000"/>
                </a:solidFill>
              </a:rPr>
              <a:t>Description</a:t>
            </a:r>
          </a:p>
          <a:p>
            <a:endParaRPr lang="en-US" sz="2800" b="1" u="sng" dirty="0">
              <a:solidFill>
                <a:srgbClr val="FF0000"/>
              </a:solidFill>
            </a:endParaRPr>
          </a:p>
          <a:p>
            <a:r>
              <a:rPr lang="en-US" sz="2800" dirty="0"/>
              <a:t>• The 8254 is a programmable interval timer/counter designed for use with </a:t>
            </a:r>
            <a:r>
              <a:rPr lang="en-US" sz="2800" dirty="0" smtClean="0"/>
              <a:t>Intel microcomputer systems.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It is a general purpose, multi-timing element that can be treated as an array of </a:t>
            </a:r>
            <a:r>
              <a:rPr lang="en-US" sz="2800" dirty="0" smtClean="0"/>
              <a:t>I/O ports in the system software.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8100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• The 8254 solves one of the most common problems in any </a:t>
            </a:r>
            <a:r>
              <a:rPr lang="en-US" sz="2800" dirty="0" smtClean="0"/>
              <a:t>microcomputer system, the generation of accurate time delays under software control. Instead of setting up timing </a:t>
            </a:r>
            <a:endParaRPr lang="en-US" sz="2800" dirty="0"/>
          </a:p>
          <a:p>
            <a:r>
              <a:rPr lang="en-US" sz="2800" dirty="0" smtClean="0"/>
              <a:t>loops </a:t>
            </a:r>
            <a:r>
              <a:rPr lang="en-US" sz="2800" dirty="0"/>
              <a:t>in software, the programmer configures the 8254 to </a:t>
            </a:r>
            <a:r>
              <a:rPr lang="en-US" sz="2800" dirty="0" smtClean="0"/>
              <a:t>match his requirements and programs one of the counters </a:t>
            </a:r>
            <a:endParaRPr lang="en-US" sz="2800" dirty="0"/>
          </a:p>
          <a:p>
            <a:r>
              <a:rPr lang="en-US" sz="2800" dirty="0" smtClean="0"/>
              <a:t>for </a:t>
            </a:r>
            <a:r>
              <a:rPr lang="en-US" sz="2800" dirty="0"/>
              <a:t>the desired delay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After the desired delay, the 8254 will interrupt the CPU. Software overhead </a:t>
            </a:r>
            <a:r>
              <a:rPr lang="en-US" sz="2800" dirty="0" smtClean="0"/>
              <a:t>is minimal and variable length delays </a:t>
            </a:r>
            <a:endParaRPr lang="en-US" sz="2800" dirty="0"/>
          </a:p>
          <a:p>
            <a:r>
              <a:rPr lang="en-US" sz="2800" dirty="0" smtClean="0"/>
              <a:t>can </a:t>
            </a:r>
            <a:r>
              <a:rPr lang="en-US" sz="2800" dirty="0"/>
              <a:t>easily be accommodated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Some of the other counter/timer functions common to microcomputers which </a:t>
            </a:r>
            <a:r>
              <a:rPr lang="en-US" sz="2800" dirty="0" smtClean="0"/>
              <a:t>can be implemented with the 8254 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92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• Real time clock</a:t>
            </a:r>
          </a:p>
          <a:p>
            <a:r>
              <a:rPr lang="en-US" sz="3600" dirty="0"/>
              <a:t>• Event-counter</a:t>
            </a:r>
          </a:p>
          <a:p>
            <a:r>
              <a:rPr lang="en-US" sz="3600" dirty="0"/>
              <a:t>• Digital one-shot</a:t>
            </a:r>
          </a:p>
          <a:p>
            <a:r>
              <a:rPr lang="en-US" sz="3600" dirty="0"/>
              <a:t>• Programmable rate generator</a:t>
            </a:r>
          </a:p>
          <a:p>
            <a:r>
              <a:rPr lang="en-US" sz="3600" dirty="0"/>
              <a:t>• Square wave generator</a:t>
            </a:r>
          </a:p>
          <a:p>
            <a:r>
              <a:rPr lang="en-US" sz="3600" dirty="0"/>
              <a:t>• Binary rate multiplier</a:t>
            </a:r>
          </a:p>
          <a:p>
            <a:r>
              <a:rPr lang="en-US" sz="3600" dirty="0"/>
              <a:t>• Complex waveform generator</a:t>
            </a:r>
          </a:p>
          <a:p>
            <a:r>
              <a:rPr lang="en-US" sz="3600" dirty="0"/>
              <a:t>• Complex motor controller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00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Block Diagram</a:t>
            </a:r>
          </a:p>
          <a:p>
            <a:r>
              <a:rPr lang="en-US" sz="2800" dirty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DATA BUS BUFFER</a:t>
            </a:r>
            <a:r>
              <a:rPr lang="en-US" sz="2800" dirty="0"/>
              <a:t>: This 3-state, bi-directional, 8-bit buffer is used </a:t>
            </a:r>
            <a:r>
              <a:rPr lang="en-US" sz="2800" dirty="0" smtClean="0"/>
              <a:t>to interface the 8254 to the system bus  Data Bus Buffer and Read/Write Logic Functions.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b="1" dirty="0">
                <a:solidFill>
                  <a:srgbClr val="FF0000"/>
                </a:solidFill>
              </a:rPr>
              <a:t>READ/WRITE LOGIC </a:t>
            </a:r>
            <a:r>
              <a:rPr lang="en-US" sz="2800" b="1" dirty="0"/>
              <a:t>: </a:t>
            </a:r>
            <a:r>
              <a:rPr lang="en-US" sz="2800" dirty="0"/>
              <a:t>The Read/Write Logic accepts inputs from the </a:t>
            </a:r>
            <a:r>
              <a:rPr lang="en-US" sz="2800" dirty="0" smtClean="0"/>
              <a:t>system bus and generates control signals for the other functional blocks of the 8254. A1 and A0 select one of 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three counters or the Control Word Register to be read</a:t>
            </a:r>
          </a:p>
          <a:p>
            <a:r>
              <a:rPr lang="en-US" sz="2800" dirty="0"/>
              <a:t>from/written into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• A ``low'' on the RD input tells the 8254 that the CPU is reading one of </a:t>
            </a:r>
            <a:r>
              <a:rPr lang="en-US" sz="2800" dirty="0" smtClean="0"/>
              <a:t>the counters.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"/>
            <a:ext cx="74676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24200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CONTROL WORD REGISTER </a:t>
            </a:r>
            <a:r>
              <a:rPr lang="en-US" sz="2800" b="1" dirty="0"/>
              <a:t>:</a:t>
            </a:r>
            <a:r>
              <a:rPr lang="en-US" sz="2800" dirty="0"/>
              <a:t>The Control Word Register (see Figure 4) </a:t>
            </a:r>
            <a:r>
              <a:rPr lang="en-US" sz="2800" dirty="0" smtClean="0"/>
              <a:t>is selected by the Read/Write Logic when A1,</a:t>
            </a:r>
          </a:p>
          <a:p>
            <a:r>
              <a:rPr lang="en-US" sz="2800" dirty="0" smtClean="0"/>
              <a:t>A0 = 11. If the CPU then does a write operation to the 8254</a:t>
            </a:r>
          </a:p>
          <a:p>
            <a:endParaRPr lang="en-US" sz="2800" dirty="0"/>
          </a:p>
          <a:p>
            <a:r>
              <a:rPr lang="en-US" sz="2800" dirty="0" smtClean="0"/>
              <a:t> </a:t>
            </a:r>
            <a:r>
              <a:rPr lang="en-US" sz="2800" dirty="0"/>
              <a:t>the data is stored in the Control Word Register and is</a:t>
            </a:r>
          </a:p>
          <a:p>
            <a:r>
              <a:rPr lang="en-US" sz="2800" dirty="0"/>
              <a:t>interpreted as a Control Word used to define the operation of the Counters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dirty="0"/>
              <a:t>A ``low'' on the WR input tells the 8254 that the CPU is writing either a </a:t>
            </a:r>
            <a:r>
              <a:rPr lang="en-US" sz="2800" dirty="0" smtClean="0"/>
              <a:t>Control Word or an initial count. Both RD and WR are qualified by CS; RD and WR are ignored unless the 8254 has been selected by holding CS low.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8229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dirty="0"/>
              <a:t>• </a:t>
            </a:r>
            <a:r>
              <a:rPr lang="en-US" sz="2800" b="1" dirty="0" smtClean="0">
                <a:solidFill>
                  <a:srgbClr val="FF0000"/>
                </a:solidFill>
              </a:rPr>
              <a:t>COUNTER </a:t>
            </a:r>
            <a:r>
              <a:rPr lang="en-US" sz="2800" b="1" dirty="0">
                <a:solidFill>
                  <a:srgbClr val="FF0000"/>
                </a:solidFill>
              </a:rPr>
              <a:t>0, COUNTER 1, COUNTER 2 :</a:t>
            </a:r>
            <a:r>
              <a:rPr lang="en-US" sz="2800" dirty="0"/>
              <a:t>These three functional blocks </a:t>
            </a:r>
            <a:r>
              <a:rPr lang="en-US" sz="2800" dirty="0" smtClean="0"/>
              <a:t>are identical in operation, so only a single </a:t>
            </a:r>
            <a:endParaRPr lang="en-US" sz="2800" dirty="0"/>
          </a:p>
          <a:p>
            <a:r>
              <a:rPr lang="en-US" sz="2800" dirty="0" smtClean="0"/>
              <a:t>Counter </a:t>
            </a:r>
            <a:r>
              <a:rPr lang="en-US" sz="2800" dirty="0"/>
              <a:t>will be described. The </a:t>
            </a:r>
            <a:r>
              <a:rPr lang="en-US" sz="2800" dirty="0" smtClean="0"/>
              <a:t>internal block diagram of a single counter is shown in Figure 5.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The Counters are fully independent. Each Counter may operate in a </a:t>
            </a:r>
            <a:r>
              <a:rPr lang="en-US" sz="2800" dirty="0" smtClean="0"/>
              <a:t>different Mode.</a:t>
            </a:r>
          </a:p>
          <a:p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dirty="0"/>
              <a:t>The Control Word Register is shown in the figure, it is not part of the </a:t>
            </a:r>
            <a:r>
              <a:rPr lang="en-US" sz="2800" dirty="0" smtClean="0"/>
              <a:t>Counter itself, but its contents determine how 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Counter operates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8610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838200"/>
            <a:ext cx="9144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• The status register, shown in Figure 5, when latched, contains the current contents of the Control Word Register </a:t>
            </a:r>
          </a:p>
          <a:p>
            <a:r>
              <a:rPr lang="en-US" sz="2800" dirty="0" smtClean="0"/>
              <a:t>and status of the output and null count flag.</a:t>
            </a:r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• The actual counter is labelled CE (for ``Counting Element''). It is a 16-bit presettable synchronous down counter. </a:t>
            </a:r>
          </a:p>
          <a:p>
            <a:r>
              <a:rPr lang="en-US" sz="2800" dirty="0" smtClean="0"/>
              <a:t>OLM and OLL are two 8-bit latches. OL stands for ``Output Latch''; the subscripts M and L stand </a:t>
            </a:r>
            <a:r>
              <a:rPr lang="en-US" sz="2800" dirty="0" err="1" smtClean="0"/>
              <a:t>for``Most</a:t>
            </a:r>
            <a:r>
              <a:rPr lang="en-US" sz="2800" dirty="0" smtClean="0"/>
              <a:t> significant </a:t>
            </a:r>
          </a:p>
          <a:p>
            <a:r>
              <a:rPr lang="en-US" sz="2800" dirty="0" smtClean="0"/>
              <a:t>byte'' and ``Least significant byte’‘respectively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3342</Words>
  <Application>Microsoft Office PowerPoint</Application>
  <PresentationFormat>On-screen Show (4:3)</PresentationFormat>
  <Paragraphs>290</Paragraphs>
  <Slides>48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                                  NVDP Murthy                                            Assist Prof  ECE Dept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VASU</cp:lastModifiedBy>
  <cp:revision>88</cp:revision>
  <dcterms:created xsi:type="dcterms:W3CDTF">2020-07-08T04:19:19Z</dcterms:created>
  <dcterms:modified xsi:type="dcterms:W3CDTF">2021-05-24T14:08:05Z</dcterms:modified>
</cp:coreProperties>
</file>