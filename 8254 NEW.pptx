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629" y="-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5/25/2021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25252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1">
                <a:solidFill>
                  <a:srgbClr val="3F3F3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5/25/2021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25252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5/25/2021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25252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5/25/2021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5/25/2021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2851150" cy="68580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81610" cy="6858000"/>
          </a:xfrm>
          <a:custGeom>
            <a:avLst/>
            <a:gdLst/>
            <a:ahLst/>
            <a:cxnLst/>
            <a:rect l="l" t="t" r="r" b="b"/>
            <a:pathLst>
              <a:path w="181610" h="6858000">
                <a:moveTo>
                  <a:pt x="18161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" y="6858000"/>
                </a:lnTo>
                <a:lnTo>
                  <a:pt x="181610" y="6858000"/>
                </a:lnTo>
                <a:lnTo>
                  <a:pt x="181610" y="0"/>
                </a:lnTo>
                <a:close/>
              </a:path>
            </a:pathLst>
          </a:custGeom>
          <a:solidFill>
            <a:srgbClr val="756E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713741"/>
            <a:ext cx="1591945" cy="508000"/>
          </a:xfrm>
          <a:custGeom>
            <a:avLst/>
            <a:gdLst/>
            <a:ahLst/>
            <a:cxnLst/>
            <a:rect l="l" t="t" r="r" b="b"/>
            <a:pathLst>
              <a:path w="1591945" h="508000">
                <a:moveTo>
                  <a:pt x="0" y="0"/>
                </a:moveTo>
                <a:lnTo>
                  <a:pt x="0" y="505469"/>
                </a:lnTo>
                <a:lnTo>
                  <a:pt x="1245870" y="507998"/>
                </a:lnTo>
                <a:lnTo>
                  <a:pt x="1346200" y="507998"/>
                </a:lnTo>
                <a:lnTo>
                  <a:pt x="1350010" y="502918"/>
                </a:lnTo>
                <a:lnTo>
                  <a:pt x="1352550" y="501648"/>
                </a:lnTo>
                <a:lnTo>
                  <a:pt x="1584960" y="269238"/>
                </a:lnTo>
                <a:lnTo>
                  <a:pt x="1589960" y="261817"/>
                </a:lnTo>
                <a:lnTo>
                  <a:pt x="1591627" y="254633"/>
                </a:lnTo>
                <a:lnTo>
                  <a:pt x="1589960" y="247450"/>
                </a:lnTo>
                <a:lnTo>
                  <a:pt x="1584960" y="240028"/>
                </a:lnTo>
                <a:lnTo>
                  <a:pt x="1355090" y="11428"/>
                </a:lnTo>
                <a:lnTo>
                  <a:pt x="1350010" y="11428"/>
                </a:lnTo>
                <a:lnTo>
                  <a:pt x="1350010" y="6348"/>
                </a:lnTo>
                <a:lnTo>
                  <a:pt x="1346200" y="6348"/>
                </a:lnTo>
                <a:lnTo>
                  <a:pt x="1341120" y="1268"/>
                </a:lnTo>
                <a:lnTo>
                  <a:pt x="1245870" y="1268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98419" y="656590"/>
            <a:ext cx="6995160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25252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5184" y="2166620"/>
            <a:ext cx="10501630" cy="2472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rgbClr val="3F3F3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5/25/2021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6170" y="2395220"/>
            <a:ext cx="520001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62225" algn="l"/>
              </a:tabLst>
            </a:pPr>
            <a:r>
              <a:rPr sz="6600" spc="785" dirty="0">
                <a:solidFill>
                  <a:srgbClr val="829942"/>
                </a:solidFill>
                <a:latin typeface="Arial"/>
                <a:cs typeface="Arial"/>
              </a:rPr>
              <a:t>8</a:t>
            </a:r>
            <a:r>
              <a:rPr sz="6600" spc="800" dirty="0">
                <a:solidFill>
                  <a:srgbClr val="829942"/>
                </a:solidFill>
                <a:latin typeface="Arial"/>
                <a:cs typeface="Arial"/>
              </a:rPr>
              <a:t>2</a:t>
            </a:r>
            <a:r>
              <a:rPr sz="6600" spc="785" dirty="0">
                <a:solidFill>
                  <a:srgbClr val="829942"/>
                </a:solidFill>
                <a:latin typeface="Arial"/>
                <a:cs typeface="Arial"/>
              </a:rPr>
              <a:t>5</a:t>
            </a:r>
            <a:r>
              <a:rPr sz="6600" spc="250" dirty="0">
                <a:solidFill>
                  <a:srgbClr val="829942"/>
                </a:solidFill>
                <a:latin typeface="Arial"/>
                <a:cs typeface="Arial"/>
              </a:rPr>
              <a:t>4</a:t>
            </a:r>
            <a:r>
              <a:rPr sz="6600" dirty="0">
                <a:solidFill>
                  <a:srgbClr val="829942"/>
                </a:solidFill>
                <a:latin typeface="Arial"/>
                <a:cs typeface="Arial"/>
              </a:rPr>
              <a:t>	</a:t>
            </a:r>
            <a:r>
              <a:rPr sz="6600" spc="545" dirty="0">
                <a:solidFill>
                  <a:srgbClr val="829942"/>
                </a:solidFill>
                <a:latin typeface="Arial"/>
                <a:cs typeface="Arial"/>
              </a:rPr>
              <a:t>T</a:t>
            </a:r>
            <a:r>
              <a:rPr sz="6600" spc="495" dirty="0">
                <a:solidFill>
                  <a:srgbClr val="829942"/>
                </a:solidFill>
                <a:latin typeface="Arial"/>
                <a:cs typeface="Arial"/>
              </a:rPr>
              <a:t>i</a:t>
            </a:r>
            <a:r>
              <a:rPr sz="6600" spc="525" dirty="0">
                <a:solidFill>
                  <a:srgbClr val="829942"/>
                </a:solidFill>
                <a:latin typeface="Arial"/>
                <a:cs typeface="Arial"/>
              </a:rPr>
              <a:t>m</a:t>
            </a:r>
            <a:r>
              <a:rPr sz="6600" spc="785" dirty="0">
                <a:solidFill>
                  <a:srgbClr val="829942"/>
                </a:solidFill>
                <a:latin typeface="Arial"/>
                <a:cs typeface="Arial"/>
              </a:rPr>
              <a:t>e</a:t>
            </a:r>
            <a:r>
              <a:rPr sz="6600" spc="320" dirty="0">
                <a:solidFill>
                  <a:srgbClr val="829942"/>
                </a:solidFill>
                <a:latin typeface="Arial"/>
                <a:cs typeface="Arial"/>
              </a:rPr>
              <a:t>r</a:t>
            </a:r>
            <a:endParaRPr sz="6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0810" y="656590"/>
            <a:ext cx="48793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i="1" spc="-335" dirty="0">
                <a:latin typeface="Verdana"/>
                <a:cs typeface="Verdana"/>
              </a:rPr>
              <a:t>F</a:t>
            </a:r>
            <a:r>
              <a:rPr sz="3600" b="0" i="1" spc="105" dirty="0">
                <a:latin typeface="Verdana"/>
                <a:cs typeface="Verdana"/>
              </a:rPr>
              <a:t>ea</a:t>
            </a:r>
            <a:r>
              <a:rPr sz="3600" b="0" i="1" spc="75" dirty="0">
                <a:latin typeface="Verdana"/>
                <a:cs typeface="Verdana"/>
              </a:rPr>
              <a:t>t</a:t>
            </a:r>
            <a:r>
              <a:rPr sz="3600" b="0" i="1" spc="-100" dirty="0">
                <a:latin typeface="Verdana"/>
                <a:cs typeface="Verdana"/>
              </a:rPr>
              <a:t>u</a:t>
            </a:r>
            <a:r>
              <a:rPr sz="3600" b="0" i="1" spc="-250" dirty="0">
                <a:latin typeface="Verdana"/>
                <a:cs typeface="Verdana"/>
              </a:rPr>
              <a:t>res</a:t>
            </a:r>
            <a:r>
              <a:rPr sz="3600" b="0" i="1" spc="-280" dirty="0">
                <a:latin typeface="Verdana"/>
                <a:cs typeface="Verdana"/>
              </a:rPr>
              <a:t> </a:t>
            </a:r>
            <a:r>
              <a:rPr sz="3600" b="0" i="1" spc="160" dirty="0">
                <a:latin typeface="Verdana"/>
                <a:cs typeface="Verdana"/>
              </a:rPr>
              <a:t>o</a:t>
            </a:r>
            <a:r>
              <a:rPr sz="3600" b="0" i="1" spc="-140" dirty="0">
                <a:latin typeface="Verdana"/>
                <a:cs typeface="Verdana"/>
              </a:rPr>
              <a:t>f</a:t>
            </a:r>
            <a:r>
              <a:rPr sz="3600" b="0" i="1" spc="-285" dirty="0">
                <a:latin typeface="Verdana"/>
                <a:cs typeface="Verdana"/>
              </a:rPr>
              <a:t> </a:t>
            </a:r>
            <a:r>
              <a:rPr sz="3600" b="0" i="1" spc="-295" dirty="0">
                <a:latin typeface="Verdana"/>
                <a:cs typeface="Verdana"/>
              </a:rPr>
              <a:t>8</a:t>
            </a:r>
            <a:r>
              <a:rPr sz="3600" b="0" i="1" spc="-300" dirty="0">
                <a:latin typeface="Verdana"/>
                <a:cs typeface="Verdana"/>
              </a:rPr>
              <a:t>25</a:t>
            </a:r>
            <a:r>
              <a:rPr sz="3600" b="0" i="1" spc="-295" dirty="0">
                <a:latin typeface="Verdana"/>
                <a:cs typeface="Verdana"/>
              </a:rPr>
              <a:t>4</a:t>
            </a:r>
            <a:r>
              <a:rPr sz="3600" b="0" i="1" spc="-275" dirty="0">
                <a:latin typeface="Verdana"/>
                <a:cs typeface="Verdana"/>
              </a:rPr>
              <a:t> </a:t>
            </a:r>
            <a:r>
              <a:rPr sz="3600" b="0" i="1" spc="-705" dirty="0">
                <a:latin typeface="Verdana"/>
                <a:cs typeface="Verdana"/>
              </a:rPr>
              <a:t>T</a:t>
            </a:r>
            <a:r>
              <a:rPr sz="3600" b="0" i="1" spc="-95" dirty="0">
                <a:latin typeface="Verdana"/>
                <a:cs typeface="Verdana"/>
              </a:rPr>
              <a:t>i</a:t>
            </a:r>
            <a:r>
              <a:rPr sz="3600" b="0" i="1" spc="-300" dirty="0">
                <a:latin typeface="Verdana"/>
                <a:cs typeface="Verdana"/>
              </a:rPr>
              <a:t>m</a:t>
            </a:r>
            <a:r>
              <a:rPr sz="3600" b="0" i="1" spc="-135" dirty="0">
                <a:latin typeface="Verdana"/>
                <a:cs typeface="Verdana"/>
              </a:rPr>
              <a:t>er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22170" y="1263650"/>
            <a:ext cx="7794625" cy="3504677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208279" indent="-182880">
              <a:lnSpc>
                <a:spcPct val="100000"/>
              </a:lnSpc>
              <a:spcBef>
                <a:spcPts val="1220"/>
              </a:spcBef>
              <a:buSzPct val="94444"/>
              <a:buFont typeface="MS UI Gothic"/>
              <a:buChar char="➢"/>
              <a:tabLst>
                <a:tab pos="208279" algn="l"/>
              </a:tabLst>
            </a:pPr>
            <a:r>
              <a:rPr sz="1800" spc="-5" dirty="0">
                <a:latin typeface="Arial MT"/>
                <a:cs typeface="Arial MT"/>
              </a:rPr>
              <a:t>It</a:t>
            </a:r>
            <a:r>
              <a:rPr sz="1800" spc="-10" dirty="0">
                <a:latin typeface="Arial MT"/>
                <a:cs typeface="Arial MT"/>
              </a:rPr>
              <a:t> has </a:t>
            </a:r>
            <a:r>
              <a:rPr sz="1800" dirty="0">
                <a:latin typeface="Arial MT"/>
                <a:cs typeface="Arial MT"/>
              </a:rPr>
              <a:t>3</a:t>
            </a:r>
            <a:r>
              <a:rPr sz="1800" spc="-10" dirty="0">
                <a:latin typeface="Arial MT"/>
                <a:cs typeface="Arial MT"/>
              </a:rPr>
              <a:t> independent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16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bit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down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counters.</a:t>
            </a:r>
            <a:endParaRPr sz="1800">
              <a:latin typeface="Arial MT"/>
              <a:cs typeface="Arial MT"/>
            </a:endParaRPr>
          </a:p>
          <a:p>
            <a:pPr marL="208279" indent="-182880">
              <a:lnSpc>
                <a:spcPct val="100000"/>
              </a:lnSpc>
              <a:spcBef>
                <a:spcPts val="1120"/>
              </a:spcBef>
              <a:buSzPct val="94444"/>
              <a:buFont typeface="MS UI Gothic"/>
              <a:buChar char="➢"/>
              <a:tabLst>
                <a:tab pos="208279" algn="l"/>
              </a:tabLst>
            </a:pPr>
            <a:r>
              <a:rPr sz="1800" spc="-10" dirty="0">
                <a:latin typeface="Arial MT"/>
                <a:cs typeface="Arial MT"/>
              </a:rPr>
              <a:t>Counters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5" dirty="0">
                <a:latin typeface="Arial MT"/>
                <a:cs typeface="Arial MT"/>
              </a:rPr>
              <a:t> be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programmed in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6</a:t>
            </a:r>
            <a:r>
              <a:rPr sz="1800" spc="-5" dirty="0">
                <a:latin typeface="Arial MT"/>
                <a:cs typeface="Arial MT"/>
              </a:rPr>
              <a:t> different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modes.</a:t>
            </a:r>
            <a:endParaRPr sz="1800">
              <a:latin typeface="Arial MT"/>
              <a:cs typeface="Arial MT"/>
            </a:endParaRPr>
          </a:p>
          <a:p>
            <a:pPr marL="208279" indent="-182880">
              <a:lnSpc>
                <a:spcPct val="100000"/>
              </a:lnSpc>
              <a:spcBef>
                <a:spcPts val="1120"/>
              </a:spcBef>
              <a:buSzPct val="94444"/>
              <a:buFont typeface="MS UI Gothic"/>
              <a:buChar char="➢"/>
              <a:tabLst>
                <a:tab pos="208279" algn="l"/>
              </a:tabLst>
            </a:pPr>
            <a:r>
              <a:rPr sz="1800" spc="-10" dirty="0">
                <a:latin typeface="Arial MT"/>
                <a:cs typeface="Arial MT"/>
              </a:rPr>
              <a:t>Counting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facility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 both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BCD </a:t>
            </a:r>
            <a:r>
              <a:rPr sz="1800" spc="-10" dirty="0">
                <a:latin typeface="Arial MT"/>
                <a:cs typeface="Arial MT"/>
              </a:rPr>
              <a:t>and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Binary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number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systems.</a:t>
            </a:r>
            <a:endParaRPr sz="1800">
              <a:latin typeface="Arial MT"/>
              <a:cs typeface="Arial MT"/>
            </a:endParaRPr>
          </a:p>
          <a:p>
            <a:pPr marL="25400" marR="17780">
              <a:lnSpc>
                <a:spcPct val="100000"/>
              </a:lnSpc>
              <a:spcBef>
                <a:spcPts val="1120"/>
              </a:spcBef>
              <a:buSzPct val="94444"/>
              <a:buFont typeface="MS UI Gothic"/>
              <a:buChar char="➢"/>
              <a:tabLst>
                <a:tab pos="208279" algn="l"/>
              </a:tabLst>
            </a:pPr>
            <a:r>
              <a:rPr sz="1800" spc="-5" dirty="0">
                <a:latin typeface="Arial MT"/>
                <a:cs typeface="Arial MT"/>
              </a:rPr>
              <a:t>It </a:t>
            </a:r>
            <a:r>
              <a:rPr sz="1800" spc="-10" dirty="0">
                <a:latin typeface="Arial MT"/>
                <a:cs typeface="Arial MT"/>
              </a:rPr>
              <a:t>has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powerful</a:t>
            </a:r>
            <a:r>
              <a:rPr sz="1800" spc="-5" dirty="0">
                <a:latin typeface="Arial MT"/>
                <a:cs typeface="Arial MT"/>
              </a:rPr>
              <a:t> command </a:t>
            </a:r>
            <a:r>
              <a:rPr sz="1800" spc="-10" dirty="0">
                <a:latin typeface="Arial MT"/>
                <a:cs typeface="Arial MT"/>
              </a:rPr>
              <a:t>called</a:t>
            </a:r>
            <a:r>
              <a:rPr sz="1800" spc="-5" dirty="0">
                <a:latin typeface="Arial MT"/>
                <a:cs typeface="Arial MT"/>
              </a:rPr>
              <a:t> READ BACK </a:t>
            </a:r>
            <a:r>
              <a:rPr sz="1800" spc="-10" dirty="0">
                <a:latin typeface="Arial MT"/>
                <a:cs typeface="Arial MT"/>
              </a:rPr>
              <a:t>COMMAND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which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allows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user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to check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count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value,programmed mode </a:t>
            </a:r>
            <a:r>
              <a:rPr sz="1800" spc="-10" dirty="0">
                <a:latin typeface="Arial MT"/>
                <a:cs typeface="Arial MT"/>
              </a:rPr>
              <a:t>and</a:t>
            </a:r>
            <a:r>
              <a:rPr sz="1800" spc="-5" dirty="0">
                <a:latin typeface="Arial MT"/>
                <a:cs typeface="Arial MT"/>
              </a:rPr>
              <a:t> current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mode </a:t>
            </a:r>
            <a:r>
              <a:rPr sz="1800" spc="-10" dirty="0">
                <a:latin typeface="Arial MT"/>
                <a:cs typeface="Arial MT"/>
              </a:rPr>
              <a:t>and </a:t>
            </a:r>
            <a:r>
              <a:rPr sz="1800" spc="-5" dirty="0">
                <a:latin typeface="Arial MT"/>
                <a:cs typeface="Arial MT"/>
              </a:rPr>
              <a:t> current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status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of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 counter.</a:t>
            </a:r>
            <a:endParaRPr sz="1800">
              <a:latin typeface="Arial MT"/>
              <a:cs typeface="Arial MT"/>
            </a:endParaRPr>
          </a:p>
          <a:p>
            <a:pPr marL="208279" marR="4312920" indent="-208279">
              <a:lnSpc>
                <a:spcPct val="151900"/>
              </a:lnSpc>
              <a:spcBef>
                <a:spcPts val="5"/>
              </a:spcBef>
              <a:buSzPct val="94444"/>
              <a:buFont typeface="MS UI Gothic"/>
              <a:buChar char="➢"/>
              <a:tabLst>
                <a:tab pos="208279" algn="l"/>
                <a:tab pos="2626995" algn="l"/>
              </a:tabLst>
            </a:pPr>
            <a:r>
              <a:rPr sz="1800" spc="-5" dirty="0">
                <a:latin typeface="Arial MT"/>
                <a:cs typeface="Arial MT"/>
              </a:rPr>
              <a:t>Operating frequency range is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For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8253:-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upto	2.6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MHz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For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8254:-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upto	</a:t>
            </a:r>
            <a:r>
              <a:rPr sz="1800" spc="-10" dirty="0">
                <a:latin typeface="Arial MT"/>
                <a:cs typeface="Arial MT"/>
              </a:rPr>
              <a:t>10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MHz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228600"/>
            <a:ext cx="9982200" cy="64007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0810" y="656590"/>
            <a:ext cx="60636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50" dirty="0"/>
              <a:t>8</a:t>
            </a:r>
            <a:r>
              <a:rPr sz="3600" spc="-555" dirty="0"/>
              <a:t>2</a:t>
            </a:r>
            <a:r>
              <a:rPr sz="3600" spc="-550" dirty="0"/>
              <a:t>5</a:t>
            </a:r>
            <a:r>
              <a:rPr sz="3600" spc="-545" dirty="0"/>
              <a:t>4</a:t>
            </a:r>
            <a:r>
              <a:rPr sz="3600" spc="-235" dirty="0"/>
              <a:t> </a:t>
            </a:r>
            <a:r>
              <a:rPr sz="3600" spc="-615" dirty="0"/>
              <a:t>F</a:t>
            </a:r>
            <a:r>
              <a:rPr sz="3600" spc="-229" dirty="0"/>
              <a:t>un</a:t>
            </a:r>
            <a:r>
              <a:rPr sz="3600" spc="-185" dirty="0"/>
              <a:t>c</a:t>
            </a:r>
            <a:r>
              <a:rPr sz="3600" spc="-300" dirty="0"/>
              <a:t>ti</a:t>
            </a:r>
            <a:r>
              <a:rPr sz="3600" spc="-520" dirty="0"/>
              <a:t>o</a:t>
            </a:r>
            <a:r>
              <a:rPr sz="3600" spc="-330" dirty="0"/>
              <a:t>na</a:t>
            </a:r>
            <a:r>
              <a:rPr sz="3600" spc="-160" dirty="0"/>
              <a:t>l</a:t>
            </a:r>
            <a:r>
              <a:rPr sz="3600" spc="-225" dirty="0"/>
              <a:t> </a:t>
            </a:r>
            <a:r>
              <a:rPr sz="3600" spc="-315" dirty="0"/>
              <a:t>D</a:t>
            </a:r>
            <a:r>
              <a:rPr sz="3600" spc="-250" dirty="0"/>
              <a:t>e</a:t>
            </a:r>
            <a:r>
              <a:rPr sz="3600" spc="-190" dirty="0"/>
              <a:t>s</a:t>
            </a:r>
            <a:r>
              <a:rPr sz="3600" spc="-195" dirty="0"/>
              <a:t>c</a:t>
            </a:r>
            <a:r>
              <a:rPr sz="3600" spc="-640" dirty="0"/>
              <a:t>r</a:t>
            </a:r>
            <a:r>
              <a:rPr sz="3600" spc="-300" dirty="0"/>
              <a:t>ipti</a:t>
            </a:r>
            <a:r>
              <a:rPr sz="3600" spc="-450" dirty="0"/>
              <a:t>o</a:t>
            </a:r>
            <a:r>
              <a:rPr sz="3600" spc="-405" dirty="0"/>
              <a:t>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641600" y="2127250"/>
            <a:ext cx="8696960" cy="35039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960"/>
              </a:lnSpc>
              <a:spcBef>
                <a:spcPts val="100"/>
              </a:spcBef>
              <a:tabLst>
                <a:tab pos="380365" algn="l"/>
                <a:tab pos="1524635" algn="l"/>
              </a:tabLst>
            </a:pPr>
            <a:r>
              <a:rPr sz="3900" spc="-2482" baseline="5341" dirty="0">
                <a:solidFill>
                  <a:srgbClr val="A42F0F"/>
                </a:solidFill>
                <a:latin typeface="MS UI Gothic"/>
                <a:cs typeface="MS UI Gothic"/>
              </a:rPr>
              <a:t>	</a:t>
            </a:r>
            <a:r>
              <a:rPr sz="2600" i="1" spc="-150" dirty="0">
                <a:solidFill>
                  <a:srgbClr val="3F3F3F"/>
                </a:solidFill>
                <a:latin typeface="Verdana"/>
                <a:cs typeface="Verdana"/>
              </a:rPr>
              <a:t>Figu</a:t>
            </a:r>
            <a:r>
              <a:rPr sz="2600" i="1" spc="-114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600" i="1" spc="14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600" i="1" dirty="0">
                <a:solidFill>
                  <a:srgbClr val="3F3F3F"/>
                </a:solidFill>
                <a:latin typeface="Verdana"/>
                <a:cs typeface="Verdana"/>
              </a:rPr>
              <a:t>	</a:t>
            </a:r>
            <a:r>
              <a:rPr sz="2600" i="1" spc="-36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600" i="1" spc="-6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600" i="1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600" i="1" spc="75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2600" i="1" spc="-35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600" i="1" spc="-2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600" i="1" spc="-14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600" i="1" spc="-6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600" i="1" spc="14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600" i="1" spc="-20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600" i="1" spc="15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600" i="1" spc="-21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600" i="1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600" i="1" spc="-325" dirty="0">
                <a:solidFill>
                  <a:srgbClr val="3F3F3F"/>
                </a:solidFill>
                <a:latin typeface="Verdana"/>
                <a:cs typeface="Verdana"/>
              </a:rPr>
              <a:t>-</a:t>
            </a:r>
            <a:r>
              <a:rPr sz="2600" i="1" spc="12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600" i="1" spc="-13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600" i="1" spc="-8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600" i="1" spc="-1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600" i="1" spc="1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600" i="1" spc="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600" i="1" spc="-2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600" i="1" spc="-14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600" i="1" spc="-6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600" i="1" spc="14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600" i="1" spc="-20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600" i="1" spc="-220" dirty="0">
                <a:solidFill>
                  <a:srgbClr val="3F3F3F"/>
                </a:solidFill>
                <a:latin typeface="Verdana"/>
                <a:cs typeface="Verdana"/>
              </a:rPr>
              <a:t>8254,</a:t>
            </a:r>
            <a:endParaRPr sz="2600">
              <a:latin typeface="Verdana"/>
              <a:cs typeface="Verdana"/>
            </a:endParaRPr>
          </a:p>
          <a:p>
            <a:pPr marL="381000" marR="198755">
              <a:lnSpc>
                <a:spcPts val="2810"/>
              </a:lnSpc>
              <a:spcBef>
                <a:spcPts val="190"/>
              </a:spcBef>
            </a:pPr>
            <a:r>
              <a:rPr sz="2600" i="1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600" i="1" spc="-1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600" i="1" spc="-6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600" i="1" spc="-45" dirty="0">
                <a:solidFill>
                  <a:srgbClr val="3F3F3F"/>
                </a:solidFill>
                <a:latin typeface="Verdana"/>
                <a:cs typeface="Verdana"/>
              </a:rPr>
              <a:t>igh</a:t>
            </a:r>
            <a:r>
              <a:rPr sz="2600" i="1" spc="14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600" i="1" spc="-330" dirty="0">
                <a:solidFill>
                  <a:srgbClr val="3F3F3F"/>
                </a:solidFill>
                <a:latin typeface="Verdana"/>
                <a:cs typeface="Verdana"/>
              </a:rPr>
              <a:t>r-</a:t>
            </a:r>
            <a:r>
              <a:rPr sz="2600" i="1" spc="-105" dirty="0">
                <a:solidFill>
                  <a:srgbClr val="3F3F3F"/>
                </a:solidFill>
                <a:latin typeface="Verdana"/>
                <a:cs typeface="Verdana"/>
              </a:rPr>
              <a:t>sp</a:t>
            </a:r>
            <a:r>
              <a:rPr sz="2600" i="1" spc="14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600" i="1" spc="14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600" i="1" spc="15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2600" i="1" spc="-1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600" i="1" spc="-190" dirty="0">
                <a:solidFill>
                  <a:srgbClr val="3F3F3F"/>
                </a:solidFill>
                <a:latin typeface="Verdana"/>
                <a:cs typeface="Verdana"/>
              </a:rPr>
              <a:t>vers</a:t>
            </a:r>
            <a:r>
              <a:rPr sz="2600" i="1" spc="-11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600" i="1" spc="12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600" i="1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600" i="1" spc="-20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600" i="1" spc="12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600" i="1" spc="-10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600" i="1" spc="-20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600" i="1" spc="-14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600" i="1" spc="-6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600" i="1" spc="14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600" i="1" spc="-20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600" i="1" spc="-240" dirty="0">
                <a:solidFill>
                  <a:srgbClr val="3F3F3F"/>
                </a:solidFill>
                <a:latin typeface="Verdana"/>
                <a:cs typeface="Verdana"/>
              </a:rPr>
              <a:t>8253</a:t>
            </a:r>
            <a:r>
              <a:rPr sz="2600" i="1" spc="-135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2600" i="1" spc="-2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600" i="1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600" i="1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600" i="1" spc="16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2600" i="1" spc="-2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600" i="1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600" i="1" spc="-1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600" i="1" spc="16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2600" i="1" spc="-21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600" i="1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600" i="1" dirty="0">
                <a:solidFill>
                  <a:srgbClr val="3F3F3F"/>
                </a:solidFill>
                <a:latin typeface="Verdana"/>
                <a:cs typeface="Verdana"/>
              </a:rPr>
              <a:t>gr</a:t>
            </a:r>
            <a:r>
              <a:rPr sz="2600" i="1" spc="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600" i="1" spc="-55" dirty="0">
                <a:solidFill>
                  <a:srgbClr val="3F3F3F"/>
                </a:solidFill>
                <a:latin typeface="Verdana"/>
                <a:cs typeface="Verdana"/>
              </a:rPr>
              <a:t>m  </a:t>
            </a:r>
            <a:r>
              <a:rPr sz="2600" i="1" spc="12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600" i="1" spc="-10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600" i="1" spc="-20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600" i="1" spc="12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600" i="1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600" i="1" spc="14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600" i="1" spc="-20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600" i="1" spc="12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600" i="1" spc="-10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600" i="1" spc="-20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600" i="1" spc="-14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600" i="1" spc="-6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600" i="1" spc="14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600" i="1" spc="-1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600" i="1" spc="-8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600" i="1" spc="-13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600" i="1" spc="-20" dirty="0">
                <a:solidFill>
                  <a:srgbClr val="3F3F3F"/>
                </a:solidFill>
                <a:latin typeface="Verdana"/>
                <a:cs typeface="Verdana"/>
              </a:rPr>
              <a:t>ree</a:t>
            </a:r>
            <a:r>
              <a:rPr sz="2600" i="1" spc="-20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600" i="1" spc="20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600" i="1" spc="24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600" i="1" spc="-70" dirty="0">
                <a:solidFill>
                  <a:srgbClr val="3F3F3F"/>
                </a:solidFill>
                <a:latin typeface="Verdana"/>
                <a:cs typeface="Verdana"/>
              </a:rPr>
              <a:t>un</a:t>
            </a:r>
            <a:r>
              <a:rPr sz="2600" i="1" spc="-14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600" i="1" spc="-114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600" i="1" spc="-7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600" i="1" spc="-36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600" i="1" spc="-229" dirty="0">
                <a:solidFill>
                  <a:srgbClr val="3F3F3F"/>
                </a:solidFill>
                <a:latin typeface="Verdana"/>
                <a:cs typeface="Verdana"/>
              </a:rPr>
              <a:t>.</a:t>
            </a:r>
            <a:endParaRPr sz="26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640"/>
              </a:spcBef>
              <a:tabLst>
                <a:tab pos="380365" algn="l"/>
              </a:tabLst>
            </a:pPr>
            <a:r>
              <a:rPr sz="3900" spc="-2482" baseline="5341" dirty="0">
                <a:solidFill>
                  <a:srgbClr val="A42F0F"/>
                </a:solidFill>
                <a:latin typeface="MS UI Gothic"/>
                <a:cs typeface="MS UI Gothic"/>
              </a:rPr>
              <a:t>	</a:t>
            </a:r>
            <a:r>
              <a:rPr sz="2600" i="1" spc="-2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600" i="1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600" i="1" spc="114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600" i="1" spc="1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600" i="1" spc="-20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600" i="1" spc="-14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600" i="1" spc="-7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600" i="1" spc="-24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600" i="1" spc="-114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600" i="1" spc="-8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600" i="1" spc="-1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600" i="1" spc="31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600" i="1" spc="12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600" i="1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600" i="1" spc="-14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600" i="1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600" i="1" spc="-21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600" i="1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600" i="1" spc="-36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600" i="1" spc="-465" dirty="0">
                <a:solidFill>
                  <a:srgbClr val="3F3F3F"/>
                </a:solidFill>
                <a:latin typeface="Verdana"/>
                <a:cs typeface="Verdana"/>
              </a:rPr>
              <a:t>:</a:t>
            </a:r>
            <a:endParaRPr sz="2600">
              <a:latin typeface="Verdana"/>
              <a:cs typeface="Verdana"/>
            </a:endParaRPr>
          </a:p>
          <a:p>
            <a:pPr marL="781050" marR="30480" indent="-285750">
              <a:lnSpc>
                <a:spcPts val="2370"/>
              </a:lnSpc>
              <a:spcBef>
                <a:spcPts val="1035"/>
              </a:spcBef>
              <a:tabLst>
                <a:tab pos="780415" algn="l"/>
              </a:tabLst>
            </a:pPr>
            <a:r>
              <a:rPr sz="3300" spc="-2100" baseline="5050" dirty="0">
                <a:solidFill>
                  <a:srgbClr val="A42F0F"/>
                </a:solidFill>
                <a:latin typeface="MS UI Gothic"/>
                <a:cs typeface="MS UI Gothic"/>
              </a:rPr>
              <a:t>	</a:t>
            </a:r>
            <a:r>
              <a:rPr sz="2200" i="1" spc="18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200" i="1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-65" dirty="0">
                <a:solidFill>
                  <a:srgbClr val="3F3F3F"/>
                </a:solidFill>
                <a:latin typeface="Verdana"/>
                <a:cs typeface="Verdana"/>
              </a:rPr>
              <a:t>CLK</a:t>
            </a:r>
            <a:r>
              <a:rPr sz="2200" i="1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-55" dirty="0">
                <a:solidFill>
                  <a:srgbClr val="3F3F3F"/>
                </a:solidFill>
                <a:latin typeface="Verdana"/>
                <a:cs typeface="Verdana"/>
              </a:rPr>
              <a:t>input</a:t>
            </a:r>
            <a:r>
              <a:rPr sz="22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dirty="0">
                <a:solidFill>
                  <a:srgbClr val="3F3F3F"/>
                </a:solidFill>
                <a:latin typeface="Verdana"/>
                <a:cs typeface="Verdana"/>
              </a:rPr>
              <a:t>which</a:t>
            </a:r>
            <a:r>
              <a:rPr sz="2200" i="1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-50" dirty="0">
                <a:solidFill>
                  <a:srgbClr val="3F3F3F"/>
                </a:solidFill>
                <a:latin typeface="Verdana"/>
                <a:cs typeface="Verdana"/>
              </a:rPr>
              <a:t>provides</a:t>
            </a:r>
            <a:r>
              <a:rPr sz="2200" i="1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-1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2200" i="1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20" dirty="0">
                <a:solidFill>
                  <a:srgbClr val="3F3F3F"/>
                </a:solidFill>
                <a:latin typeface="Verdana"/>
                <a:cs typeface="Verdana"/>
              </a:rPr>
              <a:t>basic</a:t>
            </a:r>
            <a:r>
              <a:rPr sz="2200" i="1" spc="-1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dirty="0">
                <a:solidFill>
                  <a:srgbClr val="3F3F3F"/>
                </a:solidFill>
                <a:latin typeface="Verdana"/>
                <a:cs typeface="Verdana"/>
              </a:rPr>
              <a:t>operating</a:t>
            </a:r>
            <a:r>
              <a:rPr sz="2200" i="1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dirty="0">
                <a:solidFill>
                  <a:srgbClr val="3F3F3F"/>
                </a:solidFill>
                <a:latin typeface="Verdana"/>
                <a:cs typeface="Verdana"/>
              </a:rPr>
              <a:t>frequency </a:t>
            </a:r>
            <a:r>
              <a:rPr sz="2200" i="1" spc="-7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2200" i="1" spc="-1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-1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2200" i="1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-110" dirty="0">
                <a:solidFill>
                  <a:srgbClr val="3F3F3F"/>
                </a:solidFill>
                <a:latin typeface="Verdana"/>
                <a:cs typeface="Verdana"/>
              </a:rPr>
              <a:t>timer</a:t>
            </a:r>
            <a:endParaRPr sz="2200">
              <a:latin typeface="Verdana"/>
              <a:cs typeface="Verdana"/>
            </a:endParaRPr>
          </a:p>
          <a:p>
            <a:pPr marL="495300">
              <a:lnSpc>
                <a:spcPct val="100000"/>
              </a:lnSpc>
              <a:spcBef>
                <a:spcPts val="705"/>
              </a:spcBef>
              <a:tabLst>
                <a:tab pos="780415" algn="l"/>
              </a:tabLst>
            </a:pPr>
            <a:r>
              <a:rPr sz="3300" spc="-2100" baseline="6313" dirty="0">
                <a:solidFill>
                  <a:srgbClr val="A42F0F"/>
                </a:solidFill>
                <a:latin typeface="MS UI Gothic"/>
                <a:cs typeface="MS UI Gothic"/>
              </a:rPr>
              <a:t>	</a:t>
            </a:r>
            <a:r>
              <a:rPr sz="2200" i="1" spc="18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200" i="1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140" dirty="0">
                <a:solidFill>
                  <a:srgbClr val="3F3F3F"/>
                </a:solidFill>
                <a:latin typeface="Verdana"/>
                <a:cs typeface="Verdana"/>
              </a:rPr>
              <a:t>ga</a:t>
            </a:r>
            <a:r>
              <a:rPr sz="2200" i="1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200" i="1" spc="114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200" i="1" spc="-1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-40" dirty="0">
                <a:solidFill>
                  <a:srgbClr val="3F3F3F"/>
                </a:solidFill>
                <a:latin typeface="Verdana"/>
                <a:cs typeface="Verdana"/>
              </a:rPr>
              <a:t>inp</a:t>
            </a:r>
            <a:r>
              <a:rPr sz="2200" i="1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200" i="1" spc="-12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200" i="1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-30" dirty="0">
                <a:solidFill>
                  <a:srgbClr val="3F3F3F"/>
                </a:solidFill>
                <a:latin typeface="Verdana"/>
                <a:cs typeface="Verdana"/>
              </a:rPr>
              <a:t>pi</a:t>
            </a:r>
            <a:r>
              <a:rPr sz="2200" i="1" spc="-3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200" i="1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5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2200" i="1" spc="-15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200" i="1" spc="-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200" i="1" spc="27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200" i="1" spc="-5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200" i="1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27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200" i="1" spc="-35" dirty="0">
                <a:solidFill>
                  <a:srgbClr val="3F3F3F"/>
                </a:solidFill>
                <a:latin typeface="Verdana"/>
                <a:cs typeface="Verdana"/>
              </a:rPr>
              <a:t>on</a:t>
            </a:r>
            <a:r>
              <a:rPr sz="2200" i="1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200" i="1" spc="-155" dirty="0">
                <a:solidFill>
                  <a:srgbClr val="3F3F3F"/>
                </a:solidFill>
                <a:latin typeface="Verdana"/>
                <a:cs typeface="Verdana"/>
              </a:rPr>
              <a:t>rol</a:t>
            </a:r>
            <a:r>
              <a:rPr sz="2200" i="1" spc="-18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200" i="1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-114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200" i="1" spc="-5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200" i="1" spc="114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200" i="1" spc="-1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200" i="1" spc="-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200" i="1" spc="-21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200" i="1" spc="-10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200" i="1" spc="-7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200" i="1" spc="-1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-7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200" i="1" spc="-15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200" i="1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-30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200" i="1" spc="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200" i="1" spc="-1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200" i="1" spc="114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200" i="1" spc="-1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-10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200" i="1" spc="110" dirty="0">
                <a:solidFill>
                  <a:srgbClr val="3F3F3F"/>
                </a:solidFill>
                <a:latin typeface="Verdana"/>
                <a:cs typeface="Verdana"/>
              </a:rPr>
              <a:t>od</a:t>
            </a:r>
            <a:r>
              <a:rPr sz="2200" i="1" spc="-95" dirty="0">
                <a:solidFill>
                  <a:srgbClr val="3F3F3F"/>
                </a:solidFill>
                <a:latin typeface="Verdana"/>
                <a:cs typeface="Verdana"/>
              </a:rPr>
              <a:t>es</a:t>
            </a:r>
            <a:endParaRPr sz="2200">
              <a:latin typeface="Verdana"/>
              <a:cs typeface="Verdana"/>
            </a:endParaRPr>
          </a:p>
          <a:p>
            <a:pPr marL="781050" marR="1256665" indent="-285750">
              <a:lnSpc>
                <a:spcPts val="2370"/>
              </a:lnSpc>
              <a:spcBef>
                <a:spcPts val="1035"/>
              </a:spcBef>
              <a:tabLst>
                <a:tab pos="780415" algn="l"/>
              </a:tabLst>
            </a:pPr>
            <a:r>
              <a:rPr sz="3300" spc="-2100" baseline="6313" dirty="0">
                <a:solidFill>
                  <a:srgbClr val="A42F0F"/>
                </a:solidFill>
                <a:latin typeface="MS UI Gothic"/>
                <a:cs typeface="MS UI Gothic"/>
              </a:rPr>
              <a:t>	</a:t>
            </a:r>
            <a:r>
              <a:rPr sz="2200" i="1" spc="60" dirty="0">
                <a:solidFill>
                  <a:srgbClr val="3F3F3F"/>
                </a:solidFill>
                <a:latin typeface="Verdana"/>
                <a:cs typeface="Verdana"/>
              </a:rPr>
              <a:t>an</a:t>
            </a:r>
            <a:r>
              <a:rPr sz="2200" i="1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-25" dirty="0">
                <a:solidFill>
                  <a:srgbClr val="3F3F3F"/>
                </a:solidFill>
                <a:latin typeface="Verdana"/>
                <a:cs typeface="Verdana"/>
              </a:rPr>
              <a:t>output</a:t>
            </a:r>
            <a:r>
              <a:rPr sz="22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-155" dirty="0">
                <a:solidFill>
                  <a:srgbClr val="3F3F3F"/>
                </a:solidFill>
                <a:latin typeface="Verdana"/>
                <a:cs typeface="Verdana"/>
              </a:rPr>
              <a:t>(OUT)</a:t>
            </a:r>
            <a:r>
              <a:rPr sz="2200" i="1" spc="-2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40" dirty="0">
                <a:solidFill>
                  <a:srgbClr val="3F3F3F"/>
                </a:solidFill>
                <a:latin typeface="Verdana"/>
                <a:cs typeface="Verdana"/>
              </a:rPr>
              <a:t>connection</a:t>
            </a:r>
            <a:r>
              <a:rPr sz="2200" i="1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2200" i="1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10" dirty="0">
                <a:solidFill>
                  <a:srgbClr val="3F3F3F"/>
                </a:solidFill>
                <a:latin typeface="Verdana"/>
                <a:cs typeface="Verdana"/>
              </a:rPr>
              <a:t>obtain</a:t>
            </a:r>
            <a:r>
              <a:rPr sz="2200" i="1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-1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2200" i="1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-25" dirty="0">
                <a:solidFill>
                  <a:srgbClr val="3F3F3F"/>
                </a:solidFill>
                <a:latin typeface="Verdana"/>
                <a:cs typeface="Verdana"/>
              </a:rPr>
              <a:t>output </a:t>
            </a:r>
            <a:r>
              <a:rPr sz="2200" i="1" spc="-7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5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2200" i="1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-1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2200" i="1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200" i="1" spc="-110" dirty="0">
                <a:solidFill>
                  <a:srgbClr val="3F3F3F"/>
                </a:solidFill>
                <a:latin typeface="Verdana"/>
                <a:cs typeface="Verdana"/>
              </a:rPr>
              <a:t>timer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7539" y="642620"/>
            <a:ext cx="40468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i="1" spc="-300" dirty="0">
                <a:latin typeface="Verdana"/>
                <a:cs typeface="Verdana"/>
              </a:rPr>
              <a:t>82</a:t>
            </a:r>
            <a:r>
              <a:rPr sz="3600" b="0" i="1" spc="-295" dirty="0">
                <a:latin typeface="Verdana"/>
                <a:cs typeface="Verdana"/>
              </a:rPr>
              <a:t>54</a:t>
            </a:r>
            <a:r>
              <a:rPr sz="3600" b="0" i="1" spc="-280" dirty="0">
                <a:latin typeface="Verdana"/>
                <a:cs typeface="Verdana"/>
              </a:rPr>
              <a:t> </a:t>
            </a:r>
            <a:r>
              <a:rPr sz="3600" b="0" i="1" spc="409" dirty="0">
                <a:latin typeface="Verdana"/>
                <a:cs typeface="Verdana"/>
              </a:rPr>
              <a:t>C</a:t>
            </a:r>
            <a:r>
              <a:rPr sz="3600" b="0" i="1" spc="160" dirty="0">
                <a:latin typeface="Verdana"/>
                <a:cs typeface="Verdana"/>
              </a:rPr>
              <a:t>o</a:t>
            </a:r>
            <a:r>
              <a:rPr sz="3600" b="0" i="1" spc="-85" dirty="0">
                <a:latin typeface="Verdana"/>
                <a:cs typeface="Verdana"/>
              </a:rPr>
              <a:t>n</a:t>
            </a:r>
            <a:r>
              <a:rPr sz="3600" b="0" i="1" spc="-145" dirty="0">
                <a:latin typeface="Verdana"/>
                <a:cs typeface="Verdana"/>
              </a:rPr>
              <a:t>tr</a:t>
            </a:r>
            <a:r>
              <a:rPr sz="3600" b="0" i="1" spc="-204" dirty="0">
                <a:latin typeface="Verdana"/>
                <a:cs typeface="Verdana"/>
              </a:rPr>
              <a:t>o</a:t>
            </a:r>
            <a:r>
              <a:rPr sz="3600" b="0" i="1" spc="-270" dirty="0">
                <a:latin typeface="Verdana"/>
                <a:cs typeface="Verdana"/>
              </a:rPr>
              <a:t>l</a:t>
            </a:r>
            <a:r>
              <a:rPr sz="3600" b="0" i="1" spc="-300" dirty="0">
                <a:latin typeface="Verdana"/>
                <a:cs typeface="Verdana"/>
              </a:rPr>
              <a:t> </a:t>
            </a:r>
            <a:r>
              <a:rPr sz="3600" b="0" i="1" spc="100" dirty="0">
                <a:latin typeface="Verdana"/>
                <a:cs typeface="Verdana"/>
              </a:rPr>
              <a:t>wo</a:t>
            </a:r>
            <a:r>
              <a:rPr sz="3600" b="0" i="1" spc="-125" dirty="0">
                <a:latin typeface="Verdana"/>
                <a:cs typeface="Verdana"/>
              </a:rPr>
              <a:t>rd</a:t>
            </a:r>
            <a:endParaRPr sz="36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1981200"/>
            <a:ext cx="8610600" cy="43256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39" y="307340"/>
            <a:ext cx="4163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i="1" spc="-300" dirty="0">
                <a:latin typeface="Verdana"/>
                <a:cs typeface="Verdana"/>
              </a:rPr>
              <a:t>825</a:t>
            </a:r>
            <a:r>
              <a:rPr sz="3600" b="0" i="1" spc="-295" dirty="0">
                <a:latin typeface="Verdana"/>
                <a:cs typeface="Verdana"/>
              </a:rPr>
              <a:t>4</a:t>
            </a:r>
            <a:r>
              <a:rPr sz="3600" b="0" i="1" spc="-275" dirty="0">
                <a:latin typeface="Verdana"/>
                <a:cs typeface="Verdana"/>
              </a:rPr>
              <a:t> </a:t>
            </a:r>
            <a:r>
              <a:rPr sz="3600" b="0" i="1" spc="-45" dirty="0">
                <a:latin typeface="Verdana"/>
                <a:cs typeface="Verdana"/>
              </a:rPr>
              <a:t>P</a:t>
            </a:r>
            <a:r>
              <a:rPr sz="3600" b="0" i="1" spc="-125" dirty="0">
                <a:latin typeface="Verdana"/>
                <a:cs typeface="Verdana"/>
              </a:rPr>
              <a:t>r</a:t>
            </a:r>
            <a:r>
              <a:rPr sz="3600" b="0" i="1" spc="-180" dirty="0">
                <a:latin typeface="Verdana"/>
                <a:cs typeface="Verdana"/>
              </a:rPr>
              <a:t>o</a:t>
            </a:r>
            <a:r>
              <a:rPr sz="3600" b="0" i="1" spc="180" dirty="0">
                <a:latin typeface="Verdana"/>
                <a:cs typeface="Verdana"/>
              </a:rPr>
              <a:t>g</a:t>
            </a:r>
            <a:r>
              <a:rPr sz="3600" b="0" i="1" spc="-80" dirty="0">
                <a:latin typeface="Verdana"/>
                <a:cs typeface="Verdana"/>
              </a:rPr>
              <a:t>ra</a:t>
            </a:r>
            <a:r>
              <a:rPr sz="3600" b="0" i="1" spc="-140" dirty="0">
                <a:latin typeface="Verdana"/>
                <a:cs typeface="Verdana"/>
              </a:rPr>
              <a:t>m</a:t>
            </a:r>
            <a:r>
              <a:rPr sz="3600" b="0" i="1" spc="-130" dirty="0">
                <a:latin typeface="Verdana"/>
                <a:cs typeface="Verdana"/>
              </a:rPr>
              <a:t>m</a:t>
            </a:r>
            <a:r>
              <a:rPr sz="3600" b="0" i="1" spc="-114" dirty="0">
                <a:latin typeface="Verdana"/>
                <a:cs typeface="Verdana"/>
              </a:rPr>
              <a:t>i</a:t>
            </a:r>
            <a:r>
              <a:rPr sz="3600" b="0" i="1" spc="-245" dirty="0">
                <a:latin typeface="Verdana"/>
                <a:cs typeface="Verdana"/>
              </a:rPr>
              <a:t>n</a:t>
            </a:r>
            <a:r>
              <a:rPr sz="3600" b="0" i="1" spc="180" dirty="0">
                <a:latin typeface="Verdana"/>
                <a:cs typeface="Verdana"/>
              </a:rPr>
              <a:t>g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67000" y="2115820"/>
            <a:ext cx="10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45" dirty="0">
                <a:solidFill>
                  <a:srgbClr val="A42F0F"/>
                </a:solidFill>
                <a:latin typeface="MS UI Gothic"/>
                <a:cs typeface="MS UI Gothic"/>
              </a:rPr>
              <a:t></a:t>
            </a:r>
            <a:endParaRPr sz="1800">
              <a:latin typeface="MS UI Gothic"/>
              <a:cs typeface="MS UI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09900" y="2138679"/>
            <a:ext cx="6945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8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i="1" spc="180" dirty="0">
                <a:solidFill>
                  <a:srgbClr val="3F3F3F"/>
                </a:solidFill>
                <a:latin typeface="Verdana"/>
                <a:cs typeface="Verdana"/>
              </a:rPr>
              <a:t>ac</a:t>
            </a:r>
            <a:r>
              <a:rPr sz="1800" i="1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21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i="1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i="1" spc="-5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i="1" spc="-9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-8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i="1" spc="-5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5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i="1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i="1" spc="-10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i="1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95" dirty="0">
                <a:solidFill>
                  <a:srgbClr val="3F3F3F"/>
                </a:solidFill>
                <a:latin typeface="Verdana"/>
                <a:cs typeface="Verdana"/>
              </a:rPr>
              <a:t>be</a:t>
            </a:r>
            <a:r>
              <a:rPr sz="18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9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i="1" spc="-6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i="1" spc="-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-5" dirty="0">
                <a:solidFill>
                  <a:srgbClr val="3F3F3F"/>
                </a:solidFill>
                <a:latin typeface="Verdana"/>
                <a:cs typeface="Verdana"/>
              </a:rPr>
              <a:t>gr</a:t>
            </a:r>
            <a:r>
              <a:rPr sz="1800" i="1" spc="-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i="1" spc="-5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i="1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i="1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i="1" spc="10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800" i="1" spc="-13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i="1" spc="-8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i="1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14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21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i="1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i="1" spc="-5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i="1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-7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i="1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150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9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16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i="1" spc="-17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i="1" spc="-160" dirty="0">
                <a:solidFill>
                  <a:srgbClr val="3F3F3F"/>
                </a:solidFill>
                <a:latin typeface="Verdana"/>
                <a:cs typeface="Verdana"/>
              </a:rPr>
              <a:t>FF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i="1" spc="-160" dirty="0">
                <a:solidFill>
                  <a:srgbClr val="3F3F3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4200" y="2494279"/>
            <a:ext cx="996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19" dirty="0">
                <a:solidFill>
                  <a:srgbClr val="A42F0F"/>
                </a:solidFill>
                <a:latin typeface="MS UI Gothic"/>
                <a:cs typeface="MS UI Gothic"/>
              </a:rPr>
              <a:t></a:t>
            </a:r>
            <a:endParaRPr sz="1600">
              <a:latin typeface="MS UI Gothic"/>
              <a:cs typeface="MS UI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09950" y="2514600"/>
            <a:ext cx="69907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0" dirty="0">
                <a:solidFill>
                  <a:srgbClr val="3F3F3F"/>
                </a:solidFill>
                <a:latin typeface="Verdana"/>
                <a:cs typeface="Verdana"/>
              </a:rPr>
              <a:t>Minimum</a:t>
            </a:r>
            <a:r>
              <a:rPr sz="1600" i="1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15" dirty="0">
                <a:solidFill>
                  <a:srgbClr val="3F3F3F"/>
                </a:solidFill>
                <a:latin typeface="Verdana"/>
                <a:cs typeface="Verdana"/>
              </a:rPr>
              <a:t>count</a:t>
            </a:r>
            <a:r>
              <a:rPr sz="16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170" dirty="0">
                <a:solidFill>
                  <a:srgbClr val="3F3F3F"/>
                </a:solidFill>
                <a:latin typeface="Verdana"/>
                <a:cs typeface="Verdana"/>
              </a:rPr>
              <a:t>is</a:t>
            </a:r>
            <a:r>
              <a:rPr sz="1600" i="1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135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1600" i="1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40" dirty="0">
                <a:solidFill>
                  <a:srgbClr val="3F3F3F"/>
                </a:solidFill>
                <a:latin typeface="Verdana"/>
                <a:cs typeface="Verdana"/>
              </a:rPr>
              <a:t>all</a:t>
            </a:r>
            <a:r>
              <a:rPr sz="1600" i="1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10" dirty="0">
                <a:solidFill>
                  <a:srgbClr val="3F3F3F"/>
                </a:solidFill>
                <a:latin typeface="Verdana"/>
                <a:cs typeface="Verdana"/>
              </a:rPr>
              <a:t>modes</a:t>
            </a:r>
            <a:r>
              <a:rPr sz="1600" i="1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25" dirty="0">
                <a:solidFill>
                  <a:srgbClr val="3F3F3F"/>
                </a:solidFill>
                <a:latin typeface="Verdana"/>
                <a:cs typeface="Verdana"/>
              </a:rPr>
              <a:t>except</a:t>
            </a:r>
            <a:r>
              <a:rPr sz="1600" i="1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135" dirty="0">
                <a:solidFill>
                  <a:srgbClr val="3F3F3F"/>
                </a:solidFill>
                <a:latin typeface="Verdana"/>
                <a:cs typeface="Verdana"/>
              </a:rPr>
              <a:t>2</a:t>
            </a:r>
            <a:r>
              <a:rPr sz="16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55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600" i="1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135" dirty="0">
                <a:solidFill>
                  <a:srgbClr val="3F3F3F"/>
                </a:solidFill>
                <a:latin typeface="Verdana"/>
                <a:cs typeface="Verdana"/>
              </a:rPr>
              <a:t>3</a:t>
            </a:r>
            <a:r>
              <a:rPr sz="1600" i="1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65" dirty="0">
                <a:solidFill>
                  <a:srgbClr val="3F3F3F"/>
                </a:solidFill>
                <a:latin typeface="Verdana"/>
                <a:cs typeface="Verdana"/>
              </a:rPr>
              <a:t>with</a:t>
            </a:r>
            <a:r>
              <a:rPr sz="1600" i="1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70" dirty="0">
                <a:solidFill>
                  <a:srgbClr val="3F3F3F"/>
                </a:solidFill>
                <a:latin typeface="Verdana"/>
                <a:cs typeface="Verdana"/>
              </a:rPr>
              <a:t>minimum</a:t>
            </a:r>
            <a:r>
              <a:rPr sz="16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15" dirty="0">
                <a:solidFill>
                  <a:srgbClr val="3F3F3F"/>
                </a:solidFill>
                <a:latin typeface="Verdana"/>
                <a:cs typeface="Verdana"/>
              </a:rPr>
              <a:t>count</a:t>
            </a:r>
            <a:r>
              <a:rPr sz="1600" i="1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1600" i="1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135" dirty="0">
                <a:solidFill>
                  <a:srgbClr val="3F3F3F"/>
                </a:solidFill>
                <a:latin typeface="Verdana"/>
                <a:cs typeface="Verdana"/>
              </a:rPr>
              <a:t>2.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67000" y="2834640"/>
            <a:ext cx="10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45" dirty="0">
                <a:solidFill>
                  <a:srgbClr val="A42F0F"/>
                </a:solidFill>
                <a:latin typeface="MS UI Gothic"/>
                <a:cs typeface="MS UI Gothic"/>
              </a:rPr>
              <a:t></a:t>
            </a:r>
            <a:endParaRPr sz="1800">
              <a:latin typeface="MS UI Gothic"/>
              <a:cs typeface="MS UI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09900" y="2857500"/>
            <a:ext cx="7680325" cy="54610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sz="1800" i="1" spc="-18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i="1" spc="180" dirty="0">
                <a:solidFill>
                  <a:srgbClr val="3F3F3F"/>
                </a:solidFill>
                <a:latin typeface="Verdana"/>
                <a:cs typeface="Verdana"/>
              </a:rPr>
              <a:t>ac</a:t>
            </a:r>
            <a:r>
              <a:rPr sz="1800" i="1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21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i="1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i="1" spc="-5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i="1" spc="-9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-8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i="1" spc="-5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55" dirty="0">
                <a:solidFill>
                  <a:srgbClr val="3F3F3F"/>
                </a:solidFill>
                <a:latin typeface="Verdana"/>
                <a:cs typeface="Verdana"/>
              </a:rPr>
              <a:t>ha</a:t>
            </a:r>
            <a:r>
              <a:rPr sz="1800" i="1" spc="-4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14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9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i="1" spc="-6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i="1" spc="-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-5" dirty="0">
                <a:solidFill>
                  <a:srgbClr val="3F3F3F"/>
                </a:solidFill>
                <a:latin typeface="Verdana"/>
                <a:cs typeface="Verdana"/>
              </a:rPr>
              <a:t>gr</a:t>
            </a:r>
            <a:r>
              <a:rPr sz="1800" i="1" spc="-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i="1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i="1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22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i="1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-5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i="1" spc="-8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-6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i="1" spc="-9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800" i="1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-5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i="1" spc="-7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i="1" spc="-7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i="1" spc="-9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i="1" spc="11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9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7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i="1" spc="-9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i="1" spc="55" dirty="0">
                <a:solidFill>
                  <a:srgbClr val="3F3F3F"/>
                </a:solidFill>
                <a:latin typeface="Verdana"/>
                <a:cs typeface="Verdana"/>
              </a:rPr>
              <a:t>lec</a:t>
            </a:r>
            <a:r>
              <a:rPr sz="1800" i="1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9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i="1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i="1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1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800" i="1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i="1" spc="-10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i="1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9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-5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i="1" spc="70" dirty="0">
                <a:solidFill>
                  <a:srgbClr val="3F3F3F"/>
                </a:solidFill>
                <a:latin typeface="Verdana"/>
                <a:cs typeface="Verdana"/>
              </a:rPr>
              <a:t>e  </a:t>
            </a:r>
            <a:r>
              <a:rPr sz="1800" i="1" spc="-5" dirty="0">
                <a:solidFill>
                  <a:srgbClr val="3F3F3F"/>
                </a:solidFill>
                <a:latin typeface="Verdana"/>
                <a:cs typeface="Verdana"/>
              </a:rPr>
              <a:t>counter</a:t>
            </a:r>
            <a:r>
              <a:rPr sz="1800" i="1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30" dirty="0">
                <a:solidFill>
                  <a:srgbClr val="3F3F3F"/>
                </a:solidFill>
                <a:latin typeface="Verdana"/>
                <a:cs typeface="Verdana"/>
              </a:rPr>
              <a:t>operates.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24200" y="3459479"/>
            <a:ext cx="996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19" dirty="0">
                <a:solidFill>
                  <a:srgbClr val="A42F0F"/>
                </a:solidFill>
                <a:latin typeface="MS UI Gothic"/>
                <a:cs typeface="MS UI Gothic"/>
              </a:rPr>
              <a:t></a:t>
            </a:r>
            <a:endParaRPr sz="1600">
              <a:latin typeface="MS UI Gothic"/>
              <a:cs typeface="MS UI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09950" y="3481070"/>
            <a:ext cx="7708900" cy="48768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ts val="1720"/>
              </a:lnSpc>
              <a:spcBef>
                <a:spcPts val="325"/>
              </a:spcBef>
            </a:pPr>
            <a:r>
              <a:rPr sz="1600" i="1" spc="-180" dirty="0">
                <a:solidFill>
                  <a:srgbClr val="3F3F3F"/>
                </a:solidFill>
                <a:latin typeface="Verdana"/>
                <a:cs typeface="Verdana"/>
              </a:rPr>
              <a:t>If</a:t>
            </a:r>
            <a:r>
              <a:rPr sz="1600" i="1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10" dirty="0">
                <a:solidFill>
                  <a:srgbClr val="3F3F3F"/>
                </a:solidFill>
                <a:latin typeface="Verdana"/>
                <a:cs typeface="Verdana"/>
              </a:rPr>
              <a:t>two</a:t>
            </a:r>
            <a:r>
              <a:rPr sz="1600" i="1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45" dirty="0">
                <a:solidFill>
                  <a:srgbClr val="3F3F3F"/>
                </a:solidFill>
                <a:latin typeface="Verdana"/>
                <a:cs typeface="Verdana"/>
              </a:rPr>
              <a:t>bytes</a:t>
            </a:r>
            <a:r>
              <a:rPr sz="1600" i="1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3F3F3F"/>
                </a:solidFill>
                <a:latin typeface="Verdana"/>
                <a:cs typeface="Verdana"/>
              </a:rPr>
              <a:t>are</a:t>
            </a:r>
            <a:r>
              <a:rPr sz="16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15" dirty="0">
                <a:solidFill>
                  <a:srgbClr val="3F3F3F"/>
                </a:solidFill>
                <a:latin typeface="Verdana"/>
                <a:cs typeface="Verdana"/>
              </a:rPr>
              <a:t>programmed,</a:t>
            </a:r>
            <a:r>
              <a:rPr sz="1600" i="1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25" dirty="0">
                <a:solidFill>
                  <a:srgbClr val="3F3F3F"/>
                </a:solidFill>
                <a:latin typeface="Verdana"/>
                <a:cs typeface="Verdana"/>
              </a:rPr>
              <a:t>then</a:t>
            </a:r>
            <a:r>
              <a:rPr sz="1600" i="1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1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600" i="1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140" dirty="0">
                <a:solidFill>
                  <a:srgbClr val="3F3F3F"/>
                </a:solidFill>
                <a:latin typeface="Verdana"/>
                <a:cs typeface="Verdana"/>
              </a:rPr>
              <a:t>first</a:t>
            </a:r>
            <a:r>
              <a:rPr sz="1600" i="1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5" dirty="0">
                <a:solidFill>
                  <a:srgbClr val="3F3F3F"/>
                </a:solidFill>
                <a:latin typeface="Verdana"/>
                <a:cs typeface="Verdana"/>
              </a:rPr>
              <a:t>byte</a:t>
            </a:r>
            <a:r>
              <a:rPr sz="1600" i="1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190" dirty="0">
                <a:solidFill>
                  <a:srgbClr val="3F3F3F"/>
                </a:solidFill>
                <a:latin typeface="Verdana"/>
                <a:cs typeface="Verdana"/>
              </a:rPr>
              <a:t>(LSB)</a:t>
            </a:r>
            <a:r>
              <a:rPr sz="16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70" dirty="0">
                <a:solidFill>
                  <a:srgbClr val="3F3F3F"/>
                </a:solidFill>
                <a:latin typeface="Verdana"/>
                <a:cs typeface="Verdana"/>
              </a:rPr>
              <a:t>stops</a:t>
            </a:r>
            <a:r>
              <a:rPr sz="16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1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6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10" dirty="0">
                <a:solidFill>
                  <a:srgbClr val="3F3F3F"/>
                </a:solidFill>
                <a:latin typeface="Verdana"/>
                <a:cs typeface="Verdana"/>
              </a:rPr>
              <a:t>count,</a:t>
            </a:r>
            <a:r>
              <a:rPr sz="1600" i="1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60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600" i="1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15" dirty="0">
                <a:solidFill>
                  <a:srgbClr val="3F3F3F"/>
                </a:solidFill>
                <a:latin typeface="Verdana"/>
                <a:cs typeface="Verdana"/>
              </a:rPr>
              <a:t>the </a:t>
            </a:r>
            <a:r>
              <a:rPr sz="1600" i="1" spc="-5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30" dirty="0">
                <a:solidFill>
                  <a:srgbClr val="3F3F3F"/>
                </a:solidFill>
                <a:latin typeface="Verdana"/>
                <a:cs typeface="Verdana"/>
              </a:rPr>
              <a:t>second</a:t>
            </a:r>
            <a:r>
              <a:rPr sz="1600" i="1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3F3F3F"/>
                </a:solidFill>
                <a:latin typeface="Verdana"/>
                <a:cs typeface="Verdana"/>
              </a:rPr>
              <a:t>byte</a:t>
            </a:r>
            <a:r>
              <a:rPr sz="1600" i="1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145" dirty="0">
                <a:solidFill>
                  <a:srgbClr val="3F3F3F"/>
                </a:solidFill>
                <a:latin typeface="Verdana"/>
                <a:cs typeface="Verdana"/>
              </a:rPr>
              <a:t>(MSB) </a:t>
            </a:r>
            <a:r>
              <a:rPr sz="1600" i="1" spc="-114" dirty="0">
                <a:solidFill>
                  <a:srgbClr val="3F3F3F"/>
                </a:solidFill>
                <a:latin typeface="Verdana"/>
                <a:cs typeface="Verdana"/>
              </a:rPr>
              <a:t>starts </a:t>
            </a:r>
            <a:r>
              <a:rPr sz="1600" i="1" spc="-1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6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5" dirty="0">
                <a:solidFill>
                  <a:srgbClr val="3F3F3F"/>
                </a:solidFill>
                <a:latin typeface="Verdana"/>
                <a:cs typeface="Verdana"/>
              </a:rPr>
              <a:t>counter</a:t>
            </a:r>
            <a:r>
              <a:rPr sz="1600" i="1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65" dirty="0">
                <a:solidFill>
                  <a:srgbClr val="3F3F3F"/>
                </a:solidFill>
                <a:latin typeface="Verdana"/>
                <a:cs typeface="Verdana"/>
              </a:rPr>
              <a:t>with</a:t>
            </a:r>
            <a:r>
              <a:rPr sz="16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1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600" i="1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15" dirty="0">
                <a:solidFill>
                  <a:srgbClr val="3F3F3F"/>
                </a:solidFill>
                <a:latin typeface="Verdana"/>
                <a:cs typeface="Verdana"/>
              </a:rPr>
              <a:t>new</a:t>
            </a:r>
            <a:r>
              <a:rPr sz="1600" i="1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10" dirty="0">
                <a:solidFill>
                  <a:srgbClr val="3F3F3F"/>
                </a:solidFill>
                <a:latin typeface="Verdana"/>
                <a:cs typeface="Verdana"/>
              </a:rPr>
              <a:t>count.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0739" y="566420"/>
            <a:ext cx="73501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80365" algn="l"/>
              </a:tabLst>
            </a:pPr>
            <a:r>
              <a:rPr sz="4800" b="0" spc="-3052" baseline="5208" dirty="0">
                <a:solidFill>
                  <a:srgbClr val="A42F0F"/>
                </a:solidFill>
                <a:latin typeface="MS UI Gothic"/>
                <a:cs typeface="MS UI Gothic"/>
              </a:rPr>
              <a:t>	</a:t>
            </a:r>
            <a:r>
              <a:rPr sz="3200" spc="-155" dirty="0">
                <a:solidFill>
                  <a:srgbClr val="3F3F3F"/>
                </a:solidFill>
              </a:rPr>
              <a:t>Mo</a:t>
            </a:r>
            <a:r>
              <a:rPr sz="3200" spc="-140" dirty="0">
                <a:solidFill>
                  <a:srgbClr val="3F3F3F"/>
                </a:solidFill>
              </a:rPr>
              <a:t>d</a:t>
            </a:r>
            <a:r>
              <a:rPr sz="3200" spc="-80" dirty="0">
                <a:solidFill>
                  <a:srgbClr val="3F3F3F"/>
                </a:solidFill>
              </a:rPr>
              <a:t>e</a:t>
            </a:r>
            <a:r>
              <a:rPr sz="3200" spc="-200" dirty="0">
                <a:solidFill>
                  <a:srgbClr val="3F3F3F"/>
                </a:solidFill>
              </a:rPr>
              <a:t> </a:t>
            </a:r>
            <a:r>
              <a:rPr sz="3200" spc="-480" dirty="0">
                <a:solidFill>
                  <a:srgbClr val="3F3F3F"/>
                </a:solidFill>
              </a:rPr>
              <a:t>0</a:t>
            </a:r>
            <a:r>
              <a:rPr sz="3200" spc="-395" dirty="0">
                <a:solidFill>
                  <a:srgbClr val="3F3F3F"/>
                </a:solidFill>
              </a:rPr>
              <a:t>:</a:t>
            </a:r>
            <a:r>
              <a:rPr sz="3200" spc="-200" dirty="0">
                <a:solidFill>
                  <a:srgbClr val="3F3F3F"/>
                </a:solidFill>
              </a:rPr>
              <a:t> </a:t>
            </a:r>
            <a:r>
              <a:rPr sz="3200" spc="-855" dirty="0">
                <a:solidFill>
                  <a:srgbClr val="3F3F3F"/>
                </a:solidFill>
              </a:rPr>
              <a:t>I</a:t>
            </a:r>
            <a:r>
              <a:rPr sz="3200" spc="-305" dirty="0">
                <a:solidFill>
                  <a:srgbClr val="3F3F3F"/>
                </a:solidFill>
              </a:rPr>
              <a:t>nt</a:t>
            </a:r>
            <a:r>
              <a:rPr sz="3200" spc="-335" dirty="0">
                <a:solidFill>
                  <a:srgbClr val="3F3F3F"/>
                </a:solidFill>
              </a:rPr>
              <a:t>e</a:t>
            </a:r>
            <a:r>
              <a:rPr sz="3200" spc="-390" dirty="0">
                <a:solidFill>
                  <a:srgbClr val="3F3F3F"/>
                </a:solidFill>
              </a:rPr>
              <a:t>rru</a:t>
            </a:r>
            <a:r>
              <a:rPr sz="3200" spc="-484" dirty="0">
                <a:solidFill>
                  <a:srgbClr val="3F3F3F"/>
                </a:solidFill>
              </a:rPr>
              <a:t>p</a:t>
            </a:r>
            <a:r>
              <a:rPr sz="3200" spc="-500" dirty="0">
                <a:solidFill>
                  <a:srgbClr val="3F3F3F"/>
                </a:solidFill>
              </a:rPr>
              <a:t>t</a:t>
            </a:r>
            <a:r>
              <a:rPr sz="3200" spc="-204" dirty="0">
                <a:solidFill>
                  <a:srgbClr val="3F3F3F"/>
                </a:solidFill>
              </a:rPr>
              <a:t> </a:t>
            </a:r>
            <a:r>
              <a:rPr sz="3200" spc="-254" dirty="0">
                <a:solidFill>
                  <a:srgbClr val="3F3F3F"/>
                </a:solidFill>
              </a:rPr>
              <a:t>o</a:t>
            </a:r>
            <a:r>
              <a:rPr sz="3200" spc="-260" dirty="0">
                <a:solidFill>
                  <a:srgbClr val="3F3F3F"/>
                </a:solidFill>
              </a:rPr>
              <a:t>n</a:t>
            </a:r>
            <a:r>
              <a:rPr sz="3200" spc="-200" dirty="0">
                <a:solidFill>
                  <a:srgbClr val="3F3F3F"/>
                </a:solidFill>
              </a:rPr>
              <a:t> </a:t>
            </a:r>
            <a:r>
              <a:rPr sz="3200" spc="-315" dirty="0">
                <a:solidFill>
                  <a:srgbClr val="3F3F3F"/>
                </a:solidFill>
              </a:rPr>
              <a:t>ter</a:t>
            </a:r>
            <a:r>
              <a:rPr sz="3200" spc="-595" dirty="0">
                <a:solidFill>
                  <a:srgbClr val="3F3F3F"/>
                </a:solidFill>
              </a:rPr>
              <a:t>m</a:t>
            </a:r>
            <a:r>
              <a:rPr sz="3200" spc="-340" dirty="0">
                <a:solidFill>
                  <a:srgbClr val="3F3F3F"/>
                </a:solidFill>
              </a:rPr>
              <a:t>i</a:t>
            </a:r>
            <a:r>
              <a:rPr sz="3200" spc="-200" dirty="0">
                <a:solidFill>
                  <a:srgbClr val="3F3F3F"/>
                </a:solidFill>
              </a:rPr>
              <a:t>na</a:t>
            </a:r>
            <a:r>
              <a:rPr sz="3200" spc="-330" dirty="0">
                <a:solidFill>
                  <a:srgbClr val="3F3F3F"/>
                </a:solidFill>
              </a:rPr>
              <a:t>l</a:t>
            </a:r>
            <a:r>
              <a:rPr sz="3200" spc="-200" dirty="0">
                <a:solidFill>
                  <a:srgbClr val="3F3F3F"/>
                </a:solidFill>
              </a:rPr>
              <a:t> </a:t>
            </a:r>
            <a:r>
              <a:rPr sz="3200" dirty="0">
                <a:solidFill>
                  <a:srgbClr val="3F3F3F"/>
                </a:solidFill>
              </a:rPr>
              <a:t>c</a:t>
            </a:r>
            <a:r>
              <a:rPr sz="3200" spc="10" dirty="0">
                <a:solidFill>
                  <a:srgbClr val="3F3F3F"/>
                </a:solidFill>
              </a:rPr>
              <a:t>o</a:t>
            </a:r>
            <a:r>
              <a:rPr sz="3200" spc="-415" dirty="0">
                <a:solidFill>
                  <a:srgbClr val="3F3F3F"/>
                </a:solidFill>
              </a:rPr>
              <a:t>unt</a:t>
            </a:r>
            <a:endParaRPr sz="3200">
              <a:latin typeface="MS UI Gothic"/>
              <a:cs typeface="MS UI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3962400"/>
            <a:ext cx="8001000" cy="18288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53970" y="1634490"/>
            <a:ext cx="653034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-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output becomes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logic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when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control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word 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written</a:t>
            </a:r>
            <a:endParaRPr sz="2400">
              <a:latin typeface="Arial MT"/>
              <a:cs typeface="Arial MT"/>
            </a:endParaRPr>
          </a:p>
          <a:p>
            <a:pPr marL="12700" marR="394335">
              <a:lnSpc>
                <a:spcPct val="100000"/>
              </a:lnSpc>
            </a:pPr>
            <a:r>
              <a:rPr sz="3600" spc="-7" baseline="3472" dirty="0">
                <a:latin typeface="Arial MT"/>
                <a:cs typeface="Arial MT"/>
              </a:rPr>
              <a:t>-</a:t>
            </a:r>
            <a:r>
              <a:rPr sz="2400" spc="-5" dirty="0">
                <a:latin typeface="Arial MT"/>
                <a:cs typeface="Arial MT"/>
              </a:rPr>
              <a:t>and remains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there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until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plus 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number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programmed</a:t>
            </a:r>
            <a:r>
              <a:rPr sz="2400" spc="-5" dirty="0">
                <a:latin typeface="Arial MT"/>
                <a:cs typeface="Arial MT"/>
              </a:rPr>
              <a:t> counts</a:t>
            </a:r>
            <a:endParaRPr sz="2400">
              <a:latin typeface="Arial MT"/>
              <a:cs typeface="Arial MT"/>
            </a:endParaRPr>
          </a:p>
          <a:p>
            <a:pPr marL="12700" marR="59055">
              <a:lnSpc>
                <a:spcPct val="100000"/>
              </a:lnSpc>
            </a:pPr>
            <a:r>
              <a:rPr sz="3600" spc="-7" baseline="3472" dirty="0">
                <a:latin typeface="Arial MT"/>
                <a:cs typeface="Arial MT"/>
              </a:rPr>
              <a:t>-</a:t>
            </a:r>
            <a:r>
              <a:rPr sz="2400" spc="-5" dirty="0">
                <a:latin typeface="Arial MT"/>
                <a:cs typeface="Arial MT"/>
              </a:rPr>
              <a:t>When the </a:t>
            </a:r>
            <a:r>
              <a:rPr sz="2400" dirty="0">
                <a:latin typeface="Arial MT"/>
                <a:cs typeface="Arial MT"/>
              </a:rPr>
              <a:t>Gate </a:t>
            </a:r>
            <a:r>
              <a:rPr sz="2400" spc="-5" dirty="0">
                <a:latin typeface="Arial MT"/>
                <a:cs typeface="Arial MT"/>
              </a:rPr>
              <a:t>goes low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counter pauses. </a:t>
            </a:r>
            <a:r>
              <a:rPr sz="2400" dirty="0">
                <a:latin typeface="Arial MT"/>
                <a:cs typeface="Arial MT"/>
              </a:rPr>
              <a:t>It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resumes</a:t>
            </a:r>
            <a:r>
              <a:rPr sz="2400" spc="-5" dirty="0">
                <a:latin typeface="Arial MT"/>
                <a:cs typeface="Arial MT"/>
              </a:rPr>
              <a:t> when Gates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becomes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high </a:t>
            </a:r>
            <a:r>
              <a:rPr sz="2400" spc="-5" dirty="0">
                <a:latin typeface="Arial MT"/>
                <a:cs typeface="Arial MT"/>
              </a:rPr>
              <a:t>again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1339" y="447040"/>
            <a:ext cx="77069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07845" algn="l"/>
                <a:tab pos="6125210" algn="l"/>
              </a:tabLst>
            </a:pPr>
            <a:r>
              <a:rPr sz="2800" spc="-185" dirty="0">
                <a:solidFill>
                  <a:srgbClr val="3F3F3F"/>
                </a:solidFill>
              </a:rPr>
              <a:t>MOD</a:t>
            </a:r>
            <a:r>
              <a:rPr sz="2800" spc="-459" dirty="0">
                <a:solidFill>
                  <a:srgbClr val="3F3F3F"/>
                </a:solidFill>
              </a:rPr>
              <a:t>E</a:t>
            </a:r>
            <a:r>
              <a:rPr sz="2800" spc="-180" dirty="0">
                <a:solidFill>
                  <a:srgbClr val="3F3F3F"/>
                </a:solidFill>
              </a:rPr>
              <a:t> </a:t>
            </a:r>
            <a:r>
              <a:rPr sz="2800" spc="-335" dirty="0">
                <a:solidFill>
                  <a:srgbClr val="3F3F3F"/>
                </a:solidFill>
              </a:rPr>
              <a:t>1:</a:t>
            </a:r>
            <a:r>
              <a:rPr sz="2800" spc="-285" dirty="0">
                <a:solidFill>
                  <a:srgbClr val="3F3F3F"/>
                </a:solidFill>
              </a:rPr>
              <a:t>-</a:t>
            </a:r>
            <a:r>
              <a:rPr sz="2800" dirty="0">
                <a:solidFill>
                  <a:srgbClr val="3F3F3F"/>
                </a:solidFill>
              </a:rPr>
              <a:t>	</a:t>
            </a:r>
            <a:r>
              <a:rPr sz="2800" spc="-450" dirty="0">
                <a:solidFill>
                  <a:srgbClr val="3F3F3F"/>
                </a:solidFill>
              </a:rPr>
              <a:t>H</a:t>
            </a:r>
            <a:r>
              <a:rPr sz="2800" spc="-305" dirty="0">
                <a:solidFill>
                  <a:srgbClr val="3F3F3F"/>
                </a:solidFill>
              </a:rPr>
              <a:t>a</a:t>
            </a:r>
            <a:r>
              <a:rPr sz="2800" spc="-225" dirty="0">
                <a:solidFill>
                  <a:srgbClr val="3F3F3F"/>
                </a:solidFill>
              </a:rPr>
              <a:t>r</a:t>
            </a:r>
            <a:r>
              <a:rPr sz="2800" spc="-265" dirty="0">
                <a:solidFill>
                  <a:srgbClr val="3F3F3F"/>
                </a:solidFill>
              </a:rPr>
              <a:t>d</a:t>
            </a:r>
            <a:r>
              <a:rPr sz="2800" spc="-370" dirty="0">
                <a:solidFill>
                  <a:srgbClr val="3F3F3F"/>
                </a:solidFill>
              </a:rPr>
              <a:t>w</a:t>
            </a:r>
            <a:r>
              <a:rPr sz="2800" spc="-305" dirty="0">
                <a:solidFill>
                  <a:srgbClr val="3F3F3F"/>
                </a:solidFill>
              </a:rPr>
              <a:t>a</a:t>
            </a:r>
            <a:r>
              <a:rPr sz="2800" spc="-225" dirty="0">
                <a:solidFill>
                  <a:srgbClr val="3F3F3F"/>
                </a:solidFill>
              </a:rPr>
              <a:t>r</a:t>
            </a:r>
            <a:r>
              <a:rPr sz="2800" spc="-70" dirty="0">
                <a:solidFill>
                  <a:srgbClr val="3F3F3F"/>
                </a:solidFill>
              </a:rPr>
              <a:t>e</a:t>
            </a:r>
            <a:r>
              <a:rPr sz="2800" spc="-190" dirty="0">
                <a:solidFill>
                  <a:srgbClr val="3F3F3F"/>
                </a:solidFill>
              </a:rPr>
              <a:t> </a:t>
            </a:r>
            <a:r>
              <a:rPr sz="2800" spc="-490" dirty="0">
                <a:solidFill>
                  <a:srgbClr val="3F3F3F"/>
                </a:solidFill>
              </a:rPr>
              <a:t>r</a:t>
            </a:r>
            <a:r>
              <a:rPr sz="2800" spc="-85" dirty="0">
                <a:solidFill>
                  <a:srgbClr val="3F3F3F"/>
                </a:solidFill>
              </a:rPr>
              <a:t>e</a:t>
            </a:r>
            <a:r>
              <a:rPr sz="2800" spc="-455" dirty="0">
                <a:solidFill>
                  <a:srgbClr val="3F3F3F"/>
                </a:solidFill>
              </a:rPr>
              <a:t>t</a:t>
            </a:r>
            <a:r>
              <a:rPr sz="2800" spc="-490" dirty="0">
                <a:solidFill>
                  <a:srgbClr val="3F3F3F"/>
                </a:solidFill>
              </a:rPr>
              <a:t>r</a:t>
            </a:r>
            <a:r>
              <a:rPr sz="2800" spc="-150" dirty="0">
                <a:solidFill>
                  <a:srgbClr val="3F3F3F"/>
                </a:solidFill>
              </a:rPr>
              <a:t>igge</a:t>
            </a:r>
            <a:r>
              <a:rPr sz="2800" spc="-500" dirty="0">
                <a:solidFill>
                  <a:srgbClr val="3F3F3F"/>
                </a:solidFill>
              </a:rPr>
              <a:t>r</a:t>
            </a:r>
            <a:r>
              <a:rPr sz="2800" spc="-180" dirty="0">
                <a:solidFill>
                  <a:srgbClr val="3F3F3F"/>
                </a:solidFill>
              </a:rPr>
              <a:t> </a:t>
            </a:r>
            <a:r>
              <a:rPr sz="2800" spc="-70" dirty="0">
                <a:solidFill>
                  <a:srgbClr val="3F3F3F"/>
                </a:solidFill>
              </a:rPr>
              <a:t>a</a:t>
            </a:r>
            <a:r>
              <a:rPr sz="2800" spc="-80" dirty="0">
                <a:solidFill>
                  <a:srgbClr val="3F3F3F"/>
                </a:solidFill>
              </a:rPr>
              <a:t>b</a:t>
            </a:r>
            <a:r>
              <a:rPr sz="2800" spc="-285" dirty="0">
                <a:solidFill>
                  <a:srgbClr val="3F3F3F"/>
                </a:solidFill>
              </a:rPr>
              <a:t>l</a:t>
            </a:r>
            <a:r>
              <a:rPr sz="2800" spc="-70" dirty="0">
                <a:solidFill>
                  <a:srgbClr val="3F3F3F"/>
                </a:solidFill>
              </a:rPr>
              <a:t>e</a:t>
            </a:r>
            <a:r>
              <a:rPr sz="2800" dirty="0">
                <a:solidFill>
                  <a:srgbClr val="3F3F3F"/>
                </a:solidFill>
              </a:rPr>
              <a:t>	</a:t>
            </a:r>
            <a:r>
              <a:rPr sz="2800" spc="-145" dirty="0">
                <a:solidFill>
                  <a:srgbClr val="3F3F3F"/>
                </a:solidFill>
              </a:rPr>
              <a:t>o</a:t>
            </a:r>
            <a:r>
              <a:rPr sz="2800" spc="-204" dirty="0">
                <a:solidFill>
                  <a:srgbClr val="3F3F3F"/>
                </a:solidFill>
              </a:rPr>
              <a:t>n</a:t>
            </a:r>
            <a:r>
              <a:rPr sz="2800" spc="-185" dirty="0">
                <a:solidFill>
                  <a:srgbClr val="3F3F3F"/>
                </a:solidFill>
              </a:rPr>
              <a:t>e</a:t>
            </a:r>
            <a:r>
              <a:rPr sz="2800" spc="-180" dirty="0">
                <a:solidFill>
                  <a:srgbClr val="3F3F3F"/>
                </a:solidFill>
              </a:rPr>
              <a:t> </a:t>
            </a:r>
            <a:r>
              <a:rPr sz="2800" spc="-425" dirty="0">
                <a:solidFill>
                  <a:srgbClr val="3F3F3F"/>
                </a:solidFill>
              </a:rPr>
              <a:t>s</a:t>
            </a:r>
            <a:r>
              <a:rPr sz="2800" spc="-235" dirty="0">
                <a:solidFill>
                  <a:srgbClr val="3F3F3F"/>
                </a:solidFill>
              </a:rPr>
              <a:t>ho</a:t>
            </a:r>
            <a:r>
              <a:rPr sz="2800" spc="-340" dirty="0">
                <a:solidFill>
                  <a:srgbClr val="3F3F3F"/>
                </a:solidFill>
              </a:rPr>
              <a:t>t.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2820670" y="1253490"/>
            <a:ext cx="6694805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triggering</a:t>
            </a:r>
            <a:r>
              <a:rPr sz="1800" dirty="0">
                <a:latin typeface="Arial MT"/>
                <a:cs typeface="Arial MT"/>
              </a:rPr>
              <a:t> must </a:t>
            </a:r>
            <a:r>
              <a:rPr sz="1800" spc="-5" dirty="0">
                <a:latin typeface="Arial MT"/>
                <a:cs typeface="Arial MT"/>
              </a:rPr>
              <a:t>be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done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through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</a:t>
            </a:r>
            <a:r>
              <a:rPr sz="1800" dirty="0">
                <a:latin typeface="Arial MT"/>
                <a:cs typeface="Arial MT"/>
              </a:rPr>
              <a:t> GATE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input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sending</a:t>
            </a:r>
            <a:r>
              <a:rPr sz="1800" dirty="0">
                <a:latin typeface="Arial MT"/>
                <a:cs typeface="Arial MT"/>
              </a:rPr>
              <a:t> a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0-to-1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pulse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" dirty="0">
                <a:latin typeface="Arial MT"/>
                <a:cs typeface="Arial MT"/>
              </a:rPr>
              <a:t> it.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Steps:</a:t>
            </a:r>
            <a:endParaRPr sz="1800">
              <a:latin typeface="Arial MT"/>
              <a:cs typeface="Arial MT"/>
            </a:endParaRPr>
          </a:p>
          <a:p>
            <a:pPr marL="278765" indent="-266700">
              <a:lnSpc>
                <a:spcPct val="100000"/>
              </a:lnSpc>
              <a:buAutoNum type="arabicParenR"/>
              <a:tabLst>
                <a:tab pos="279400" algn="l"/>
              </a:tabLst>
            </a:pPr>
            <a:r>
              <a:rPr sz="1800" spc="-10" dirty="0">
                <a:latin typeface="Arial MT"/>
                <a:cs typeface="Arial MT"/>
              </a:rPr>
              <a:t>Load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count </a:t>
            </a:r>
            <a:r>
              <a:rPr sz="1800" spc="-5" dirty="0">
                <a:latin typeface="Arial MT"/>
                <a:cs typeface="Arial MT"/>
              </a:rPr>
              <a:t>register</a:t>
            </a:r>
            <a:endParaRPr sz="1800">
              <a:latin typeface="Arial MT"/>
              <a:cs typeface="Arial MT"/>
            </a:endParaRPr>
          </a:p>
          <a:p>
            <a:pPr marL="12700" marR="393700">
              <a:lnSpc>
                <a:spcPct val="100000"/>
              </a:lnSpc>
              <a:buAutoNum type="arabicParenR"/>
              <a:tabLst>
                <a:tab pos="279400" algn="l"/>
              </a:tabLst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0-to-1 </a:t>
            </a:r>
            <a:r>
              <a:rPr sz="1800" spc="-10" dirty="0">
                <a:latin typeface="Arial MT"/>
                <a:cs typeface="Arial MT"/>
              </a:rPr>
              <a:t>pulse </a:t>
            </a:r>
            <a:r>
              <a:rPr sz="1800" spc="-5" dirty="0">
                <a:latin typeface="Arial MT"/>
                <a:cs typeface="Arial MT"/>
              </a:rPr>
              <a:t>must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sent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to 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GATE </a:t>
            </a:r>
            <a:r>
              <a:rPr sz="1800" spc="-10" dirty="0">
                <a:latin typeface="Arial MT"/>
                <a:cs typeface="Arial MT"/>
              </a:rPr>
              <a:t>input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to trigger the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count.</a:t>
            </a:r>
            <a:endParaRPr sz="1800">
              <a:latin typeface="Arial MT"/>
              <a:cs typeface="Arial MT"/>
            </a:endParaRPr>
          </a:p>
          <a:p>
            <a:pPr marL="12700" marR="231140">
              <a:lnSpc>
                <a:spcPct val="100000"/>
              </a:lnSpc>
              <a:buAutoNum type="arabicParenR"/>
              <a:tabLst>
                <a:tab pos="279400" algn="l"/>
              </a:tabLst>
            </a:pPr>
            <a:r>
              <a:rPr sz="1800" spc="-5" dirty="0">
                <a:latin typeface="Arial MT"/>
                <a:cs typeface="Arial MT"/>
              </a:rPr>
              <a:t>In </a:t>
            </a:r>
            <a:r>
              <a:rPr sz="1800" spc="-10" dirty="0">
                <a:latin typeface="Arial MT"/>
                <a:cs typeface="Arial MT"/>
              </a:rPr>
              <a:t>Mode </a:t>
            </a:r>
            <a:r>
              <a:rPr sz="1800" spc="-5" dirty="0">
                <a:latin typeface="Arial MT"/>
                <a:cs typeface="Arial MT"/>
              </a:rPr>
              <a:t>1, after </a:t>
            </a:r>
            <a:r>
              <a:rPr sz="1800" spc="-10" dirty="0">
                <a:latin typeface="Arial MT"/>
                <a:cs typeface="Arial MT"/>
              </a:rPr>
              <a:t>sending </a:t>
            </a:r>
            <a:r>
              <a:rPr sz="1800" spc="-5" dirty="0">
                <a:latin typeface="Arial MT"/>
                <a:cs typeface="Arial MT"/>
              </a:rPr>
              <a:t>the 0-to-1 pulse </a:t>
            </a:r>
            <a:r>
              <a:rPr sz="1800" dirty="0">
                <a:latin typeface="Arial MT"/>
                <a:cs typeface="Arial MT"/>
              </a:rPr>
              <a:t>to GATE, </a:t>
            </a:r>
            <a:r>
              <a:rPr sz="1800" spc="-10" dirty="0">
                <a:latin typeface="Arial MT"/>
                <a:cs typeface="Arial MT"/>
              </a:rPr>
              <a:t>OUT 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becomes </a:t>
            </a:r>
            <a:r>
              <a:rPr sz="1800" spc="-5" dirty="0">
                <a:latin typeface="Arial MT"/>
                <a:cs typeface="Arial MT"/>
              </a:rPr>
              <a:t>low and </a:t>
            </a:r>
            <a:r>
              <a:rPr sz="1800" spc="-10" dirty="0">
                <a:latin typeface="Arial MT"/>
                <a:cs typeface="Arial MT"/>
              </a:rPr>
              <a:t>stays </a:t>
            </a:r>
            <a:r>
              <a:rPr sz="1800" spc="-5" dirty="0">
                <a:latin typeface="Arial MT"/>
                <a:cs typeface="Arial MT"/>
              </a:rPr>
              <a:t>low for </a:t>
            </a:r>
            <a:r>
              <a:rPr sz="1800" dirty="0">
                <a:latin typeface="Arial MT"/>
                <a:cs typeface="Arial MT"/>
              </a:rPr>
              <a:t>a </a:t>
            </a:r>
            <a:r>
              <a:rPr sz="1800" spc="-10" dirty="0">
                <a:latin typeface="Arial MT"/>
                <a:cs typeface="Arial MT"/>
              </a:rPr>
              <a:t>duration of </a:t>
            </a:r>
            <a:r>
              <a:rPr sz="1800" spc="-5" dirty="0">
                <a:latin typeface="Arial MT"/>
                <a:cs typeface="Arial MT"/>
              </a:rPr>
              <a:t>N*T, </a:t>
            </a:r>
            <a:r>
              <a:rPr sz="1800" spc="-10" dirty="0">
                <a:latin typeface="Arial MT"/>
                <a:cs typeface="Arial MT"/>
              </a:rPr>
              <a:t>then </a:t>
            </a:r>
            <a:r>
              <a:rPr sz="1800" spc="-5" dirty="0">
                <a:latin typeface="Arial MT"/>
                <a:cs typeface="Arial MT"/>
              </a:rPr>
              <a:t>becomes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high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and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stays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high </a:t>
            </a:r>
            <a:r>
              <a:rPr sz="1800" spc="-10" dirty="0">
                <a:latin typeface="Arial MT"/>
                <a:cs typeface="Arial MT"/>
              </a:rPr>
              <a:t>until</a:t>
            </a:r>
            <a:r>
              <a:rPr sz="1800" spc="-5" dirty="0">
                <a:latin typeface="Arial MT"/>
                <a:cs typeface="Arial MT"/>
              </a:rPr>
              <a:t> the </a:t>
            </a:r>
            <a:r>
              <a:rPr sz="1800" dirty="0">
                <a:latin typeface="Arial MT"/>
                <a:cs typeface="Arial MT"/>
              </a:rPr>
              <a:t>GATE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is triggered </a:t>
            </a:r>
            <a:r>
              <a:rPr sz="1800" spc="-10" dirty="0">
                <a:latin typeface="Arial MT"/>
                <a:cs typeface="Arial MT"/>
              </a:rPr>
              <a:t>again.</a:t>
            </a:r>
            <a:endParaRPr sz="1800">
              <a:latin typeface="Arial MT"/>
              <a:cs typeface="Arial MT"/>
            </a:endParaRPr>
          </a:p>
          <a:p>
            <a:pPr marL="12700" marR="18415">
              <a:lnSpc>
                <a:spcPct val="100000"/>
              </a:lnSpc>
              <a:buAutoNum type="arabicParenR"/>
              <a:tabLst>
                <a:tab pos="279400" algn="l"/>
              </a:tabLst>
            </a:pPr>
            <a:r>
              <a:rPr sz="1800" spc="-5" dirty="0">
                <a:latin typeface="Arial MT"/>
                <a:cs typeface="Arial MT"/>
              </a:rPr>
              <a:t>If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during </a:t>
            </a:r>
            <a:r>
              <a:rPr sz="1800" spc="-1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activation,</a:t>
            </a:r>
            <a:r>
              <a:rPr sz="1800" dirty="0">
                <a:latin typeface="Arial MT"/>
                <a:cs typeface="Arial MT"/>
              </a:rPr>
              <a:t> a</a:t>
            </a:r>
            <a:r>
              <a:rPr sz="1800" spc="-5" dirty="0">
                <a:latin typeface="Arial MT"/>
                <a:cs typeface="Arial MT"/>
              </a:rPr>
              <a:t> retriggered </a:t>
            </a:r>
            <a:r>
              <a:rPr sz="1800" spc="-10" dirty="0">
                <a:latin typeface="Arial MT"/>
                <a:cs typeface="Arial MT"/>
              </a:rPr>
              <a:t>happened, </a:t>
            </a:r>
            <a:r>
              <a:rPr sz="1800" spc="-5" dirty="0">
                <a:latin typeface="Arial MT"/>
                <a:cs typeface="Arial MT"/>
              </a:rPr>
              <a:t>then restart the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down</a:t>
            </a:r>
            <a:r>
              <a:rPr sz="1800" spc="-10" dirty="0">
                <a:latin typeface="Arial MT"/>
                <a:cs typeface="Arial MT"/>
              </a:rPr>
              <a:t> counting.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4800600"/>
            <a:ext cx="76962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0810" y="656590"/>
            <a:ext cx="79057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0" dirty="0"/>
              <a:t>Mode</a:t>
            </a:r>
            <a:r>
              <a:rPr sz="2800" spc="-185" dirty="0"/>
              <a:t> </a:t>
            </a:r>
            <a:r>
              <a:rPr sz="2800" spc="-390" dirty="0"/>
              <a:t>2:</a:t>
            </a:r>
            <a:r>
              <a:rPr sz="2800" spc="-175" dirty="0"/>
              <a:t> </a:t>
            </a:r>
            <a:r>
              <a:rPr sz="2800" spc="-280" dirty="0"/>
              <a:t>Rate</a:t>
            </a:r>
            <a:r>
              <a:rPr sz="2800" spc="-190" dirty="0"/>
              <a:t> </a:t>
            </a:r>
            <a:r>
              <a:rPr sz="2800" spc="-225" dirty="0"/>
              <a:t>Generator</a:t>
            </a:r>
            <a:r>
              <a:rPr sz="2800" spc="-175" dirty="0"/>
              <a:t> </a:t>
            </a:r>
            <a:r>
              <a:rPr sz="2800" spc="-235" dirty="0"/>
              <a:t>(Divide-by-N</a:t>
            </a:r>
            <a:r>
              <a:rPr sz="2800" spc="-185" dirty="0"/>
              <a:t> </a:t>
            </a:r>
            <a:r>
              <a:rPr sz="2800" spc="-240" dirty="0"/>
              <a:t>counter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2517139" y="1245870"/>
            <a:ext cx="113664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210" dirty="0">
                <a:solidFill>
                  <a:srgbClr val="A42F0F"/>
                </a:solidFill>
                <a:latin typeface="MS UI Gothic"/>
                <a:cs typeface="MS UI Gothic"/>
              </a:rPr>
              <a:t></a:t>
            </a:r>
            <a:endParaRPr sz="1900">
              <a:latin typeface="MS UI Gothic"/>
              <a:cs typeface="MS UI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7139" y="1766569"/>
            <a:ext cx="113664" cy="7416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900" spc="-1210" dirty="0">
                <a:solidFill>
                  <a:srgbClr val="A42F0F"/>
                </a:solidFill>
                <a:latin typeface="MS UI Gothic"/>
                <a:cs typeface="MS UI Gothic"/>
              </a:rPr>
              <a:t></a:t>
            </a:r>
            <a:endParaRPr sz="1900">
              <a:latin typeface="MS UI Gothic"/>
              <a:cs typeface="MS UI Gothic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900" spc="-1210" dirty="0">
                <a:solidFill>
                  <a:srgbClr val="A42F0F"/>
                </a:solidFill>
                <a:latin typeface="MS UI Gothic"/>
                <a:cs typeface="MS UI Gothic"/>
              </a:rPr>
              <a:t></a:t>
            </a:r>
            <a:endParaRPr sz="1900">
              <a:latin typeface="MS UI Gothic"/>
              <a:cs typeface="MS UI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02889" y="1270000"/>
            <a:ext cx="7256780" cy="126365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>
              <a:lnSpc>
                <a:spcPct val="79800"/>
              </a:lnSpc>
              <a:spcBef>
                <a:spcPts val="560"/>
              </a:spcBef>
            </a:pPr>
            <a:r>
              <a:rPr sz="1900" i="1" spc="-204" dirty="0">
                <a:solidFill>
                  <a:srgbClr val="3F3F3F"/>
                </a:solidFill>
                <a:latin typeface="Verdana"/>
                <a:cs typeface="Verdana"/>
              </a:rPr>
              <a:t>In</a:t>
            </a:r>
            <a:r>
              <a:rPr sz="1900" i="1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15" dirty="0">
                <a:solidFill>
                  <a:srgbClr val="3F3F3F"/>
                </a:solidFill>
                <a:latin typeface="Verdana"/>
                <a:cs typeface="Verdana"/>
              </a:rPr>
              <a:t>Mode2,</a:t>
            </a:r>
            <a:r>
              <a:rPr sz="1900" i="1" spc="-114" dirty="0">
                <a:solidFill>
                  <a:srgbClr val="3F3F3F"/>
                </a:solidFill>
                <a:latin typeface="Verdana"/>
                <a:cs typeface="Verdana"/>
              </a:rPr>
              <a:t> if</a:t>
            </a:r>
            <a:r>
              <a:rPr sz="19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145" dirty="0">
                <a:solidFill>
                  <a:srgbClr val="3F3F3F"/>
                </a:solidFill>
                <a:latin typeface="Verdana"/>
                <a:cs typeface="Verdana"/>
              </a:rPr>
              <a:t>GATE=1,</a:t>
            </a:r>
            <a:r>
              <a:rPr sz="1900" i="1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125" dirty="0">
                <a:solidFill>
                  <a:srgbClr val="3F3F3F"/>
                </a:solidFill>
                <a:latin typeface="Verdana"/>
                <a:cs typeface="Verdana"/>
              </a:rPr>
              <a:t>OUT </a:t>
            </a:r>
            <a:r>
              <a:rPr sz="1900" i="1" spc="-110" dirty="0">
                <a:solidFill>
                  <a:srgbClr val="3F3F3F"/>
                </a:solidFill>
                <a:latin typeface="Verdana"/>
                <a:cs typeface="Verdana"/>
              </a:rPr>
              <a:t>will</a:t>
            </a:r>
            <a:r>
              <a:rPr sz="19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100" dirty="0">
                <a:solidFill>
                  <a:srgbClr val="3F3F3F"/>
                </a:solidFill>
                <a:latin typeface="Verdana"/>
                <a:cs typeface="Verdana"/>
              </a:rPr>
              <a:t>be</a:t>
            </a:r>
            <a:r>
              <a:rPr sz="19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45" dirty="0">
                <a:solidFill>
                  <a:srgbClr val="3F3F3F"/>
                </a:solidFill>
                <a:latin typeface="Verdana"/>
                <a:cs typeface="Verdana"/>
              </a:rPr>
              <a:t>high</a:t>
            </a:r>
            <a:r>
              <a:rPr sz="1900" i="1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75" dirty="0">
                <a:solidFill>
                  <a:srgbClr val="3F3F3F"/>
                </a:solidFill>
                <a:latin typeface="Verdana"/>
                <a:cs typeface="Verdana"/>
              </a:rPr>
              <a:t>for</a:t>
            </a:r>
            <a:r>
              <a:rPr sz="19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240" dirty="0">
                <a:solidFill>
                  <a:srgbClr val="3F3F3F"/>
                </a:solidFill>
                <a:latin typeface="Verdana"/>
                <a:cs typeface="Verdana"/>
              </a:rPr>
              <a:t>N*T,</a:t>
            </a:r>
            <a:r>
              <a:rPr sz="1900" i="1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5" dirty="0">
                <a:solidFill>
                  <a:srgbClr val="3F3F3F"/>
                </a:solidFill>
                <a:latin typeface="Verdana"/>
                <a:cs typeface="Verdana"/>
              </a:rPr>
              <a:t>goes</a:t>
            </a:r>
            <a:r>
              <a:rPr sz="1900" i="1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10" dirty="0">
                <a:solidFill>
                  <a:srgbClr val="3F3F3F"/>
                </a:solidFill>
                <a:latin typeface="Verdana"/>
                <a:cs typeface="Verdana"/>
              </a:rPr>
              <a:t>low</a:t>
            </a:r>
            <a:r>
              <a:rPr sz="1900" i="1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55" dirty="0">
                <a:solidFill>
                  <a:srgbClr val="3F3F3F"/>
                </a:solidFill>
                <a:latin typeface="Verdana"/>
                <a:cs typeface="Verdana"/>
              </a:rPr>
              <a:t>only</a:t>
            </a:r>
            <a:r>
              <a:rPr sz="19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75" dirty="0">
                <a:solidFill>
                  <a:srgbClr val="3F3F3F"/>
                </a:solidFill>
                <a:latin typeface="Verdana"/>
                <a:cs typeface="Verdana"/>
              </a:rPr>
              <a:t>for </a:t>
            </a:r>
            <a:r>
              <a:rPr sz="1900" i="1" spc="-6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40" dirty="0">
                <a:solidFill>
                  <a:srgbClr val="3F3F3F"/>
                </a:solidFill>
                <a:latin typeface="Verdana"/>
                <a:cs typeface="Verdana"/>
              </a:rPr>
              <a:t>one</a:t>
            </a:r>
            <a:r>
              <a:rPr sz="19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45" dirty="0">
                <a:solidFill>
                  <a:srgbClr val="3F3F3F"/>
                </a:solidFill>
                <a:latin typeface="Verdana"/>
                <a:cs typeface="Verdana"/>
              </a:rPr>
              <a:t>clock</a:t>
            </a:r>
            <a:r>
              <a:rPr sz="1900" i="1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70" dirty="0">
                <a:solidFill>
                  <a:srgbClr val="3F3F3F"/>
                </a:solidFill>
                <a:latin typeface="Verdana"/>
                <a:cs typeface="Verdana"/>
              </a:rPr>
              <a:t>pulse,</a:t>
            </a:r>
            <a:r>
              <a:rPr sz="1900" i="1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25" dirty="0">
                <a:solidFill>
                  <a:srgbClr val="3F3F3F"/>
                </a:solidFill>
                <a:latin typeface="Verdana"/>
                <a:cs typeface="Verdana"/>
              </a:rPr>
              <a:t>then</a:t>
            </a:r>
            <a:r>
              <a:rPr sz="1900" i="1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10" dirty="0">
                <a:solidFill>
                  <a:srgbClr val="3F3F3F"/>
                </a:solidFill>
                <a:latin typeface="Verdana"/>
                <a:cs typeface="Verdana"/>
              </a:rPr>
              <a:t>counter</a:t>
            </a:r>
            <a:r>
              <a:rPr sz="19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204" dirty="0">
                <a:solidFill>
                  <a:srgbClr val="3F3F3F"/>
                </a:solidFill>
                <a:latin typeface="Verdana"/>
                <a:cs typeface="Verdana"/>
              </a:rPr>
              <a:t>is</a:t>
            </a:r>
            <a:r>
              <a:rPr sz="1900" i="1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30" dirty="0">
                <a:solidFill>
                  <a:srgbClr val="3F3F3F"/>
                </a:solidFill>
                <a:latin typeface="Verdana"/>
                <a:cs typeface="Verdana"/>
              </a:rPr>
              <a:t>reloaded</a:t>
            </a:r>
            <a:r>
              <a:rPr sz="1900" i="1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20" dirty="0">
                <a:solidFill>
                  <a:srgbClr val="3F3F3F"/>
                </a:solidFill>
                <a:latin typeface="Verdana"/>
                <a:cs typeface="Verdana"/>
              </a:rPr>
              <a:t>automatically,</a:t>
            </a:r>
            <a:endParaRPr sz="1900">
              <a:latin typeface="Verdana"/>
              <a:cs typeface="Verdana"/>
            </a:endParaRPr>
          </a:p>
          <a:p>
            <a:pPr marL="12700" marR="340995">
              <a:lnSpc>
                <a:spcPct val="123700"/>
              </a:lnSpc>
              <a:spcBef>
                <a:spcPts val="10"/>
              </a:spcBef>
            </a:pPr>
            <a:r>
              <a:rPr sz="1900" i="1" spc="-100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900" i="1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60" dirty="0">
                <a:solidFill>
                  <a:srgbClr val="3F3F3F"/>
                </a:solidFill>
                <a:latin typeface="Verdana"/>
                <a:cs typeface="Verdana"/>
              </a:rPr>
              <a:t>cycle</a:t>
            </a:r>
            <a:r>
              <a:rPr sz="19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204" dirty="0">
                <a:solidFill>
                  <a:srgbClr val="3F3F3F"/>
                </a:solidFill>
                <a:latin typeface="Verdana"/>
                <a:cs typeface="Verdana"/>
              </a:rPr>
              <a:t>is</a:t>
            </a:r>
            <a:r>
              <a:rPr sz="1900" i="1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40" dirty="0">
                <a:solidFill>
                  <a:srgbClr val="3F3F3F"/>
                </a:solidFill>
                <a:latin typeface="Verdana"/>
                <a:cs typeface="Verdana"/>
              </a:rPr>
              <a:t>repeated</a:t>
            </a:r>
            <a:r>
              <a:rPr sz="19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100" dirty="0">
                <a:solidFill>
                  <a:srgbClr val="3F3F3F"/>
                </a:solidFill>
                <a:latin typeface="Verdana"/>
                <a:cs typeface="Verdana"/>
              </a:rPr>
              <a:t>until</a:t>
            </a:r>
            <a:r>
              <a:rPr sz="19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10" dirty="0">
                <a:solidFill>
                  <a:srgbClr val="3F3F3F"/>
                </a:solidFill>
                <a:latin typeface="Verdana"/>
                <a:cs typeface="Verdana"/>
              </a:rPr>
              <a:t>reprogrammed</a:t>
            </a:r>
            <a:r>
              <a:rPr sz="1900" i="1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80" dirty="0">
                <a:solidFill>
                  <a:srgbClr val="3F3F3F"/>
                </a:solidFill>
                <a:latin typeface="Verdana"/>
                <a:cs typeface="Verdana"/>
              </a:rPr>
              <a:t>or</a:t>
            </a:r>
            <a:r>
              <a:rPr sz="19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18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9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35" dirty="0">
                <a:solidFill>
                  <a:srgbClr val="3F3F3F"/>
                </a:solidFill>
                <a:latin typeface="Verdana"/>
                <a:cs typeface="Verdana"/>
              </a:rPr>
              <a:t>pin</a:t>
            </a:r>
            <a:r>
              <a:rPr sz="1900" i="1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90" dirty="0">
                <a:solidFill>
                  <a:srgbClr val="3F3F3F"/>
                </a:solidFill>
                <a:latin typeface="Verdana"/>
                <a:cs typeface="Verdana"/>
              </a:rPr>
              <a:t>set</a:t>
            </a:r>
            <a:r>
              <a:rPr sz="1900" i="1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5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1900" i="1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160" dirty="0">
                <a:solidFill>
                  <a:srgbClr val="3F3F3F"/>
                </a:solidFill>
                <a:latin typeface="Verdana"/>
                <a:cs typeface="Verdana"/>
              </a:rPr>
              <a:t>0. </a:t>
            </a:r>
            <a:r>
              <a:rPr sz="1900" i="1" spc="-6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900" i="1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900" i="1" spc="-6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900" i="1" spc="-5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900" i="1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9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320" dirty="0">
                <a:solidFill>
                  <a:srgbClr val="3F3F3F"/>
                </a:solidFill>
                <a:latin typeface="Verdana"/>
                <a:cs typeface="Verdana"/>
              </a:rPr>
              <a:t>=</a:t>
            </a:r>
            <a:r>
              <a:rPr sz="1900" i="1" spc="-245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19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15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900" i="1" spc="-254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900" i="1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15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900" i="1" spc="-15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900" i="1" spc="-14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900" i="1" spc="10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900" i="1" spc="8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900" i="1" spc="14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900" i="1" spc="-14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9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15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900" i="1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900" i="1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9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900" i="1" spc="-5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900" i="1" spc="-15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900" i="1" spc="-254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900" i="1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900" i="1" spc="-5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900" i="1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900" i="1" spc="100" dirty="0">
                <a:solidFill>
                  <a:srgbClr val="3F3F3F"/>
                </a:solidFill>
                <a:latin typeface="Verdana"/>
                <a:cs typeface="Verdana"/>
              </a:rPr>
              <a:t>de</a:t>
            </a:r>
            <a:r>
              <a:rPr sz="1900" i="1" spc="-170" dirty="0">
                <a:solidFill>
                  <a:srgbClr val="3F3F3F"/>
                </a:solidFill>
                <a:latin typeface="Verdana"/>
                <a:cs typeface="Verdana"/>
              </a:rPr>
              <a:t>.</a:t>
            </a:r>
            <a:endParaRPr sz="19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3352800"/>
            <a:ext cx="79248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0810" y="656590"/>
            <a:ext cx="72751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Mo</a:t>
            </a:r>
            <a:r>
              <a:rPr spc="-130" dirty="0"/>
              <a:t>d</a:t>
            </a:r>
            <a:r>
              <a:rPr spc="-80" dirty="0"/>
              <a:t>e</a:t>
            </a:r>
            <a:r>
              <a:rPr spc="-200" dirty="0"/>
              <a:t> </a:t>
            </a:r>
            <a:r>
              <a:rPr spc="-480" dirty="0"/>
              <a:t>3</a:t>
            </a:r>
            <a:r>
              <a:rPr spc="-395" dirty="0"/>
              <a:t>:</a:t>
            </a:r>
            <a:r>
              <a:rPr spc="-200" dirty="0"/>
              <a:t> </a:t>
            </a:r>
            <a:r>
              <a:rPr spc="-610" dirty="0"/>
              <a:t>S</a:t>
            </a:r>
            <a:r>
              <a:rPr spc="-130" dirty="0"/>
              <a:t>q</a:t>
            </a:r>
            <a:r>
              <a:rPr spc="-200" dirty="0"/>
              <a:t>ua</a:t>
            </a:r>
            <a:r>
              <a:rPr spc="-290" dirty="0"/>
              <a:t>r</a:t>
            </a:r>
            <a:r>
              <a:rPr spc="-370" dirty="0"/>
              <a:t>e</a:t>
            </a:r>
            <a:r>
              <a:rPr spc="-204" dirty="0"/>
              <a:t> </a:t>
            </a:r>
            <a:r>
              <a:rPr spc="-570" dirty="0"/>
              <a:t>w</a:t>
            </a:r>
            <a:r>
              <a:rPr spc="-30" dirty="0"/>
              <a:t>a</a:t>
            </a:r>
            <a:r>
              <a:rPr spc="-285" dirty="0"/>
              <a:t>v</a:t>
            </a:r>
            <a:r>
              <a:rPr spc="-80" dirty="0"/>
              <a:t>e</a:t>
            </a:r>
            <a:r>
              <a:rPr spc="-200" dirty="0"/>
              <a:t> </a:t>
            </a:r>
            <a:r>
              <a:rPr spc="-570" dirty="0"/>
              <a:t>r</a:t>
            </a:r>
            <a:r>
              <a:rPr spc="-30" dirty="0"/>
              <a:t>a</a:t>
            </a:r>
            <a:r>
              <a:rPr spc="-509" dirty="0"/>
              <a:t>t</a:t>
            </a:r>
            <a:r>
              <a:rPr spc="-80" dirty="0"/>
              <a:t>e</a:t>
            </a:r>
            <a:r>
              <a:rPr spc="-190" dirty="0"/>
              <a:t> </a:t>
            </a:r>
            <a:r>
              <a:rPr spc="-130" dirty="0"/>
              <a:t>g</a:t>
            </a:r>
            <a:r>
              <a:rPr spc="-225" dirty="0"/>
              <a:t>ener</a:t>
            </a:r>
            <a:r>
              <a:rPr spc="-229" dirty="0"/>
              <a:t>a</a:t>
            </a:r>
            <a:r>
              <a:rPr spc="-409" dirty="0"/>
              <a:t>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24200" y="2014220"/>
            <a:ext cx="118745" cy="8890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000" spc="-1270" dirty="0">
                <a:solidFill>
                  <a:srgbClr val="A42F0F"/>
                </a:solidFill>
                <a:latin typeface="MS UI Gothic"/>
                <a:cs typeface="MS UI Gothic"/>
              </a:rPr>
              <a:t></a:t>
            </a:r>
            <a:endParaRPr sz="2000">
              <a:latin typeface="MS UI Gothic"/>
              <a:cs typeface="MS UI Gothic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000" spc="-1270" dirty="0">
                <a:solidFill>
                  <a:srgbClr val="A42F0F"/>
                </a:solidFill>
                <a:latin typeface="MS UI Gothic"/>
                <a:cs typeface="MS UI Gothic"/>
              </a:rPr>
              <a:t></a:t>
            </a:r>
            <a:endParaRPr sz="2000">
              <a:latin typeface="MS UI Gothic"/>
              <a:cs typeface="MS UI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24200" y="3309620"/>
            <a:ext cx="1187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270" dirty="0">
                <a:solidFill>
                  <a:srgbClr val="A42F0F"/>
                </a:solidFill>
                <a:latin typeface="MS UI Gothic"/>
                <a:cs typeface="MS UI Gothic"/>
              </a:rPr>
              <a:t></a:t>
            </a:r>
            <a:endParaRPr sz="2000">
              <a:latin typeface="MS UI Gothic"/>
              <a:cs typeface="MS UI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09950" y="2039620"/>
            <a:ext cx="7500620" cy="16256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000" b="1" spc="-114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000" b="1" spc="-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b="1" spc="-7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2000" b="1" spc="-6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b="1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b="1" spc="-300" dirty="0">
                <a:solidFill>
                  <a:srgbClr val="3F3F3F"/>
                </a:solidFill>
                <a:latin typeface="Verdana"/>
                <a:cs typeface="Verdana"/>
              </a:rPr>
              <a:t>3</a:t>
            </a:r>
            <a:r>
              <a:rPr sz="1800" i="1" spc="-320" dirty="0">
                <a:solidFill>
                  <a:srgbClr val="3F3F3F"/>
                </a:solidFill>
                <a:latin typeface="Verdana"/>
                <a:cs typeface="Verdana"/>
              </a:rPr>
              <a:t>:</a:t>
            </a:r>
            <a:r>
              <a:rPr sz="1800" i="1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14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i="1" spc="10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i="1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i="1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i="1" spc="-4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i="1" spc="-6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i="1" spc="-8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i="1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14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21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i="1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-5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i="1" spc="-8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-13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i="1" spc="-5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i="1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i="1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i="1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7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i="1" spc="-85" dirty="0">
                <a:solidFill>
                  <a:srgbClr val="3F3F3F"/>
                </a:solidFill>
                <a:latin typeface="Verdana"/>
                <a:cs typeface="Verdana"/>
              </a:rPr>
              <a:t>q</a:t>
            </a:r>
            <a:r>
              <a:rPr sz="1800" i="1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i="1" dirty="0">
                <a:solidFill>
                  <a:srgbClr val="3F3F3F"/>
                </a:solidFill>
                <a:latin typeface="Verdana"/>
                <a:cs typeface="Verdana"/>
              </a:rPr>
              <a:t>ar</a:t>
            </a:r>
            <a:r>
              <a:rPr sz="1800" i="1" spc="-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i="1" spc="-80" dirty="0">
                <a:solidFill>
                  <a:srgbClr val="3F3F3F"/>
                </a:solidFill>
                <a:latin typeface="Verdana"/>
                <a:cs typeface="Verdana"/>
              </a:rPr>
              <a:t>-</a:t>
            </a:r>
            <a:r>
              <a:rPr sz="1800" i="1" spc="-17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800" i="1" spc="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i="1" spc="30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800" i="1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1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800" i="1" spc="-13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i="1" spc="-9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17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7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i="1" spc="-9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i="1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8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160" dirty="0">
                <a:solidFill>
                  <a:srgbClr val="3F3F3F"/>
                </a:solidFill>
                <a:latin typeface="Verdana"/>
                <a:cs typeface="Verdana"/>
              </a:rPr>
              <a:t>1.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sz="2000" i="1" spc="-220" dirty="0">
                <a:solidFill>
                  <a:srgbClr val="3F3F3F"/>
                </a:solidFill>
                <a:latin typeface="Verdana"/>
                <a:cs typeface="Verdana"/>
              </a:rPr>
              <a:t>If</a:t>
            </a:r>
            <a:r>
              <a:rPr sz="20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25" dirty="0">
                <a:solidFill>
                  <a:srgbClr val="3F3F3F"/>
                </a:solidFill>
                <a:latin typeface="Verdana"/>
                <a:cs typeface="Verdana"/>
              </a:rPr>
              <a:t>count</a:t>
            </a:r>
            <a:r>
              <a:rPr sz="2000" i="1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204" dirty="0">
                <a:solidFill>
                  <a:srgbClr val="3F3F3F"/>
                </a:solidFill>
                <a:latin typeface="Verdana"/>
                <a:cs typeface="Verdana"/>
              </a:rPr>
              <a:t>is</a:t>
            </a:r>
            <a:r>
              <a:rPr sz="2000" i="1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15" dirty="0">
                <a:solidFill>
                  <a:srgbClr val="3F3F3F"/>
                </a:solidFill>
                <a:latin typeface="Verdana"/>
                <a:cs typeface="Verdana"/>
              </a:rPr>
              <a:t>even,</a:t>
            </a:r>
            <a:r>
              <a:rPr sz="20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310" dirty="0">
                <a:solidFill>
                  <a:srgbClr val="3F3F3F"/>
                </a:solidFill>
                <a:latin typeface="Verdana"/>
                <a:cs typeface="Verdana"/>
              </a:rPr>
              <a:t>50%</a:t>
            </a:r>
            <a:r>
              <a:rPr sz="2000" i="1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35" dirty="0">
                <a:solidFill>
                  <a:srgbClr val="3F3F3F"/>
                </a:solidFill>
                <a:latin typeface="Verdana"/>
                <a:cs typeface="Verdana"/>
              </a:rPr>
              <a:t>duty</a:t>
            </a:r>
            <a:r>
              <a:rPr sz="20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70" dirty="0">
                <a:solidFill>
                  <a:srgbClr val="3F3F3F"/>
                </a:solidFill>
                <a:latin typeface="Verdana"/>
                <a:cs typeface="Verdana"/>
              </a:rPr>
              <a:t>cycle</a:t>
            </a:r>
            <a:r>
              <a:rPr sz="20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55" dirty="0">
                <a:solidFill>
                  <a:srgbClr val="3F3F3F"/>
                </a:solidFill>
                <a:latin typeface="Verdana"/>
                <a:cs typeface="Verdana"/>
              </a:rPr>
              <a:t>otherwise</a:t>
            </a:r>
            <a:r>
              <a:rPr sz="20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130" dirty="0">
                <a:solidFill>
                  <a:srgbClr val="3F3F3F"/>
                </a:solidFill>
                <a:latin typeface="Verdana"/>
                <a:cs typeface="Verdana"/>
              </a:rPr>
              <a:t>OUT</a:t>
            </a:r>
            <a:r>
              <a:rPr sz="20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204" dirty="0">
                <a:solidFill>
                  <a:srgbClr val="3F3F3F"/>
                </a:solidFill>
                <a:latin typeface="Verdana"/>
                <a:cs typeface="Verdana"/>
              </a:rPr>
              <a:t>is</a:t>
            </a:r>
            <a:r>
              <a:rPr sz="2000" i="1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35" dirty="0">
                <a:solidFill>
                  <a:srgbClr val="3F3F3F"/>
                </a:solidFill>
                <a:latin typeface="Verdana"/>
                <a:cs typeface="Verdana"/>
              </a:rPr>
              <a:t>high</a:t>
            </a:r>
            <a:r>
              <a:rPr sz="2000" i="1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165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2000" i="1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70" dirty="0">
                <a:solidFill>
                  <a:srgbClr val="3F3F3F"/>
                </a:solidFill>
                <a:latin typeface="Verdana"/>
                <a:cs typeface="Verdana"/>
              </a:rPr>
              <a:t>cycle </a:t>
            </a:r>
            <a:r>
              <a:rPr sz="2000" i="1" spc="-6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25" dirty="0">
                <a:solidFill>
                  <a:srgbClr val="3F3F3F"/>
                </a:solidFill>
                <a:latin typeface="Verdana"/>
                <a:cs typeface="Verdana"/>
              </a:rPr>
              <a:t>longer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000" i="1" spc="-14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000" i="1" spc="-14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i="1" spc="9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000" i="1" spc="-5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000" i="1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6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000" i="1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i="1" spc="-254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i="1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190" dirty="0">
                <a:solidFill>
                  <a:srgbClr val="3F3F3F"/>
                </a:solidFill>
                <a:latin typeface="Verdana"/>
                <a:cs typeface="Verdana"/>
              </a:rPr>
              <a:t>(n</a:t>
            </a:r>
            <a:r>
              <a:rPr sz="2000" i="1" spc="-265" dirty="0">
                <a:solidFill>
                  <a:srgbClr val="3F3F3F"/>
                </a:solidFill>
                <a:latin typeface="Verdana"/>
                <a:cs typeface="Verdana"/>
              </a:rPr>
              <a:t>+</a:t>
            </a:r>
            <a:r>
              <a:rPr sz="2000" i="1" spc="-200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2000" i="1" spc="-135" dirty="0">
                <a:solidFill>
                  <a:srgbClr val="3F3F3F"/>
                </a:solidFill>
                <a:latin typeface="Verdana"/>
                <a:cs typeface="Verdana"/>
              </a:rPr>
              <a:t>)</a:t>
            </a:r>
            <a:r>
              <a:rPr sz="2000" i="1" spc="-40" dirty="0">
                <a:solidFill>
                  <a:srgbClr val="3F3F3F"/>
                </a:solidFill>
                <a:latin typeface="Verdana"/>
                <a:cs typeface="Verdana"/>
              </a:rPr>
              <a:t>/</a:t>
            </a:r>
            <a:r>
              <a:rPr sz="2000" i="1" spc="-165" dirty="0">
                <a:solidFill>
                  <a:srgbClr val="3F3F3F"/>
                </a:solidFill>
                <a:latin typeface="Verdana"/>
                <a:cs typeface="Verdana"/>
              </a:rPr>
              <a:t>2</a:t>
            </a:r>
            <a:r>
              <a:rPr sz="2000" i="1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60" dirty="0">
                <a:solidFill>
                  <a:srgbClr val="3F3F3F"/>
                </a:solidFill>
                <a:latin typeface="Verdana"/>
                <a:cs typeface="Verdana"/>
              </a:rPr>
              <a:t>&amp;</a:t>
            </a:r>
            <a:r>
              <a:rPr sz="2000" i="1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14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000" i="1" spc="4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i="1" spc="65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2000" i="1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6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000" i="1" spc="-10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i="1" spc="-6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i="1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-100" dirty="0">
                <a:solidFill>
                  <a:srgbClr val="3F3F3F"/>
                </a:solidFill>
                <a:latin typeface="Verdana"/>
                <a:cs typeface="Verdana"/>
              </a:rPr>
              <a:t>(</a:t>
            </a:r>
            <a:r>
              <a:rPr sz="2000" i="1" spc="-12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i="1" spc="-250" dirty="0">
                <a:solidFill>
                  <a:srgbClr val="3F3F3F"/>
                </a:solidFill>
                <a:latin typeface="Verdana"/>
                <a:cs typeface="Verdana"/>
              </a:rPr>
              <a:t>-</a:t>
            </a:r>
            <a:r>
              <a:rPr sz="2000" i="1" spc="-200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2000" i="1" spc="-135" dirty="0">
                <a:solidFill>
                  <a:srgbClr val="3F3F3F"/>
                </a:solidFill>
                <a:latin typeface="Verdana"/>
                <a:cs typeface="Verdana"/>
              </a:rPr>
              <a:t>)</a:t>
            </a:r>
            <a:r>
              <a:rPr sz="2000" i="1" spc="-40" dirty="0">
                <a:solidFill>
                  <a:srgbClr val="3F3F3F"/>
                </a:solidFill>
                <a:latin typeface="Verdana"/>
                <a:cs typeface="Verdana"/>
              </a:rPr>
              <a:t>/</a:t>
            </a:r>
            <a:r>
              <a:rPr sz="2000" i="1" spc="-165" dirty="0">
                <a:solidFill>
                  <a:srgbClr val="3F3F3F"/>
                </a:solidFill>
                <a:latin typeface="Verdana"/>
                <a:cs typeface="Verdana"/>
              </a:rPr>
              <a:t>2</a:t>
            </a:r>
            <a:r>
              <a:rPr sz="2000" i="1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25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i="1" spc="55" dirty="0">
                <a:solidFill>
                  <a:srgbClr val="3F3F3F"/>
                </a:solidFill>
                <a:latin typeface="Verdana"/>
                <a:cs typeface="Verdana"/>
              </a:rPr>
              <a:t>lo</a:t>
            </a:r>
            <a:r>
              <a:rPr sz="2000" i="1" spc="7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i="1" spc="-170" dirty="0">
                <a:solidFill>
                  <a:srgbClr val="3F3F3F"/>
                </a:solidFill>
                <a:latin typeface="Verdana"/>
                <a:cs typeface="Verdana"/>
              </a:rPr>
              <a:t>k</a:t>
            </a:r>
            <a:r>
              <a:rPr sz="2000" i="1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i="1" spc="24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i="1" spc="-85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2000" i="1" spc="24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i="1" spc="-14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000" i="1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i="1" spc="-27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3352800"/>
            <a:ext cx="7696200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0810" y="656590"/>
            <a:ext cx="66878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Mo</a:t>
            </a:r>
            <a:r>
              <a:rPr spc="-130" dirty="0"/>
              <a:t>d</a:t>
            </a:r>
            <a:r>
              <a:rPr spc="-80" dirty="0"/>
              <a:t>e</a:t>
            </a:r>
            <a:r>
              <a:rPr spc="-200" dirty="0"/>
              <a:t> </a:t>
            </a:r>
            <a:r>
              <a:rPr spc="-480" dirty="0"/>
              <a:t>4</a:t>
            </a:r>
            <a:r>
              <a:rPr spc="-395" dirty="0"/>
              <a:t>:</a:t>
            </a:r>
            <a:r>
              <a:rPr spc="-200" dirty="0"/>
              <a:t> </a:t>
            </a:r>
            <a:r>
              <a:rPr spc="-610" dirty="0"/>
              <a:t>S</a:t>
            </a:r>
            <a:r>
              <a:rPr spc="-380" dirty="0"/>
              <a:t>o</a:t>
            </a:r>
            <a:r>
              <a:rPr spc="-235" dirty="0"/>
              <a:t>f</a:t>
            </a:r>
            <a:r>
              <a:rPr spc="-350" dirty="0"/>
              <a:t>t</a:t>
            </a:r>
            <a:r>
              <a:rPr spc="-730" dirty="0"/>
              <a:t>w</a:t>
            </a:r>
            <a:r>
              <a:rPr spc="-30" dirty="0"/>
              <a:t>a</a:t>
            </a:r>
            <a:r>
              <a:rPr spc="-290" dirty="0"/>
              <a:t>r</a:t>
            </a:r>
            <a:r>
              <a:rPr spc="-370" dirty="0"/>
              <a:t>e</a:t>
            </a:r>
            <a:r>
              <a:rPr spc="-204" dirty="0"/>
              <a:t> </a:t>
            </a:r>
            <a:r>
              <a:rPr spc="-520" dirty="0"/>
              <a:t>tr</a:t>
            </a:r>
            <a:r>
              <a:rPr spc="-370" dirty="0"/>
              <a:t>i</a:t>
            </a:r>
            <a:r>
              <a:rPr spc="-130" dirty="0"/>
              <a:t>gg</a:t>
            </a:r>
            <a:r>
              <a:rPr spc="-75" dirty="0"/>
              <a:t>e</a:t>
            </a:r>
            <a:r>
              <a:rPr spc="-585" dirty="0"/>
              <a:t>r</a:t>
            </a:r>
            <a:r>
              <a:rPr spc="-75" dirty="0"/>
              <a:t>e</a:t>
            </a:r>
            <a:r>
              <a:rPr spc="-125" dirty="0"/>
              <a:t>d</a:t>
            </a:r>
            <a:r>
              <a:rPr spc="-204" dirty="0"/>
              <a:t> </a:t>
            </a:r>
            <a:r>
              <a:rPr spc="-505" dirty="0"/>
              <a:t>s</a:t>
            </a:r>
            <a:r>
              <a:rPr spc="-360" dirty="0"/>
              <a:t>tr</a:t>
            </a:r>
            <a:r>
              <a:rPr spc="-505" dirty="0"/>
              <a:t>o</a:t>
            </a:r>
            <a:r>
              <a:rPr spc="-130" dirty="0"/>
              <a:t>b</a:t>
            </a:r>
            <a:r>
              <a:rPr spc="-80"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17139" y="1577340"/>
            <a:ext cx="1187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270" dirty="0">
                <a:solidFill>
                  <a:srgbClr val="A42F0F"/>
                </a:solidFill>
                <a:latin typeface="MS UI Gothic"/>
                <a:cs typeface="MS UI Gothic"/>
              </a:rPr>
              <a:t></a:t>
            </a:r>
            <a:endParaRPr sz="2000">
              <a:latin typeface="MS UI Gothic"/>
              <a:cs typeface="MS UI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7139" y="2230120"/>
            <a:ext cx="10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45" dirty="0">
                <a:solidFill>
                  <a:srgbClr val="A42F0F"/>
                </a:solidFill>
                <a:latin typeface="MS UI Gothic"/>
                <a:cs typeface="MS UI Gothic"/>
              </a:rPr>
              <a:t></a:t>
            </a:r>
            <a:endParaRPr sz="1800">
              <a:latin typeface="MS UI Gothic"/>
              <a:cs typeface="MS UI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7139" y="3096259"/>
            <a:ext cx="109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45" dirty="0">
                <a:solidFill>
                  <a:srgbClr val="A42F0F"/>
                </a:solidFill>
                <a:latin typeface="MS UI Gothic"/>
                <a:cs typeface="MS UI Gothic"/>
              </a:rPr>
              <a:t></a:t>
            </a:r>
            <a:endParaRPr sz="1800">
              <a:latin typeface="MS UI Gothic"/>
              <a:cs typeface="MS UI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02889" y="1602740"/>
            <a:ext cx="7235190" cy="181610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 marR="269875">
              <a:lnSpc>
                <a:spcPts val="1980"/>
              </a:lnSpc>
              <a:spcBef>
                <a:spcPts val="515"/>
              </a:spcBef>
            </a:pPr>
            <a:r>
              <a:rPr sz="2000" b="1" spc="-385" dirty="0">
                <a:solidFill>
                  <a:srgbClr val="3F3F3F"/>
                </a:solidFill>
                <a:latin typeface="Verdana"/>
                <a:cs typeface="Verdana"/>
              </a:rPr>
              <a:t>In</a:t>
            </a:r>
            <a:r>
              <a:rPr sz="2000" b="1" spc="-130" dirty="0">
                <a:solidFill>
                  <a:srgbClr val="3F3F3F"/>
                </a:solidFill>
                <a:latin typeface="Verdana"/>
                <a:cs typeface="Verdana"/>
              </a:rPr>
              <a:t> Mode4</a:t>
            </a:r>
            <a:r>
              <a:rPr sz="1800" i="1" spc="-130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18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100" dirty="0">
                <a:solidFill>
                  <a:srgbClr val="3F3F3F"/>
                </a:solidFill>
                <a:latin typeface="Verdana"/>
                <a:cs typeface="Verdana"/>
              </a:rPr>
              <a:t>if</a:t>
            </a:r>
            <a:r>
              <a:rPr sz="1800" i="1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GATE=1,</a:t>
            </a:r>
            <a:r>
              <a:rPr sz="1800" i="1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1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8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20" dirty="0">
                <a:solidFill>
                  <a:srgbClr val="3F3F3F"/>
                </a:solidFill>
                <a:latin typeface="Verdana"/>
                <a:cs typeface="Verdana"/>
              </a:rPr>
              <a:t>output</a:t>
            </a:r>
            <a:r>
              <a:rPr sz="1800" i="1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105" dirty="0">
                <a:solidFill>
                  <a:srgbClr val="3F3F3F"/>
                </a:solidFill>
                <a:latin typeface="Verdana"/>
                <a:cs typeface="Verdana"/>
              </a:rPr>
              <a:t>will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85" dirty="0">
                <a:solidFill>
                  <a:srgbClr val="3F3F3F"/>
                </a:solidFill>
                <a:latin typeface="Verdana"/>
                <a:cs typeface="Verdana"/>
              </a:rPr>
              <a:t>go</a:t>
            </a:r>
            <a:r>
              <a:rPr sz="18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35" dirty="0">
                <a:solidFill>
                  <a:srgbClr val="3F3F3F"/>
                </a:solidFill>
                <a:latin typeface="Verdana"/>
                <a:cs typeface="Verdana"/>
              </a:rPr>
              <a:t>high</a:t>
            </a:r>
            <a:r>
              <a:rPr sz="18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5" dirty="0">
                <a:solidFill>
                  <a:srgbClr val="3F3F3F"/>
                </a:solidFill>
                <a:latin typeface="Verdana"/>
                <a:cs typeface="Verdana"/>
              </a:rPr>
              <a:t>when</a:t>
            </a:r>
            <a:r>
              <a:rPr sz="18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15" dirty="0">
                <a:solidFill>
                  <a:srgbClr val="3F3F3F"/>
                </a:solidFill>
                <a:latin typeface="Verdana"/>
                <a:cs typeface="Verdana"/>
              </a:rPr>
              <a:t>loading</a:t>
            </a:r>
            <a:r>
              <a:rPr sz="1800" i="1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20" dirty="0">
                <a:solidFill>
                  <a:srgbClr val="3F3F3F"/>
                </a:solidFill>
                <a:latin typeface="Verdana"/>
                <a:cs typeface="Verdana"/>
              </a:rPr>
              <a:t>the </a:t>
            </a:r>
            <a:r>
              <a:rPr sz="1800" i="1" spc="-6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21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i="1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i="1" spc="-5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i="1" spc="-9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-160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1800" i="1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13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i="1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800" i="1" spc="-13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i="1" spc="-14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25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i="1" spc="-8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i="1" spc="-10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i="1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5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i="1" spc="-13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i="1" spc="2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i="1" spc="2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7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i="1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-229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114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i="1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i="1" spc="-70" dirty="0">
                <a:solidFill>
                  <a:srgbClr val="3F3F3F"/>
                </a:solidFill>
                <a:latin typeface="Verdana"/>
                <a:cs typeface="Verdana"/>
              </a:rPr>
              <a:t>ra</a:t>
            </a:r>
            <a:r>
              <a:rPr sz="1800" i="1" spc="-4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-13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i="1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i="1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1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i="1" spc="-385" dirty="0">
                <a:solidFill>
                  <a:srgbClr val="3F3F3F"/>
                </a:solidFill>
                <a:latin typeface="Verdana"/>
                <a:cs typeface="Verdana"/>
              </a:rPr>
              <a:t>*</a:t>
            </a:r>
            <a:r>
              <a:rPr sz="1800" i="1" spc="-31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-160" dirty="0">
                <a:solidFill>
                  <a:srgbClr val="3F3F3F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12700" marR="5080" algn="just">
              <a:lnSpc>
                <a:spcPts val="1939"/>
              </a:lnSpc>
              <a:spcBef>
                <a:spcPts val="990"/>
              </a:spcBef>
            </a:pPr>
            <a:r>
              <a:rPr sz="1800" i="1" spc="-40" dirty="0">
                <a:solidFill>
                  <a:srgbClr val="3F3F3F"/>
                </a:solidFill>
                <a:latin typeface="Verdana"/>
                <a:cs typeface="Verdana"/>
              </a:rPr>
              <a:t>After</a:t>
            </a:r>
            <a:r>
              <a:rPr sz="18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20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8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20" dirty="0">
                <a:solidFill>
                  <a:srgbClr val="3F3F3F"/>
                </a:solidFill>
                <a:latin typeface="Verdana"/>
                <a:cs typeface="Verdana"/>
              </a:rPr>
              <a:t>count</a:t>
            </a:r>
            <a:r>
              <a:rPr sz="18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dirty="0">
                <a:solidFill>
                  <a:srgbClr val="3F3F3F"/>
                </a:solidFill>
                <a:latin typeface="Verdana"/>
                <a:cs typeface="Verdana"/>
              </a:rPr>
              <a:t>reaches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85" dirty="0">
                <a:solidFill>
                  <a:srgbClr val="3F3F3F"/>
                </a:solidFill>
                <a:latin typeface="Verdana"/>
                <a:cs typeface="Verdana"/>
              </a:rPr>
              <a:t>zero,</a:t>
            </a:r>
            <a:r>
              <a:rPr sz="1800" i="1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114" dirty="0">
                <a:solidFill>
                  <a:srgbClr val="3F3F3F"/>
                </a:solidFill>
                <a:latin typeface="Verdana"/>
                <a:cs typeface="Verdana"/>
              </a:rPr>
              <a:t>it </a:t>
            </a:r>
            <a:r>
              <a:rPr sz="1800" i="1" spc="40" dirty="0">
                <a:solidFill>
                  <a:srgbClr val="3F3F3F"/>
                </a:solidFill>
                <a:latin typeface="Verdana"/>
                <a:cs typeface="Verdana"/>
              </a:rPr>
              <a:t>becomes</a:t>
            </a:r>
            <a:r>
              <a:rPr sz="18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15" dirty="0">
                <a:solidFill>
                  <a:srgbClr val="3F3F3F"/>
                </a:solidFill>
                <a:latin typeface="Verdana"/>
                <a:cs typeface="Verdana"/>
              </a:rPr>
              <a:t>low</a:t>
            </a:r>
            <a:r>
              <a:rPr sz="1800" i="1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70" dirty="0">
                <a:solidFill>
                  <a:srgbClr val="3F3F3F"/>
                </a:solidFill>
                <a:latin typeface="Verdana"/>
                <a:cs typeface="Verdana"/>
              </a:rPr>
              <a:t>for</a:t>
            </a:r>
            <a:r>
              <a:rPr sz="18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40" dirty="0">
                <a:solidFill>
                  <a:srgbClr val="3F3F3F"/>
                </a:solidFill>
                <a:latin typeface="Verdana"/>
                <a:cs typeface="Verdana"/>
              </a:rPr>
              <a:t>one</a:t>
            </a:r>
            <a:r>
              <a:rPr sz="18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45" dirty="0">
                <a:solidFill>
                  <a:srgbClr val="3F3F3F"/>
                </a:solidFill>
                <a:latin typeface="Verdana"/>
                <a:cs typeface="Verdana"/>
              </a:rPr>
              <a:t>clock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70" dirty="0">
                <a:solidFill>
                  <a:srgbClr val="3F3F3F"/>
                </a:solidFill>
                <a:latin typeface="Verdana"/>
                <a:cs typeface="Verdana"/>
              </a:rPr>
              <a:t>pulse, </a:t>
            </a:r>
            <a:r>
              <a:rPr sz="1800" i="1" spc="-6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25" dirty="0">
                <a:solidFill>
                  <a:srgbClr val="3F3F3F"/>
                </a:solidFill>
                <a:latin typeface="Verdana"/>
                <a:cs typeface="Verdana"/>
              </a:rPr>
              <a:t>then</a:t>
            </a:r>
            <a:r>
              <a:rPr sz="1800" i="1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dirty="0">
                <a:solidFill>
                  <a:srgbClr val="3F3F3F"/>
                </a:solidFill>
                <a:latin typeface="Verdana"/>
                <a:cs typeface="Verdana"/>
              </a:rPr>
              <a:t>goes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35" dirty="0">
                <a:solidFill>
                  <a:srgbClr val="3F3F3F"/>
                </a:solidFill>
                <a:latin typeface="Verdana"/>
                <a:cs typeface="Verdana"/>
              </a:rPr>
              <a:t>high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35" dirty="0">
                <a:solidFill>
                  <a:srgbClr val="3F3F3F"/>
                </a:solidFill>
                <a:latin typeface="Verdana"/>
                <a:cs typeface="Verdana"/>
              </a:rPr>
              <a:t>again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65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800" i="1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110" dirty="0">
                <a:solidFill>
                  <a:srgbClr val="3F3F3F"/>
                </a:solidFill>
                <a:latin typeface="Verdana"/>
                <a:cs typeface="Verdana"/>
              </a:rPr>
              <a:t>stays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35" dirty="0">
                <a:solidFill>
                  <a:srgbClr val="3F3F3F"/>
                </a:solidFill>
                <a:latin typeface="Verdana"/>
                <a:cs typeface="Verdana"/>
              </a:rPr>
              <a:t>high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90" dirty="0">
                <a:solidFill>
                  <a:srgbClr val="3F3F3F"/>
                </a:solidFill>
                <a:latin typeface="Verdana"/>
                <a:cs typeface="Verdana"/>
              </a:rPr>
              <a:t>until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14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20" dirty="0">
                <a:solidFill>
                  <a:srgbClr val="3F3F3F"/>
                </a:solidFill>
                <a:latin typeface="Verdana"/>
                <a:cs typeface="Verdana"/>
              </a:rPr>
              <a:t>new</a:t>
            </a:r>
            <a:r>
              <a:rPr sz="1800" i="1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55" dirty="0">
                <a:solidFill>
                  <a:srgbClr val="3F3F3F"/>
                </a:solidFill>
                <a:latin typeface="Verdana"/>
                <a:cs typeface="Verdana"/>
              </a:rPr>
              <a:t>command</a:t>
            </a:r>
            <a:r>
              <a:rPr sz="18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15" dirty="0">
                <a:solidFill>
                  <a:srgbClr val="3F3F3F"/>
                </a:solidFill>
                <a:latin typeface="Verdana"/>
                <a:cs typeface="Verdana"/>
              </a:rPr>
              <a:t>word </a:t>
            </a:r>
            <a:r>
              <a:rPr sz="1800" i="1" spc="-6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-229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5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i="1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i="1" spc="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800" i="1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22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i="1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i="1" spc="-5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i="1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13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i="1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2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i="1" spc="-4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i="1" spc="114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i="1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i="1" spc="11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endParaRPr sz="180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755"/>
              </a:spcBef>
            </a:pPr>
            <a:r>
              <a:rPr sz="1800" i="1" spc="-32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i="1" spc="-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i="1" spc="9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i="1" spc="8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i="1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i="1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8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-5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i="1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25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i="1" spc="-8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-6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i="1" spc="-9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95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800" i="1" spc="8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i="1" spc="-160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1800" i="1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8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-5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i="1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21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i="1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i="1" spc="-5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i="1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i="1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i="1" spc="-25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i="1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95" dirty="0">
                <a:solidFill>
                  <a:srgbClr val="3F3F3F"/>
                </a:solidFill>
                <a:latin typeface="Verdana"/>
                <a:cs typeface="Verdana"/>
              </a:rPr>
              <a:t>be</a:t>
            </a:r>
            <a:r>
              <a:rPr sz="18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50" dirty="0">
                <a:solidFill>
                  <a:srgbClr val="3F3F3F"/>
                </a:solidFill>
                <a:latin typeface="Verdana"/>
                <a:cs typeface="Verdana"/>
              </a:rPr>
              <a:t>rel</a:t>
            </a:r>
            <a:r>
              <a:rPr sz="1800" i="1" spc="-7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i="1" spc="114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i="1" spc="95" dirty="0">
                <a:solidFill>
                  <a:srgbClr val="3F3F3F"/>
                </a:solidFill>
                <a:latin typeface="Verdana"/>
                <a:cs typeface="Verdana"/>
              </a:rPr>
              <a:t>ed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3962400"/>
            <a:ext cx="79248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Mo</a:t>
            </a:r>
            <a:r>
              <a:rPr spc="-130" dirty="0"/>
              <a:t>d</a:t>
            </a:r>
            <a:r>
              <a:rPr spc="-80" dirty="0"/>
              <a:t>e</a:t>
            </a:r>
            <a:r>
              <a:rPr spc="-200" dirty="0"/>
              <a:t> </a:t>
            </a:r>
            <a:r>
              <a:rPr spc="-480" dirty="0"/>
              <a:t>5</a:t>
            </a:r>
            <a:r>
              <a:rPr spc="-395" dirty="0"/>
              <a:t>:</a:t>
            </a:r>
            <a:r>
              <a:rPr spc="-200" dirty="0"/>
              <a:t> </a:t>
            </a:r>
            <a:r>
              <a:rPr spc="-270" dirty="0"/>
              <a:t>Ha</a:t>
            </a:r>
            <a:r>
              <a:rPr spc="-570" dirty="0"/>
              <a:t>r</a:t>
            </a:r>
            <a:r>
              <a:rPr spc="-130" dirty="0"/>
              <a:t>d</a:t>
            </a:r>
            <a:r>
              <a:rPr spc="-570" dirty="0"/>
              <a:t>w</a:t>
            </a:r>
            <a:r>
              <a:rPr spc="-30" dirty="0"/>
              <a:t>a</a:t>
            </a:r>
            <a:r>
              <a:rPr spc="-290" dirty="0"/>
              <a:t>r</a:t>
            </a:r>
            <a:r>
              <a:rPr spc="-370" dirty="0"/>
              <a:t>e</a:t>
            </a:r>
            <a:r>
              <a:rPr spc="-204" dirty="0"/>
              <a:t> </a:t>
            </a:r>
            <a:r>
              <a:rPr spc="-520" dirty="0"/>
              <a:t>tr</a:t>
            </a:r>
            <a:r>
              <a:rPr spc="-380" dirty="0"/>
              <a:t>i</a:t>
            </a:r>
            <a:r>
              <a:rPr spc="-120" dirty="0"/>
              <a:t>g</a:t>
            </a:r>
            <a:r>
              <a:rPr spc="-130" dirty="0"/>
              <a:t>g</a:t>
            </a:r>
            <a:r>
              <a:rPr spc="-210" dirty="0"/>
              <a:t>ere</a:t>
            </a:r>
            <a:r>
              <a:rPr spc="-235" dirty="0"/>
              <a:t>d</a:t>
            </a:r>
            <a:r>
              <a:rPr spc="-195" dirty="0"/>
              <a:t> </a:t>
            </a:r>
            <a:r>
              <a:rPr spc="-505" dirty="0"/>
              <a:t>s</a:t>
            </a:r>
            <a:r>
              <a:rPr spc="-320" dirty="0"/>
              <a:t>tro</a:t>
            </a:r>
            <a:r>
              <a:rPr spc="-405" dirty="0"/>
              <a:t>b</a:t>
            </a:r>
            <a:r>
              <a:rPr spc="-80" dirty="0"/>
              <a:t>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7465" marR="234315" indent="-285750">
              <a:lnSpc>
                <a:spcPct val="100000"/>
              </a:lnSpc>
              <a:spcBef>
                <a:spcPts val="100"/>
              </a:spcBef>
              <a:tabLst>
                <a:tab pos="2576830" algn="l"/>
              </a:tabLst>
            </a:pPr>
            <a:r>
              <a:rPr sz="3600" i="0" spc="-2287" baseline="5787" dirty="0">
                <a:solidFill>
                  <a:srgbClr val="A42F0F"/>
                </a:solidFill>
                <a:latin typeface="MS UI Gothic"/>
                <a:cs typeface="MS UI Gothic"/>
              </a:rPr>
              <a:t>	</a:t>
            </a:r>
            <a:r>
              <a:rPr sz="2400" spc="-450" dirty="0"/>
              <a:t>S</a:t>
            </a:r>
            <a:r>
              <a:rPr sz="2400" spc="-65" dirty="0"/>
              <a:t>i</a:t>
            </a:r>
            <a:r>
              <a:rPr sz="2400" spc="-225" dirty="0"/>
              <a:t>m</a:t>
            </a:r>
            <a:r>
              <a:rPr sz="2400" spc="-185" dirty="0"/>
              <a:t>i</a:t>
            </a:r>
            <a:r>
              <a:rPr sz="2400" spc="-195" dirty="0"/>
              <a:t>l</a:t>
            </a:r>
            <a:r>
              <a:rPr sz="2400" spc="-70" dirty="0"/>
              <a:t>a</a:t>
            </a:r>
            <a:r>
              <a:rPr sz="2400" spc="-45" dirty="0"/>
              <a:t>r</a:t>
            </a:r>
            <a:r>
              <a:rPr sz="2400" spc="-185" dirty="0"/>
              <a:t> </a:t>
            </a:r>
            <a:r>
              <a:rPr sz="2400" spc="-125" dirty="0"/>
              <a:t>t</a:t>
            </a:r>
            <a:r>
              <a:rPr sz="2400" spc="110" dirty="0"/>
              <a:t>o</a:t>
            </a:r>
            <a:r>
              <a:rPr sz="2400" spc="-180" dirty="0"/>
              <a:t> </a:t>
            </a:r>
            <a:r>
              <a:rPr sz="2400" spc="175" dirty="0"/>
              <a:t>M</a:t>
            </a:r>
            <a:r>
              <a:rPr sz="2400" spc="125" dirty="0"/>
              <a:t>o</a:t>
            </a:r>
            <a:r>
              <a:rPr sz="2400" spc="130" dirty="0"/>
              <a:t>d</a:t>
            </a:r>
            <a:r>
              <a:rPr sz="2400" spc="-114" dirty="0"/>
              <a:t>e4</a:t>
            </a:r>
            <a:r>
              <a:rPr sz="2400" spc="-65" dirty="0"/>
              <a:t>,</a:t>
            </a:r>
            <a:r>
              <a:rPr sz="2400" spc="-190" dirty="0"/>
              <a:t> </a:t>
            </a:r>
            <a:r>
              <a:rPr sz="2400" spc="80" dirty="0"/>
              <a:t>excep</a:t>
            </a:r>
            <a:r>
              <a:rPr sz="2400" spc="-135" dirty="0"/>
              <a:t>t</a:t>
            </a:r>
            <a:r>
              <a:rPr sz="2400" spc="-170" dirty="0"/>
              <a:t> </a:t>
            </a:r>
            <a:r>
              <a:rPr sz="2400" spc="-125" dirty="0"/>
              <a:t>t</a:t>
            </a:r>
            <a:r>
              <a:rPr sz="2400" spc="-55" dirty="0"/>
              <a:t>h</a:t>
            </a:r>
            <a:r>
              <a:rPr sz="2400" spc="30" dirty="0"/>
              <a:t>a</a:t>
            </a:r>
            <a:r>
              <a:rPr sz="2400" spc="25" dirty="0"/>
              <a:t>t</a:t>
            </a:r>
            <a:r>
              <a:rPr sz="2400" spc="-180" dirty="0"/>
              <a:t> </a:t>
            </a:r>
            <a:r>
              <a:rPr sz="2400" spc="-114" dirty="0"/>
              <a:t>t</a:t>
            </a:r>
            <a:r>
              <a:rPr sz="2400" spc="-65" dirty="0"/>
              <a:t>h</a:t>
            </a:r>
            <a:r>
              <a:rPr sz="2400" spc="130" dirty="0"/>
              <a:t>e</a:t>
            </a:r>
            <a:r>
              <a:rPr sz="2400" spc="-190" dirty="0"/>
              <a:t> </a:t>
            </a:r>
            <a:r>
              <a:rPr sz="2400" spc="-130" dirty="0"/>
              <a:t>t</a:t>
            </a:r>
            <a:r>
              <a:rPr sz="2400" spc="-300" dirty="0"/>
              <a:t>r</a:t>
            </a:r>
            <a:r>
              <a:rPr sz="2400" spc="-185" dirty="0"/>
              <a:t>i</a:t>
            </a:r>
            <a:r>
              <a:rPr sz="2400" spc="120" dirty="0"/>
              <a:t>gg</a:t>
            </a:r>
            <a:r>
              <a:rPr sz="2400" spc="-145" dirty="0"/>
              <a:t>er</a:t>
            </a:r>
            <a:r>
              <a:rPr sz="2400" spc="-90" dirty="0"/>
              <a:t>i</a:t>
            </a:r>
            <a:r>
              <a:rPr sz="2400" spc="-55" dirty="0"/>
              <a:t>n</a:t>
            </a:r>
            <a:r>
              <a:rPr sz="2400" spc="120" dirty="0"/>
              <a:t>g</a:t>
            </a:r>
            <a:r>
              <a:rPr sz="2400" spc="-185" dirty="0"/>
              <a:t> </a:t>
            </a:r>
            <a:r>
              <a:rPr sz="2400" spc="-110" dirty="0"/>
              <a:t>m</a:t>
            </a:r>
            <a:r>
              <a:rPr sz="2400" spc="-55" dirty="0"/>
              <a:t>u</a:t>
            </a:r>
            <a:r>
              <a:rPr sz="2400" spc="-325" dirty="0"/>
              <a:t>s</a:t>
            </a:r>
            <a:r>
              <a:rPr sz="2400" spc="-135" dirty="0"/>
              <a:t>t</a:t>
            </a:r>
            <a:r>
              <a:rPr sz="2400" spc="-170" dirty="0"/>
              <a:t> </a:t>
            </a:r>
            <a:r>
              <a:rPr sz="2400" spc="130" dirty="0"/>
              <a:t>b</a:t>
            </a:r>
            <a:r>
              <a:rPr sz="2400" spc="90" dirty="0"/>
              <a:t>e  </a:t>
            </a:r>
            <a:r>
              <a:rPr sz="2400" spc="145" dirty="0"/>
              <a:t>d</a:t>
            </a:r>
            <a:r>
              <a:rPr sz="2400" spc="20" dirty="0"/>
              <a:t>on</a:t>
            </a:r>
            <a:r>
              <a:rPr sz="2400" spc="130" dirty="0"/>
              <a:t>e</a:t>
            </a:r>
            <a:r>
              <a:rPr sz="2400" spc="-190" dirty="0"/>
              <a:t> </a:t>
            </a:r>
            <a:r>
              <a:rPr sz="2400" spc="25" dirty="0"/>
              <a:t>w</a:t>
            </a:r>
            <a:r>
              <a:rPr sz="2400" spc="-135" dirty="0"/>
              <a:t>i</a:t>
            </a:r>
            <a:r>
              <a:rPr sz="2400" spc="-170" dirty="0"/>
              <a:t>t</a:t>
            </a:r>
            <a:r>
              <a:rPr sz="2400" spc="-60" dirty="0"/>
              <a:t>h</a:t>
            </a:r>
            <a:r>
              <a:rPr sz="2400" spc="-180" dirty="0"/>
              <a:t> </a:t>
            </a:r>
            <a:r>
              <a:rPr sz="2400" spc="-130" dirty="0"/>
              <a:t>t</a:t>
            </a:r>
            <a:r>
              <a:rPr sz="2400" spc="-55" dirty="0"/>
              <a:t>h</a:t>
            </a:r>
            <a:r>
              <a:rPr sz="2400" spc="130" dirty="0"/>
              <a:t>e</a:t>
            </a:r>
            <a:r>
              <a:rPr sz="2400" spc="-190" dirty="0"/>
              <a:t> </a:t>
            </a:r>
            <a:r>
              <a:rPr sz="2400" spc="225" dirty="0"/>
              <a:t>G</a:t>
            </a:r>
            <a:r>
              <a:rPr sz="2400" spc="125" dirty="0"/>
              <a:t>A</a:t>
            </a:r>
            <a:r>
              <a:rPr sz="2400" spc="-345" dirty="0"/>
              <a:t>T</a:t>
            </a:r>
            <a:r>
              <a:rPr sz="2400" spc="-350" dirty="0"/>
              <a:t>E</a:t>
            </a:r>
            <a:r>
              <a:rPr sz="2400" spc="-190" dirty="0"/>
              <a:t> </a:t>
            </a:r>
            <a:r>
              <a:rPr sz="2400" spc="-195" dirty="0"/>
              <a:t>i</a:t>
            </a:r>
            <a:r>
              <a:rPr sz="2400" spc="-55" dirty="0"/>
              <a:t>n</a:t>
            </a:r>
            <a:r>
              <a:rPr sz="2400" spc="130" dirty="0"/>
              <a:t>p</a:t>
            </a:r>
            <a:r>
              <a:rPr sz="2400" spc="-55" dirty="0"/>
              <a:t>u</a:t>
            </a:r>
            <a:r>
              <a:rPr sz="2400" spc="-135" dirty="0"/>
              <a:t>t</a:t>
            </a:r>
            <a:endParaRPr sz="2400">
              <a:latin typeface="MS UI Gothic"/>
              <a:cs typeface="MS UI Gothic"/>
            </a:endParaRPr>
          </a:p>
          <a:p>
            <a:pPr marL="2577465" marR="30480" indent="-285750">
              <a:lnSpc>
                <a:spcPct val="100000"/>
              </a:lnSpc>
              <a:spcBef>
                <a:spcPts val="1000"/>
              </a:spcBef>
              <a:tabLst>
                <a:tab pos="2576830" algn="l"/>
              </a:tabLst>
            </a:pPr>
            <a:r>
              <a:rPr sz="3600" i="0" spc="-2287" baseline="5787" dirty="0">
                <a:solidFill>
                  <a:srgbClr val="A42F0F"/>
                </a:solidFill>
                <a:latin typeface="MS UI Gothic"/>
                <a:cs typeface="MS UI Gothic"/>
              </a:rPr>
              <a:t>	</a:t>
            </a:r>
            <a:r>
              <a:rPr sz="2400" spc="-265" dirty="0"/>
              <a:t>Th</a:t>
            </a:r>
            <a:r>
              <a:rPr sz="2400" spc="130" dirty="0"/>
              <a:t>e</a:t>
            </a:r>
            <a:r>
              <a:rPr sz="2400" spc="-190" dirty="0"/>
              <a:t> </a:t>
            </a:r>
            <a:r>
              <a:rPr sz="2400" spc="300" dirty="0"/>
              <a:t>c</a:t>
            </a:r>
            <a:r>
              <a:rPr sz="2400" spc="-5" dirty="0"/>
              <a:t>oun</a:t>
            </a:r>
            <a:r>
              <a:rPr sz="2400" spc="-135" dirty="0"/>
              <a:t>t</a:t>
            </a:r>
            <a:r>
              <a:rPr sz="2400" spc="-170" dirty="0"/>
              <a:t> </a:t>
            </a:r>
            <a:r>
              <a:rPr sz="2400" spc="-315" dirty="0"/>
              <a:t>s</a:t>
            </a:r>
            <a:r>
              <a:rPr sz="2400" spc="-130" dirty="0"/>
              <a:t>t</a:t>
            </a:r>
            <a:r>
              <a:rPr sz="2400" spc="200" dirty="0"/>
              <a:t>a</a:t>
            </a:r>
            <a:r>
              <a:rPr sz="2400" spc="-235" dirty="0"/>
              <a:t>r</a:t>
            </a:r>
            <a:r>
              <a:rPr sz="2400" spc="-200" dirty="0"/>
              <a:t>t</a:t>
            </a:r>
            <a:r>
              <a:rPr sz="2400" spc="-320" dirty="0"/>
              <a:t>s</a:t>
            </a:r>
            <a:r>
              <a:rPr sz="2400" spc="-190" dirty="0"/>
              <a:t> </a:t>
            </a:r>
            <a:r>
              <a:rPr sz="2400" spc="114" dirty="0"/>
              <a:t>o</a:t>
            </a:r>
            <a:r>
              <a:rPr sz="2400" spc="-65" dirty="0"/>
              <a:t>n</a:t>
            </a:r>
            <a:r>
              <a:rPr sz="2400" spc="-195" dirty="0"/>
              <a:t>l</a:t>
            </a:r>
            <a:r>
              <a:rPr sz="2400" spc="-135" dirty="0"/>
              <a:t>y</a:t>
            </a:r>
            <a:r>
              <a:rPr sz="2400" spc="-195" dirty="0"/>
              <a:t> </a:t>
            </a:r>
            <a:r>
              <a:rPr sz="2400" spc="25" dirty="0"/>
              <a:t>w</a:t>
            </a:r>
            <a:r>
              <a:rPr sz="2400" spc="-55" dirty="0"/>
              <a:t>h</a:t>
            </a:r>
            <a:r>
              <a:rPr sz="2400" spc="30" dirty="0"/>
              <a:t>e</a:t>
            </a:r>
            <a:r>
              <a:rPr sz="2400" spc="35" dirty="0"/>
              <a:t>n</a:t>
            </a:r>
            <a:r>
              <a:rPr sz="2400" spc="-190" dirty="0"/>
              <a:t> </a:t>
            </a:r>
            <a:r>
              <a:rPr sz="2400" spc="195" dirty="0"/>
              <a:t>a</a:t>
            </a:r>
            <a:r>
              <a:rPr sz="2400" spc="-175" dirty="0"/>
              <a:t> </a:t>
            </a:r>
            <a:r>
              <a:rPr sz="2400" spc="-295" dirty="0"/>
              <a:t>0</a:t>
            </a:r>
            <a:r>
              <a:rPr sz="2400" spc="-215" dirty="0"/>
              <a:t>-</a:t>
            </a:r>
            <a:r>
              <a:rPr sz="2400" spc="-125" dirty="0"/>
              <a:t>t</a:t>
            </a:r>
            <a:r>
              <a:rPr sz="2400" spc="-110" dirty="0"/>
              <a:t>o</a:t>
            </a:r>
            <a:r>
              <a:rPr sz="2400" spc="-90" dirty="0"/>
              <a:t>-</a:t>
            </a:r>
            <a:r>
              <a:rPr sz="2400" spc="-200" dirty="0"/>
              <a:t>1</a:t>
            </a:r>
            <a:r>
              <a:rPr sz="2400" spc="-185" dirty="0"/>
              <a:t> </a:t>
            </a:r>
            <a:r>
              <a:rPr sz="2400" spc="-45" dirty="0"/>
              <a:t>pu</a:t>
            </a:r>
            <a:r>
              <a:rPr sz="2400" spc="-30" dirty="0"/>
              <a:t>l</a:t>
            </a:r>
            <a:r>
              <a:rPr sz="2400" spc="-315" dirty="0"/>
              <a:t>s</a:t>
            </a:r>
            <a:r>
              <a:rPr sz="2400" spc="130" dirty="0"/>
              <a:t>e</a:t>
            </a:r>
            <a:r>
              <a:rPr sz="2400" spc="-195" dirty="0"/>
              <a:t> </a:t>
            </a:r>
            <a:r>
              <a:rPr sz="2400" spc="-180" dirty="0"/>
              <a:t>i</a:t>
            </a:r>
            <a:r>
              <a:rPr sz="2400" spc="-330" dirty="0"/>
              <a:t>s</a:t>
            </a:r>
            <a:r>
              <a:rPr sz="2400" spc="-180" dirty="0"/>
              <a:t> </a:t>
            </a:r>
            <a:r>
              <a:rPr sz="2400" spc="-325" dirty="0"/>
              <a:t>s</a:t>
            </a:r>
            <a:r>
              <a:rPr sz="2400" spc="135" dirty="0"/>
              <a:t>e</a:t>
            </a:r>
            <a:r>
              <a:rPr sz="2400" spc="-65" dirty="0"/>
              <a:t>n</a:t>
            </a:r>
            <a:r>
              <a:rPr sz="2400" spc="-135" dirty="0"/>
              <a:t>t</a:t>
            </a:r>
            <a:r>
              <a:rPr sz="2400" spc="-170" dirty="0"/>
              <a:t> </a:t>
            </a:r>
            <a:r>
              <a:rPr sz="2400" spc="-125" dirty="0"/>
              <a:t>t</a:t>
            </a:r>
            <a:r>
              <a:rPr sz="2400" spc="110" dirty="0"/>
              <a:t>o</a:t>
            </a:r>
            <a:r>
              <a:rPr sz="2400" spc="-190" dirty="0"/>
              <a:t> </a:t>
            </a:r>
            <a:r>
              <a:rPr sz="2400" spc="-125" dirty="0"/>
              <a:t>t</a:t>
            </a:r>
            <a:r>
              <a:rPr sz="2400" spc="-65" dirty="0"/>
              <a:t>h</a:t>
            </a:r>
            <a:r>
              <a:rPr sz="2400" spc="90" dirty="0"/>
              <a:t>e  </a:t>
            </a:r>
            <a:r>
              <a:rPr sz="2400" spc="225" dirty="0"/>
              <a:t>G</a:t>
            </a:r>
            <a:r>
              <a:rPr sz="2400" spc="135" dirty="0"/>
              <a:t>A</a:t>
            </a:r>
            <a:r>
              <a:rPr sz="2400" spc="-345" dirty="0"/>
              <a:t>T</a:t>
            </a:r>
            <a:r>
              <a:rPr sz="2400" spc="-350" dirty="0"/>
              <a:t>E</a:t>
            </a:r>
            <a:r>
              <a:rPr sz="2400" spc="-195" dirty="0"/>
              <a:t> </a:t>
            </a:r>
            <a:r>
              <a:rPr sz="2400" spc="-80" dirty="0"/>
              <a:t>i</a:t>
            </a:r>
            <a:r>
              <a:rPr sz="2400" spc="-160" dirty="0"/>
              <a:t>n</a:t>
            </a:r>
            <a:r>
              <a:rPr sz="2400" spc="120" dirty="0"/>
              <a:t>p</a:t>
            </a:r>
            <a:r>
              <a:rPr sz="2400" spc="-55" dirty="0"/>
              <a:t>u</a:t>
            </a:r>
            <a:r>
              <a:rPr sz="2400" spc="-135" dirty="0"/>
              <a:t>t</a:t>
            </a:r>
            <a:endParaRPr sz="2400">
              <a:latin typeface="MS UI Gothic"/>
              <a:cs typeface="MS UI Gothic"/>
            </a:endParaRPr>
          </a:p>
          <a:p>
            <a:pPr marL="2577465" marR="292735" indent="-285750">
              <a:lnSpc>
                <a:spcPct val="100000"/>
              </a:lnSpc>
              <a:spcBef>
                <a:spcPts val="990"/>
              </a:spcBef>
              <a:tabLst>
                <a:tab pos="2576830" algn="l"/>
              </a:tabLst>
            </a:pPr>
            <a:r>
              <a:rPr sz="3600" i="0" spc="-2287" baseline="5787" dirty="0">
                <a:solidFill>
                  <a:srgbClr val="A42F0F"/>
                </a:solidFill>
                <a:latin typeface="MS UI Gothic"/>
                <a:cs typeface="MS UI Gothic"/>
              </a:rPr>
              <a:t>	</a:t>
            </a:r>
            <a:r>
              <a:rPr sz="2400" spc="-270" dirty="0"/>
              <a:t>If</a:t>
            </a:r>
            <a:r>
              <a:rPr sz="2400" spc="-190" dirty="0"/>
              <a:t> </a:t>
            </a:r>
            <a:r>
              <a:rPr sz="2400" spc="-85" dirty="0"/>
              <a:t>GATE</a:t>
            </a:r>
            <a:r>
              <a:rPr sz="2400" spc="-180" dirty="0"/>
              <a:t> </a:t>
            </a:r>
            <a:r>
              <a:rPr sz="2400" spc="-45" dirty="0"/>
              <a:t>retriggered</a:t>
            </a:r>
            <a:r>
              <a:rPr sz="2400" spc="-195" dirty="0"/>
              <a:t> </a:t>
            </a:r>
            <a:r>
              <a:rPr sz="2400" spc="-60" dirty="0"/>
              <a:t>during</a:t>
            </a:r>
            <a:r>
              <a:rPr sz="2400" spc="-180" dirty="0"/>
              <a:t> </a:t>
            </a:r>
            <a:r>
              <a:rPr sz="2400" spc="-15" dirty="0"/>
              <a:t>the</a:t>
            </a:r>
            <a:r>
              <a:rPr sz="2400" spc="-185" dirty="0"/>
              <a:t> </a:t>
            </a:r>
            <a:r>
              <a:rPr sz="2400" spc="-20" dirty="0"/>
              <a:t>counting,</a:t>
            </a:r>
            <a:r>
              <a:rPr sz="2400" spc="-200" dirty="0"/>
              <a:t> </a:t>
            </a:r>
            <a:r>
              <a:rPr sz="2400" spc="-155" dirty="0"/>
              <a:t>it</a:t>
            </a:r>
            <a:r>
              <a:rPr sz="2400" spc="-175" dirty="0"/>
              <a:t> </a:t>
            </a:r>
            <a:r>
              <a:rPr sz="2400" spc="-135" dirty="0"/>
              <a:t>will</a:t>
            </a:r>
            <a:r>
              <a:rPr sz="2400" spc="-190" dirty="0"/>
              <a:t> </a:t>
            </a:r>
            <a:r>
              <a:rPr sz="2400" spc="-125" dirty="0"/>
              <a:t>restart </a:t>
            </a:r>
            <a:r>
              <a:rPr sz="2400" spc="-830" dirty="0"/>
              <a:t> </a:t>
            </a:r>
            <a:r>
              <a:rPr sz="2400" spc="-125" dirty="0"/>
              <a:t>t</a:t>
            </a:r>
            <a:r>
              <a:rPr sz="2400" spc="-55" dirty="0"/>
              <a:t>h</a:t>
            </a:r>
            <a:r>
              <a:rPr sz="2400" spc="130" dirty="0"/>
              <a:t>e</a:t>
            </a:r>
            <a:r>
              <a:rPr sz="2400" spc="-195" dirty="0"/>
              <a:t> </a:t>
            </a:r>
            <a:r>
              <a:rPr sz="2400" spc="145" dirty="0"/>
              <a:t>d</a:t>
            </a:r>
            <a:r>
              <a:rPr sz="2400" spc="55" dirty="0"/>
              <a:t>o</a:t>
            </a:r>
            <a:r>
              <a:rPr sz="2400" spc="70" dirty="0"/>
              <a:t>w</a:t>
            </a:r>
            <a:r>
              <a:rPr sz="2400" spc="-60" dirty="0"/>
              <a:t>n</a:t>
            </a:r>
            <a:r>
              <a:rPr sz="2400" spc="-190" dirty="0"/>
              <a:t> </a:t>
            </a:r>
            <a:r>
              <a:rPr sz="2400" spc="185" dirty="0"/>
              <a:t>c</a:t>
            </a:r>
            <a:r>
              <a:rPr sz="2400" spc="220" dirty="0"/>
              <a:t>o</a:t>
            </a:r>
            <a:r>
              <a:rPr sz="2400" spc="-65" dirty="0"/>
              <a:t>un</a:t>
            </a:r>
            <a:r>
              <a:rPr sz="2400" spc="-125" dirty="0"/>
              <a:t>t</a:t>
            </a:r>
            <a:r>
              <a:rPr sz="2400" spc="-80" dirty="0"/>
              <a:t>i</a:t>
            </a:r>
            <a:r>
              <a:rPr sz="2400" spc="-160" dirty="0"/>
              <a:t>n</a:t>
            </a:r>
            <a:r>
              <a:rPr sz="2400" spc="120" dirty="0"/>
              <a:t>g</a:t>
            </a:r>
            <a:endParaRPr sz="2400">
              <a:latin typeface="MS UI Gothic"/>
              <a:cs typeface="MS UI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4339" y="415290"/>
            <a:ext cx="33788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43000" algn="l"/>
              </a:tabLst>
            </a:pPr>
            <a:r>
              <a:rPr b="0" spc="195" dirty="0">
                <a:solidFill>
                  <a:srgbClr val="BF0000"/>
                </a:solidFill>
                <a:latin typeface="Cambria Math"/>
                <a:cs typeface="Cambria Math"/>
              </a:rPr>
              <a:t>Read	</a:t>
            </a:r>
            <a:r>
              <a:rPr b="0" spc="229" dirty="0">
                <a:solidFill>
                  <a:srgbClr val="BF0000"/>
                </a:solidFill>
                <a:latin typeface="Cambria Math"/>
                <a:cs typeface="Cambria Math"/>
              </a:rPr>
              <a:t>Operations</a:t>
            </a:r>
          </a:p>
        </p:txBody>
      </p:sp>
      <p:sp>
        <p:nvSpPr>
          <p:cNvPr id="3" name="object 3"/>
          <p:cNvSpPr/>
          <p:nvPr/>
        </p:nvSpPr>
        <p:spPr>
          <a:xfrm>
            <a:off x="1717039" y="1283969"/>
            <a:ext cx="3392170" cy="0"/>
          </a:xfrm>
          <a:custGeom>
            <a:avLst/>
            <a:gdLst/>
            <a:ahLst/>
            <a:cxnLst/>
            <a:rect l="l" t="t" r="r" b="b"/>
            <a:pathLst>
              <a:path w="3392170">
                <a:moveTo>
                  <a:pt x="0" y="0"/>
                </a:moveTo>
                <a:lnTo>
                  <a:pt x="3392170" y="0"/>
                </a:lnTo>
              </a:path>
            </a:pathLst>
          </a:custGeom>
          <a:ln w="105410">
            <a:solidFill>
              <a:srgbClr val="B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28520" y="4606290"/>
            <a:ext cx="3980179" cy="0"/>
          </a:xfrm>
          <a:custGeom>
            <a:avLst/>
            <a:gdLst/>
            <a:ahLst/>
            <a:cxnLst/>
            <a:rect l="l" t="t" r="r" b="b"/>
            <a:pathLst>
              <a:path w="3980179">
                <a:moveTo>
                  <a:pt x="0" y="0"/>
                </a:moveTo>
                <a:lnTo>
                  <a:pt x="3980179" y="0"/>
                </a:lnTo>
              </a:path>
            </a:pathLst>
          </a:custGeom>
          <a:ln w="92710">
            <a:solidFill>
              <a:srgbClr val="B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01469" y="1253490"/>
            <a:ext cx="8924290" cy="5252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1900" marR="1311910" indent="-457200">
              <a:lnSpc>
                <a:spcPct val="100000"/>
              </a:lnSpc>
              <a:spcBef>
                <a:spcPts val="100"/>
              </a:spcBef>
              <a:buFont typeface="MS UI Gothic"/>
              <a:buChar char="➢"/>
              <a:tabLst>
                <a:tab pos="1231265" algn="l"/>
                <a:tab pos="1231900" algn="l"/>
              </a:tabLst>
            </a:pPr>
            <a:r>
              <a:rPr sz="2400" dirty="0">
                <a:latin typeface="Cambria Math"/>
                <a:cs typeface="Cambria Math"/>
              </a:rPr>
              <a:t>There are </a:t>
            </a:r>
            <a:r>
              <a:rPr sz="2400" spc="-5" dirty="0">
                <a:latin typeface="Cambria Math"/>
                <a:cs typeface="Cambria Math"/>
              </a:rPr>
              <a:t>three possible methods for </a:t>
            </a:r>
            <a:r>
              <a:rPr sz="2400" dirty="0">
                <a:latin typeface="Cambria Math"/>
                <a:cs typeface="Cambria Math"/>
              </a:rPr>
              <a:t>reading the </a:t>
            </a:r>
            <a:r>
              <a:rPr sz="2400" spc="-51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counters:</a:t>
            </a:r>
            <a:endParaRPr sz="2400">
              <a:latin typeface="Cambria Math"/>
              <a:cs typeface="Cambria Math"/>
            </a:endParaRPr>
          </a:p>
          <a:p>
            <a:pPr marL="1297940" indent="-523240">
              <a:lnSpc>
                <a:spcPct val="100000"/>
              </a:lnSpc>
              <a:spcBef>
                <a:spcPts val="1500"/>
              </a:spcBef>
              <a:buAutoNum type="arabicPeriod"/>
              <a:tabLst>
                <a:tab pos="1297305" algn="l"/>
                <a:tab pos="1297940" algn="l"/>
              </a:tabLst>
            </a:pPr>
            <a:r>
              <a:rPr sz="2400" dirty="0">
                <a:latin typeface="Cambria Math"/>
                <a:cs typeface="Cambria Math"/>
              </a:rPr>
              <a:t>a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simple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read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operation</a:t>
            </a:r>
            <a:endParaRPr sz="2400">
              <a:latin typeface="Cambria Math"/>
              <a:cs typeface="Cambria Math"/>
            </a:endParaRPr>
          </a:p>
          <a:p>
            <a:pPr marL="1297940" indent="-523240">
              <a:lnSpc>
                <a:spcPct val="100000"/>
              </a:lnSpc>
              <a:spcBef>
                <a:spcPts val="1500"/>
              </a:spcBef>
              <a:buAutoNum type="arabicPeriod"/>
              <a:tabLst>
                <a:tab pos="1297305" algn="l"/>
                <a:tab pos="1297940" algn="l"/>
              </a:tabLst>
            </a:pPr>
            <a:r>
              <a:rPr sz="2400" dirty="0">
                <a:latin typeface="Cambria Math"/>
                <a:cs typeface="Cambria Math"/>
              </a:rPr>
              <a:t>the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Counter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Latch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Command</a:t>
            </a:r>
            <a:endParaRPr sz="2400">
              <a:latin typeface="Cambria Math"/>
              <a:cs typeface="Cambria Math"/>
            </a:endParaRPr>
          </a:p>
          <a:p>
            <a:pPr marL="1297940" indent="-523240">
              <a:lnSpc>
                <a:spcPct val="100000"/>
              </a:lnSpc>
              <a:spcBef>
                <a:spcPts val="1500"/>
              </a:spcBef>
              <a:buAutoNum type="arabicPeriod"/>
              <a:tabLst>
                <a:tab pos="1297305" algn="l"/>
                <a:tab pos="1297940" algn="l"/>
              </a:tabLst>
            </a:pPr>
            <a:r>
              <a:rPr sz="2400" dirty="0">
                <a:latin typeface="Cambria Math"/>
                <a:cs typeface="Cambria Math"/>
              </a:rPr>
              <a:t>the</a:t>
            </a:r>
            <a:r>
              <a:rPr sz="2400" spc="-3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Read-Back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Command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  <a:tabLst>
                <a:tab pos="526415" algn="l"/>
                <a:tab pos="1843405" algn="l"/>
                <a:tab pos="2754630" algn="l"/>
                <a:tab pos="4613275" algn="l"/>
              </a:tabLst>
            </a:pPr>
            <a:r>
              <a:rPr sz="2800" spc="110" dirty="0">
                <a:solidFill>
                  <a:srgbClr val="BF0000"/>
                </a:solidFill>
                <a:latin typeface="Cambria Math"/>
                <a:cs typeface="Cambria Math"/>
              </a:rPr>
              <a:t>1.	</a:t>
            </a:r>
            <a:r>
              <a:rPr sz="2800" spc="180" dirty="0">
                <a:solidFill>
                  <a:srgbClr val="BF0000"/>
                </a:solidFill>
                <a:latin typeface="Cambria Math"/>
                <a:cs typeface="Cambria Math"/>
              </a:rPr>
              <a:t>Simple	</a:t>
            </a:r>
            <a:r>
              <a:rPr sz="2800" spc="165" dirty="0">
                <a:solidFill>
                  <a:srgbClr val="BF0000"/>
                </a:solidFill>
                <a:latin typeface="Cambria Math"/>
                <a:cs typeface="Cambria Math"/>
              </a:rPr>
              <a:t>read	</a:t>
            </a:r>
            <a:r>
              <a:rPr sz="2800" spc="195" dirty="0">
                <a:solidFill>
                  <a:srgbClr val="BF0000"/>
                </a:solidFill>
                <a:latin typeface="Cambria Math"/>
                <a:cs typeface="Cambria Math"/>
              </a:rPr>
              <a:t>operation	</a:t>
            </a:r>
            <a:r>
              <a:rPr sz="2400" dirty="0">
                <a:latin typeface="Cambria Math"/>
                <a:cs typeface="Cambria Math"/>
              </a:rPr>
              <a:t>:</a:t>
            </a:r>
            <a:endParaRPr sz="2400">
              <a:latin typeface="Cambria Math"/>
              <a:cs typeface="Cambria Math"/>
            </a:endParaRPr>
          </a:p>
          <a:p>
            <a:pPr marL="527050" marR="5080" indent="398780">
              <a:lnSpc>
                <a:spcPct val="100000"/>
              </a:lnSpc>
              <a:spcBef>
                <a:spcPts val="1500"/>
              </a:spcBef>
            </a:pPr>
            <a:r>
              <a:rPr sz="2400" smtClean="0">
                <a:latin typeface="Cambria Math"/>
                <a:cs typeface="Cambria Math"/>
              </a:rPr>
              <a:t>The</a:t>
            </a:r>
            <a:r>
              <a:rPr sz="2400" spc="5" smtClean="0">
                <a:latin typeface="Cambria Math"/>
                <a:cs typeface="Cambria Math"/>
              </a:rPr>
              <a:t> </a:t>
            </a:r>
            <a:r>
              <a:rPr sz="2400" spc="-5" smtClean="0">
                <a:latin typeface="Cambria Math"/>
                <a:cs typeface="Cambria Math"/>
              </a:rPr>
              <a:t>Counter</a:t>
            </a:r>
            <a:r>
              <a:rPr sz="2400" spc="5" smtClean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which </a:t>
            </a:r>
            <a:r>
              <a:rPr sz="2400" dirty="0">
                <a:latin typeface="Cambria Math"/>
                <a:cs typeface="Cambria Math"/>
              </a:rPr>
              <a:t>is</a:t>
            </a:r>
            <a:r>
              <a:rPr sz="2400" spc="-5" dirty="0">
                <a:latin typeface="Cambria Math"/>
                <a:cs typeface="Cambria Math"/>
              </a:rPr>
              <a:t> selected </a:t>
            </a:r>
            <a:r>
              <a:rPr sz="2400" dirty="0">
                <a:latin typeface="Cambria Math"/>
                <a:cs typeface="Cambria Math"/>
              </a:rPr>
              <a:t>with</a:t>
            </a:r>
            <a:r>
              <a:rPr sz="2400" spc="-5" dirty="0">
                <a:latin typeface="Cambria Math"/>
                <a:cs typeface="Cambria Math"/>
              </a:rPr>
              <a:t> the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A1, </a:t>
            </a:r>
            <a:r>
              <a:rPr sz="2400" dirty="0">
                <a:latin typeface="Cambria Math"/>
                <a:cs typeface="Cambria Math"/>
              </a:rPr>
              <a:t>A0</a:t>
            </a:r>
            <a:r>
              <a:rPr sz="2400" spc="-5" dirty="0">
                <a:latin typeface="Cambria Math"/>
                <a:cs typeface="Cambria Math"/>
              </a:rPr>
              <a:t> inputs, the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CLK </a:t>
            </a:r>
            <a:r>
              <a:rPr sz="2400" spc="-509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input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of</a:t>
            </a:r>
            <a:r>
              <a:rPr sz="2400" dirty="0">
                <a:latin typeface="Cambria Math"/>
                <a:cs typeface="Cambria Math"/>
              </a:rPr>
              <a:t> the </a:t>
            </a:r>
            <a:r>
              <a:rPr sz="2400" spc="-5" dirty="0">
                <a:latin typeface="Cambria Math"/>
                <a:cs typeface="Cambria Math"/>
              </a:rPr>
              <a:t>selected Counter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must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be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inhibited</a:t>
            </a:r>
            <a:r>
              <a:rPr sz="240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by using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either 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the</a:t>
            </a:r>
            <a:r>
              <a:rPr sz="240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GATE input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or </a:t>
            </a:r>
            <a:r>
              <a:rPr sz="2400" dirty="0">
                <a:latin typeface="Cambria Math"/>
                <a:cs typeface="Cambria Math"/>
              </a:rPr>
              <a:t>external</a:t>
            </a:r>
            <a:r>
              <a:rPr sz="2400" spc="-5" dirty="0">
                <a:latin typeface="Cambria Math"/>
                <a:cs typeface="Cambria Math"/>
              </a:rPr>
              <a:t> logic.</a:t>
            </a:r>
            <a:endParaRPr sz="2400">
              <a:latin typeface="Cambria Math"/>
              <a:cs typeface="Cambria Math"/>
            </a:endParaRPr>
          </a:p>
          <a:p>
            <a:pPr marL="527050" marR="50800" indent="398780">
              <a:lnSpc>
                <a:spcPct val="100000"/>
              </a:lnSpc>
              <a:spcBef>
                <a:spcPts val="1500"/>
              </a:spcBef>
            </a:pPr>
            <a:r>
              <a:rPr sz="2400" dirty="0">
                <a:latin typeface="Cambria Math"/>
                <a:cs typeface="Cambria Math"/>
              </a:rPr>
              <a:t>Otherwise,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the </a:t>
            </a:r>
            <a:r>
              <a:rPr sz="2400" spc="-5" dirty="0">
                <a:latin typeface="Cambria Math"/>
                <a:cs typeface="Cambria Math"/>
              </a:rPr>
              <a:t>count may be </a:t>
            </a:r>
            <a:r>
              <a:rPr sz="2400" dirty="0">
                <a:latin typeface="Cambria Math"/>
                <a:cs typeface="Cambria Math"/>
              </a:rPr>
              <a:t>in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the</a:t>
            </a:r>
            <a:r>
              <a:rPr sz="240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process of</a:t>
            </a:r>
            <a:r>
              <a:rPr sz="240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changing</a:t>
            </a:r>
            <a:r>
              <a:rPr sz="240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when </a:t>
            </a:r>
            <a:r>
              <a:rPr sz="2400" spc="-5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it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is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read,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giving </a:t>
            </a:r>
            <a:r>
              <a:rPr sz="2400" spc="-5" dirty="0">
                <a:latin typeface="Cambria Math"/>
                <a:cs typeface="Cambria Math"/>
              </a:rPr>
              <a:t>an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undefined result.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0469" y="339090"/>
            <a:ext cx="49199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6405" algn="l"/>
                <a:tab pos="1976755" algn="l"/>
                <a:tab pos="3063875" algn="l"/>
              </a:tabLst>
            </a:pPr>
            <a:r>
              <a:rPr sz="2800" b="0" spc="110" dirty="0">
                <a:solidFill>
                  <a:srgbClr val="BF0000"/>
                </a:solidFill>
                <a:latin typeface="Cambria Math"/>
                <a:cs typeface="Cambria Math"/>
              </a:rPr>
              <a:t>2.	</a:t>
            </a:r>
            <a:r>
              <a:rPr sz="2800" b="0" spc="190" dirty="0">
                <a:solidFill>
                  <a:srgbClr val="BF0000"/>
                </a:solidFill>
                <a:latin typeface="Cambria Math"/>
                <a:cs typeface="Cambria Math"/>
              </a:rPr>
              <a:t>Counter	</a:t>
            </a:r>
            <a:r>
              <a:rPr sz="2800" b="0" spc="180" dirty="0">
                <a:solidFill>
                  <a:srgbClr val="BF0000"/>
                </a:solidFill>
                <a:latin typeface="Cambria Math"/>
                <a:cs typeface="Cambria Math"/>
              </a:rPr>
              <a:t>Latch	</a:t>
            </a:r>
            <a:r>
              <a:rPr sz="2800" b="0" spc="190" dirty="0">
                <a:solidFill>
                  <a:srgbClr val="BF0000"/>
                </a:solidFill>
                <a:latin typeface="Cambria Math"/>
                <a:cs typeface="Cambria Math"/>
              </a:rPr>
              <a:t>Command: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67510" y="1101089"/>
            <a:ext cx="4495800" cy="0"/>
          </a:xfrm>
          <a:custGeom>
            <a:avLst/>
            <a:gdLst/>
            <a:ahLst/>
            <a:cxnLst/>
            <a:rect l="l" t="t" r="r" b="b"/>
            <a:pathLst>
              <a:path w="4495800">
                <a:moveTo>
                  <a:pt x="0" y="0"/>
                </a:moveTo>
                <a:lnTo>
                  <a:pt x="4495800" y="0"/>
                </a:lnTo>
              </a:path>
            </a:pathLst>
          </a:custGeom>
          <a:ln w="92710">
            <a:solidFill>
              <a:srgbClr val="B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1800" y="609600"/>
            <a:ext cx="3886200" cy="6096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76069" y="1101090"/>
            <a:ext cx="491998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0" marR="148590" indent="-457200">
              <a:lnSpc>
                <a:spcPct val="100000"/>
              </a:lnSpc>
              <a:spcBef>
                <a:spcPts val="100"/>
              </a:spcBef>
              <a:buFont typeface="MS UI Gothic"/>
              <a:buChar char="➢"/>
              <a:tabLst>
                <a:tab pos="614045" algn="l"/>
                <a:tab pos="614680" algn="l"/>
              </a:tabLst>
            </a:pPr>
            <a:r>
              <a:rPr dirty="0"/>
              <a:t>	</a:t>
            </a:r>
            <a:r>
              <a:rPr sz="2400" spc="-5" dirty="0">
                <a:latin typeface="Cambria Math"/>
                <a:cs typeface="Cambria Math"/>
              </a:rPr>
              <a:t>SC0,</a:t>
            </a:r>
            <a:r>
              <a:rPr sz="2400" spc="39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SC1</a:t>
            </a:r>
            <a:r>
              <a:rPr sz="2400" spc="39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bits</a:t>
            </a:r>
            <a:r>
              <a:rPr sz="2400" spc="40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select</a:t>
            </a:r>
            <a:r>
              <a:rPr sz="2400" spc="40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one</a:t>
            </a:r>
            <a:r>
              <a:rPr sz="2400" spc="40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of</a:t>
            </a:r>
            <a:r>
              <a:rPr sz="2400" spc="40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the </a:t>
            </a:r>
            <a:r>
              <a:rPr sz="2400" spc="-51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three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counters</a:t>
            </a:r>
            <a:endParaRPr sz="2400">
              <a:latin typeface="Cambria Math"/>
              <a:cs typeface="Cambria Math"/>
            </a:endParaRPr>
          </a:p>
          <a:p>
            <a:pPr marL="495300" indent="-457200">
              <a:lnSpc>
                <a:spcPct val="100000"/>
              </a:lnSpc>
              <a:buFont typeface="MS UI Gothic"/>
              <a:buChar char="➢"/>
              <a:tabLst>
                <a:tab pos="494665" algn="l"/>
                <a:tab pos="495300" algn="l"/>
                <a:tab pos="1325880" algn="l"/>
                <a:tab pos="2286000" algn="l"/>
                <a:tab pos="3086100" algn="l"/>
                <a:tab pos="3709035" algn="l"/>
                <a:tab pos="4450080" algn="l"/>
              </a:tabLst>
            </a:pPr>
            <a:r>
              <a:rPr sz="2400" dirty="0">
                <a:latin typeface="Cambria Math"/>
                <a:cs typeface="Cambria Math"/>
              </a:rPr>
              <a:t>Two	</a:t>
            </a:r>
            <a:r>
              <a:rPr sz="2400" spc="-5" dirty="0">
                <a:latin typeface="Cambria Math"/>
                <a:cs typeface="Cambria Math"/>
              </a:rPr>
              <a:t>other	bits,	D5	</a:t>
            </a:r>
            <a:r>
              <a:rPr sz="2400" dirty="0">
                <a:latin typeface="Cambria Math"/>
                <a:cs typeface="Cambria Math"/>
              </a:rPr>
              <a:t>and	</a:t>
            </a:r>
            <a:r>
              <a:rPr sz="2400" spc="-10" dirty="0">
                <a:latin typeface="Cambria Math"/>
                <a:cs typeface="Cambria Math"/>
              </a:rPr>
              <a:t>D4,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1469" y="3088640"/>
            <a:ext cx="268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90" dirty="0">
                <a:latin typeface="MS UI Gothic"/>
                <a:cs typeface="MS UI Gothic"/>
              </a:rPr>
              <a:t>➢</a:t>
            </a:r>
            <a:endParaRPr sz="2400">
              <a:latin typeface="MS UI Gothic"/>
              <a:cs typeface="MS UI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1469" y="5107940"/>
            <a:ext cx="268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90" dirty="0">
                <a:latin typeface="MS UI Gothic"/>
                <a:cs typeface="MS UI Gothic"/>
              </a:rPr>
              <a:t>➢</a:t>
            </a:r>
            <a:endParaRPr sz="2400">
              <a:latin typeface="MS UI Gothic"/>
              <a:cs typeface="MS UI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8670" y="2198370"/>
            <a:ext cx="4413885" cy="40627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mbria Math"/>
                <a:cs typeface="Cambria Math"/>
              </a:rPr>
              <a:t>distinguish </a:t>
            </a:r>
            <a:r>
              <a:rPr sz="2400" dirty="0">
                <a:latin typeface="Cambria Math"/>
                <a:cs typeface="Cambria Math"/>
              </a:rPr>
              <a:t>this </a:t>
            </a:r>
            <a:r>
              <a:rPr sz="2400" spc="-5" dirty="0">
                <a:latin typeface="Cambria Math"/>
                <a:cs typeface="Cambria Math"/>
              </a:rPr>
              <a:t>command </a:t>
            </a:r>
            <a:r>
              <a:rPr sz="2400" dirty="0">
                <a:latin typeface="Cambria Math"/>
                <a:cs typeface="Cambria Math"/>
              </a:rPr>
              <a:t>from a 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control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word</a:t>
            </a:r>
            <a:endParaRPr sz="2400">
              <a:latin typeface="Cambria Math"/>
              <a:cs typeface="Cambria Math"/>
            </a:endParaRPr>
          </a:p>
          <a:p>
            <a:pPr marL="12700" marR="5080" algn="just">
              <a:lnSpc>
                <a:spcPct val="100000"/>
              </a:lnSpc>
              <a:spcBef>
                <a:spcPts val="1500"/>
              </a:spcBef>
            </a:pPr>
            <a:r>
              <a:rPr sz="2400" spc="-5" dirty="0">
                <a:latin typeface="Cambria Math"/>
                <a:cs typeface="Cambria Math"/>
              </a:rPr>
              <a:t>If </a:t>
            </a:r>
            <a:r>
              <a:rPr sz="2400" dirty="0">
                <a:latin typeface="Cambria Math"/>
                <a:cs typeface="Cambria Math"/>
              </a:rPr>
              <a:t>a </a:t>
            </a:r>
            <a:r>
              <a:rPr sz="2400" spc="-5" dirty="0">
                <a:latin typeface="Cambria Math"/>
                <a:cs typeface="Cambria Math"/>
              </a:rPr>
              <a:t>counter </a:t>
            </a:r>
            <a:r>
              <a:rPr sz="2400" spc="5" dirty="0">
                <a:latin typeface="Cambria Math"/>
                <a:cs typeface="Cambria Math"/>
              </a:rPr>
              <a:t>is </a:t>
            </a:r>
            <a:r>
              <a:rPr sz="2400" spc="-5" dirty="0">
                <a:latin typeface="Cambria Math"/>
                <a:cs typeface="Cambria Math"/>
              </a:rPr>
              <a:t>latched </a:t>
            </a:r>
            <a:r>
              <a:rPr sz="2400" dirty="0">
                <a:latin typeface="Cambria Math"/>
                <a:cs typeface="Cambria Math"/>
              </a:rPr>
              <a:t>and </a:t>
            </a:r>
            <a:r>
              <a:rPr sz="2400" spc="-5" dirty="0">
                <a:latin typeface="Cambria Math"/>
                <a:cs typeface="Cambria Math"/>
              </a:rPr>
              <a:t>then, </a:t>
            </a:r>
            <a:r>
              <a:rPr sz="240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some</a:t>
            </a:r>
            <a:r>
              <a:rPr sz="240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time</a:t>
            </a:r>
            <a:r>
              <a:rPr sz="2400" dirty="0">
                <a:latin typeface="Cambria Math"/>
                <a:cs typeface="Cambria Math"/>
              </a:rPr>
              <a:t> later,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latched</a:t>
            </a:r>
            <a:r>
              <a:rPr sz="2400" dirty="0">
                <a:latin typeface="Cambria Math"/>
                <a:cs typeface="Cambria Math"/>
              </a:rPr>
              <a:t> again 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before</a:t>
            </a:r>
            <a:r>
              <a:rPr sz="2400" dirty="0">
                <a:latin typeface="Cambria Math"/>
                <a:cs typeface="Cambria Math"/>
              </a:rPr>
              <a:t> the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count</a:t>
            </a:r>
            <a:r>
              <a:rPr sz="2400" dirty="0">
                <a:latin typeface="Cambria Math"/>
                <a:cs typeface="Cambria Math"/>
              </a:rPr>
              <a:t> is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read,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the 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second counter latch command </a:t>
            </a:r>
            <a:r>
              <a:rPr sz="2400" dirty="0">
                <a:latin typeface="Cambria Math"/>
                <a:cs typeface="Cambria Math"/>
              </a:rPr>
              <a:t>is </a:t>
            </a:r>
            <a:r>
              <a:rPr sz="2400" spc="-51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ignored.</a:t>
            </a:r>
            <a:endParaRPr sz="2400">
              <a:latin typeface="Cambria Math"/>
              <a:cs typeface="Cambria Math"/>
            </a:endParaRPr>
          </a:p>
          <a:p>
            <a:pPr marL="12700" marR="5715" algn="just">
              <a:lnSpc>
                <a:spcPct val="100000"/>
              </a:lnSpc>
              <a:spcBef>
                <a:spcPts val="1490"/>
              </a:spcBef>
            </a:pPr>
            <a:r>
              <a:rPr sz="2400" spc="-5" dirty="0">
                <a:latin typeface="Cambria Math"/>
                <a:cs typeface="Cambria Math"/>
              </a:rPr>
              <a:t>The count </a:t>
            </a:r>
            <a:r>
              <a:rPr sz="2400" dirty="0">
                <a:latin typeface="Cambria Math"/>
                <a:cs typeface="Cambria Math"/>
              </a:rPr>
              <a:t>read </a:t>
            </a:r>
            <a:r>
              <a:rPr sz="2400" spc="-5" dirty="0">
                <a:latin typeface="Cambria Math"/>
                <a:cs typeface="Cambria Math"/>
              </a:rPr>
              <a:t>will be </a:t>
            </a:r>
            <a:r>
              <a:rPr sz="2400" dirty="0">
                <a:latin typeface="Cambria Math"/>
                <a:cs typeface="Cambria Math"/>
              </a:rPr>
              <a:t>the </a:t>
            </a:r>
            <a:r>
              <a:rPr sz="2400" spc="-5" dirty="0">
                <a:latin typeface="Cambria Math"/>
                <a:cs typeface="Cambria Math"/>
              </a:rPr>
              <a:t>count </a:t>
            </a:r>
            <a:r>
              <a:rPr sz="240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at the time </a:t>
            </a:r>
            <a:r>
              <a:rPr sz="2400" dirty="0">
                <a:latin typeface="Cambria Math"/>
                <a:cs typeface="Cambria Math"/>
              </a:rPr>
              <a:t>the first </a:t>
            </a:r>
            <a:r>
              <a:rPr sz="2400" spc="-5" dirty="0">
                <a:latin typeface="Cambria Math"/>
                <a:cs typeface="Cambria Math"/>
              </a:rPr>
              <a:t>counter latch </a:t>
            </a:r>
            <a:r>
              <a:rPr sz="240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command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was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issued.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239" y="339090"/>
            <a:ext cx="56197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6405" algn="l"/>
                <a:tab pos="2404110" algn="l"/>
                <a:tab pos="3807460" algn="l"/>
              </a:tabLst>
            </a:pPr>
            <a:r>
              <a:rPr sz="2800" b="0" spc="110" dirty="0">
                <a:solidFill>
                  <a:srgbClr val="BF0000"/>
                </a:solidFill>
                <a:latin typeface="Cambria Math"/>
                <a:cs typeface="Cambria Math"/>
              </a:rPr>
              <a:t>3.	</a:t>
            </a:r>
            <a:r>
              <a:rPr sz="2800" b="0" spc="195" dirty="0">
                <a:solidFill>
                  <a:srgbClr val="BF0000"/>
                </a:solidFill>
                <a:latin typeface="Cambria Math"/>
                <a:cs typeface="Cambria Math"/>
              </a:rPr>
              <a:t>Read-back	</a:t>
            </a:r>
            <a:r>
              <a:rPr sz="2800" b="0" spc="190" dirty="0">
                <a:solidFill>
                  <a:srgbClr val="BF0000"/>
                </a:solidFill>
                <a:latin typeface="Cambria Math"/>
                <a:cs typeface="Cambria Math"/>
              </a:rPr>
              <a:t>control	command: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05280" y="762000"/>
            <a:ext cx="9055100" cy="4495800"/>
            <a:chOff x="1605280" y="762000"/>
            <a:chExt cx="9055100" cy="4495800"/>
          </a:xfrm>
        </p:grpSpPr>
        <p:sp>
          <p:nvSpPr>
            <p:cNvPr id="4" name="object 4"/>
            <p:cNvSpPr/>
            <p:nvPr/>
          </p:nvSpPr>
          <p:spPr>
            <a:xfrm>
              <a:off x="1605280" y="1101090"/>
              <a:ext cx="5196840" cy="0"/>
            </a:xfrm>
            <a:custGeom>
              <a:avLst/>
              <a:gdLst/>
              <a:ahLst/>
              <a:cxnLst/>
              <a:rect l="l" t="t" r="r" b="b"/>
              <a:pathLst>
                <a:path w="5196840">
                  <a:moveTo>
                    <a:pt x="0" y="0"/>
                  </a:moveTo>
                  <a:lnTo>
                    <a:pt x="5196840" y="0"/>
                  </a:lnTo>
                </a:path>
              </a:pathLst>
            </a:custGeom>
            <a:ln w="92710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9400" y="762000"/>
              <a:ext cx="4030979" cy="44958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600200" y="1235709"/>
            <a:ext cx="207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70" dirty="0">
                <a:latin typeface="MS UI Gothic"/>
                <a:cs typeface="MS UI Gothic"/>
              </a:rPr>
              <a:t>➢</a:t>
            </a:r>
            <a:endParaRPr sz="1800">
              <a:latin typeface="MS UI Gothic"/>
              <a:cs typeface="MS UI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43100" y="1031240"/>
            <a:ext cx="445262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0810" algn="just">
              <a:lnSpc>
                <a:spcPct val="150000"/>
              </a:lnSpc>
              <a:spcBef>
                <a:spcPts val="100"/>
              </a:spcBef>
            </a:pPr>
            <a:r>
              <a:rPr sz="2400" spc="-5" dirty="0">
                <a:latin typeface="Cambria Math"/>
                <a:cs typeface="Cambria Math"/>
              </a:rPr>
              <a:t>The</a:t>
            </a:r>
            <a:r>
              <a:rPr sz="240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read-back</a:t>
            </a:r>
            <a:r>
              <a:rPr sz="240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control,</a:t>
            </a:r>
            <a:r>
              <a:rPr sz="240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word</a:t>
            </a:r>
            <a:r>
              <a:rPr sz="2400" dirty="0">
                <a:latin typeface="Cambria Math"/>
                <a:cs typeface="Cambria Math"/>
              </a:rPr>
              <a:t> is </a:t>
            </a:r>
            <a:r>
              <a:rPr sz="2400" spc="-51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used, when </a:t>
            </a:r>
            <a:r>
              <a:rPr sz="2400" spc="5" dirty="0">
                <a:latin typeface="Cambria Math"/>
                <a:cs typeface="Cambria Math"/>
              </a:rPr>
              <a:t>it </a:t>
            </a:r>
            <a:r>
              <a:rPr sz="2400" dirty="0">
                <a:latin typeface="Cambria Math"/>
                <a:cs typeface="Cambria Math"/>
              </a:rPr>
              <a:t>is </a:t>
            </a:r>
            <a:r>
              <a:rPr sz="2400" spc="-5" dirty="0">
                <a:latin typeface="Cambria Math"/>
                <a:cs typeface="Cambria Math"/>
              </a:rPr>
              <a:t>necessary</a:t>
            </a:r>
            <a:r>
              <a:rPr sz="240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for the </a:t>
            </a:r>
            <a:r>
              <a:rPr sz="2400" spc="-5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contents</a:t>
            </a:r>
            <a:r>
              <a:rPr sz="2400" spc="40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of</a:t>
            </a:r>
            <a:r>
              <a:rPr sz="2400" spc="42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more</a:t>
            </a:r>
            <a:r>
              <a:rPr sz="2400" spc="42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than</a:t>
            </a:r>
            <a:r>
              <a:rPr sz="2400" spc="4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one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74800" y="2677160"/>
            <a:ext cx="4845685" cy="3865879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81000" algn="just">
              <a:lnSpc>
                <a:spcPct val="100000"/>
              </a:lnSpc>
              <a:spcBef>
                <a:spcPts val="1540"/>
              </a:spcBef>
            </a:pPr>
            <a:r>
              <a:rPr sz="2400" spc="-5" dirty="0">
                <a:latin typeface="Cambria Math"/>
                <a:cs typeface="Cambria Math"/>
              </a:rPr>
              <a:t>counter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to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be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read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at</a:t>
            </a:r>
            <a:r>
              <a:rPr sz="2400" dirty="0">
                <a:latin typeface="Cambria Math"/>
                <a:cs typeface="Cambria Math"/>
              </a:rPr>
              <a:t> a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same</a:t>
            </a:r>
            <a:r>
              <a:rPr sz="240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time.</a:t>
            </a:r>
            <a:endParaRPr sz="2400">
              <a:latin typeface="Cambria Math"/>
              <a:cs typeface="Cambria Math"/>
            </a:endParaRPr>
          </a:p>
          <a:p>
            <a:pPr marL="381000" marR="30480" indent="-342900" algn="just">
              <a:lnSpc>
                <a:spcPct val="150000"/>
              </a:lnSpc>
              <a:buFont typeface="MS UI Gothic"/>
              <a:buChar char="➢"/>
              <a:tabLst>
                <a:tab pos="381000" algn="l"/>
              </a:tabLst>
            </a:pPr>
            <a:r>
              <a:rPr sz="2400" spc="-5" dirty="0">
                <a:latin typeface="Cambria Math"/>
                <a:cs typeface="Cambria Math"/>
              </a:rPr>
              <a:t>Count </a:t>
            </a:r>
            <a:r>
              <a:rPr sz="2400" dirty="0">
                <a:latin typeface="Cambria Math"/>
                <a:cs typeface="Cambria Math"/>
              </a:rPr>
              <a:t>: </a:t>
            </a:r>
            <a:r>
              <a:rPr sz="2400" spc="-5" dirty="0">
                <a:latin typeface="Cambria Math"/>
                <a:cs typeface="Cambria Math"/>
              </a:rPr>
              <a:t>logic 0, select one </a:t>
            </a:r>
            <a:r>
              <a:rPr sz="2400" dirty="0">
                <a:latin typeface="Cambria Math"/>
                <a:cs typeface="Cambria Math"/>
              </a:rPr>
              <a:t>of the 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Counter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to</a:t>
            </a:r>
            <a:r>
              <a:rPr sz="2400" spc="-5" dirty="0">
                <a:latin typeface="Cambria Math"/>
                <a:cs typeface="Cambria Math"/>
              </a:rPr>
              <a:t> be latched</a:t>
            </a:r>
            <a:endParaRPr sz="2400">
              <a:latin typeface="Cambria Math"/>
              <a:cs typeface="Cambria Math"/>
            </a:endParaRPr>
          </a:p>
          <a:p>
            <a:pPr marL="381000" marR="30480" indent="-342900" algn="just">
              <a:lnSpc>
                <a:spcPct val="150000"/>
              </a:lnSpc>
              <a:buFont typeface="MS UI Gothic"/>
              <a:buChar char="➢"/>
              <a:tabLst>
                <a:tab pos="381000" algn="l"/>
              </a:tabLst>
            </a:pPr>
            <a:r>
              <a:rPr sz="2400" spc="-5" dirty="0">
                <a:latin typeface="Cambria Math"/>
                <a:cs typeface="Cambria Math"/>
              </a:rPr>
              <a:t>Status</a:t>
            </a:r>
            <a:r>
              <a:rPr sz="2400" dirty="0">
                <a:latin typeface="Cambria Math"/>
                <a:cs typeface="Cambria Math"/>
              </a:rPr>
              <a:t> :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logic</a:t>
            </a:r>
            <a:r>
              <a:rPr sz="240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0,</a:t>
            </a:r>
            <a:r>
              <a:rPr sz="240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Status</a:t>
            </a:r>
            <a:r>
              <a:rPr sz="240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must</a:t>
            </a:r>
            <a:r>
              <a:rPr sz="240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be </a:t>
            </a:r>
            <a:r>
              <a:rPr sz="240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latched</a:t>
            </a:r>
            <a:r>
              <a:rPr sz="240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to</a:t>
            </a:r>
            <a:r>
              <a:rPr sz="240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be</a:t>
            </a:r>
            <a:r>
              <a:rPr sz="2400" dirty="0">
                <a:latin typeface="Cambria Math"/>
                <a:cs typeface="Cambria Math"/>
              </a:rPr>
              <a:t> read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status</a:t>
            </a:r>
            <a:r>
              <a:rPr sz="240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of</a:t>
            </a:r>
            <a:r>
              <a:rPr sz="2400" dirty="0">
                <a:latin typeface="Cambria Math"/>
                <a:cs typeface="Cambria Math"/>
              </a:rPr>
              <a:t> a 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counter </a:t>
            </a:r>
            <a:r>
              <a:rPr sz="2400" dirty="0">
                <a:latin typeface="Cambria Math"/>
                <a:cs typeface="Cambria Math"/>
              </a:rPr>
              <a:t>and </a:t>
            </a:r>
            <a:r>
              <a:rPr sz="2400" spc="5" dirty="0">
                <a:latin typeface="Cambria Math"/>
                <a:cs typeface="Cambria Math"/>
              </a:rPr>
              <a:t>is </a:t>
            </a:r>
            <a:r>
              <a:rPr sz="2400" spc="-5" dirty="0">
                <a:latin typeface="Cambria Math"/>
                <a:cs typeface="Cambria Math"/>
              </a:rPr>
              <a:t>accessed </a:t>
            </a:r>
            <a:r>
              <a:rPr sz="2400" spc="-10" dirty="0">
                <a:latin typeface="Cambria Math"/>
                <a:cs typeface="Cambria Math"/>
              </a:rPr>
              <a:t>by </a:t>
            </a:r>
            <a:r>
              <a:rPr sz="2400" dirty="0">
                <a:latin typeface="Cambria Math"/>
                <a:cs typeface="Cambria Math"/>
              </a:rPr>
              <a:t>a read 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from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that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counter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05000" y="3276600"/>
            <a:ext cx="8763000" cy="3355340"/>
            <a:chOff x="1905000" y="3276600"/>
            <a:chExt cx="8763000" cy="33553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1200" y="3276600"/>
              <a:ext cx="8686800" cy="29718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0" y="6248400"/>
              <a:ext cx="5867400" cy="38354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00200" y="414020"/>
            <a:ext cx="43472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2464" algn="l"/>
              </a:tabLst>
            </a:pPr>
            <a:r>
              <a:rPr sz="4400" b="0" spc="305" dirty="0">
                <a:solidFill>
                  <a:srgbClr val="BF0000"/>
                </a:solidFill>
                <a:latin typeface="Cambria Math"/>
                <a:cs typeface="Cambria Math"/>
              </a:rPr>
              <a:t>Status	</a:t>
            </a:r>
            <a:r>
              <a:rPr sz="4400" b="0" spc="325" dirty="0">
                <a:solidFill>
                  <a:srgbClr val="BF0000"/>
                </a:solidFill>
                <a:latin typeface="Cambria Math"/>
                <a:cs typeface="Cambria Math"/>
              </a:rPr>
              <a:t>register:</a:t>
            </a:r>
            <a:endParaRPr sz="4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0200" y="1267460"/>
            <a:ext cx="6669405" cy="194437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70815" indent="-158750">
              <a:lnSpc>
                <a:spcPct val="100000"/>
              </a:lnSpc>
              <a:spcBef>
                <a:spcPts val="1780"/>
              </a:spcBef>
              <a:buSzPct val="96428"/>
              <a:buChar char="•"/>
              <a:tabLst>
                <a:tab pos="171450" algn="l"/>
              </a:tabLst>
            </a:pPr>
            <a:r>
              <a:rPr sz="2800" spc="-5" dirty="0">
                <a:latin typeface="Cambria Math"/>
                <a:cs typeface="Cambria Math"/>
              </a:rPr>
              <a:t>Shows</a:t>
            </a:r>
            <a:r>
              <a:rPr sz="2800" spc="-2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the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state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of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the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output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pin</a:t>
            </a:r>
            <a:endParaRPr sz="2800">
              <a:latin typeface="Cambria Math"/>
              <a:cs typeface="Cambria Math"/>
            </a:endParaRPr>
          </a:p>
          <a:p>
            <a:pPr marL="170815" indent="-158750">
              <a:lnSpc>
                <a:spcPct val="100000"/>
              </a:lnSpc>
              <a:spcBef>
                <a:spcPts val="1680"/>
              </a:spcBef>
              <a:buSzPct val="96428"/>
              <a:buChar char="•"/>
              <a:tabLst>
                <a:tab pos="171450" algn="l"/>
              </a:tabLst>
            </a:pPr>
            <a:r>
              <a:rPr sz="2800" spc="-5" dirty="0">
                <a:latin typeface="Cambria Math"/>
                <a:cs typeface="Cambria Math"/>
              </a:rPr>
              <a:t>Check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the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counter</a:t>
            </a:r>
            <a:r>
              <a:rPr sz="2800" spc="-3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is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in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null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state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(0)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or</a:t>
            </a:r>
            <a:r>
              <a:rPr sz="2800" spc="-1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not</a:t>
            </a:r>
            <a:endParaRPr sz="2800">
              <a:latin typeface="Cambria Math"/>
              <a:cs typeface="Cambria Math"/>
            </a:endParaRPr>
          </a:p>
          <a:p>
            <a:pPr marL="170815" indent="-158750">
              <a:lnSpc>
                <a:spcPct val="100000"/>
              </a:lnSpc>
              <a:spcBef>
                <a:spcPts val="1670"/>
              </a:spcBef>
              <a:buSzPct val="96428"/>
              <a:buChar char="•"/>
              <a:tabLst>
                <a:tab pos="171450" algn="l"/>
              </a:tabLst>
            </a:pPr>
            <a:r>
              <a:rPr sz="2800" spc="-5" dirty="0">
                <a:latin typeface="Cambria Math"/>
                <a:cs typeface="Cambria Math"/>
              </a:rPr>
              <a:t>How</a:t>
            </a:r>
            <a:r>
              <a:rPr sz="2800" spc="-3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the</a:t>
            </a:r>
            <a:r>
              <a:rPr sz="2800" spc="-2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counter</a:t>
            </a:r>
            <a:r>
              <a:rPr sz="2800" spc="-2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is</a:t>
            </a:r>
            <a:r>
              <a:rPr sz="2800" spc="-2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programmed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665</Words>
  <Application>Microsoft Office PowerPoint</Application>
  <PresentationFormat>Custom</PresentationFormat>
  <Paragraphs>85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8254 Timer</vt:lpstr>
      <vt:lpstr>Features of 8254 Timer</vt:lpstr>
      <vt:lpstr>Slide 3</vt:lpstr>
      <vt:lpstr>8254 Functional Description</vt:lpstr>
      <vt:lpstr>8254 Control word</vt:lpstr>
      <vt:lpstr>8254 Programming</vt:lpstr>
      <vt:lpstr> Mode 0: Interrupt on terminal count</vt:lpstr>
      <vt:lpstr>MODE 1:- Hardware retrigger able one shot.</vt:lpstr>
      <vt:lpstr>Mode 2: Rate Generator (Divide-by-N counter</vt:lpstr>
      <vt:lpstr>Mode 3: Square wave rate generator</vt:lpstr>
      <vt:lpstr>Mode 4: Software triggered strobe</vt:lpstr>
      <vt:lpstr>Mode 5: Hardware triggered strobe</vt:lpstr>
      <vt:lpstr>Read Operations</vt:lpstr>
      <vt:lpstr>2. Counter Latch Command:</vt:lpstr>
      <vt:lpstr>3. Read-back control command:</vt:lpstr>
      <vt:lpstr>Status register: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8254 Timer</dc:title>
  <dc:creator>VASU</dc:creator>
  <cp:lastModifiedBy>VASU</cp:lastModifiedBy>
  <cp:revision>1</cp:revision>
  <dcterms:created xsi:type="dcterms:W3CDTF">2021-05-24T13:56:51Z</dcterms:created>
  <dcterms:modified xsi:type="dcterms:W3CDTF">2021-05-25T03:30:07Z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2015-04-23T00:00:00Z</vt:filetime>
  </property>
  <property fmtid="{D5CDD505-2E9C-101B-9397-08002B2CF9AE}" pid="3" name="Creator">
    <vt:lpwstr>pdftk 1.44 - www.pdftk.com</vt:lpwstr>
  </property>
  <property fmtid="{D5CDD505-2E9C-101B-9397-08002B2CF9AE}" pid="4" name="LastSaved">
    <vt:filetime>2021-05-24T00:00:00Z</vt:filetime>
  </property>
</Properties>
</file>