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9"/>
  </p:notesMasterIdLst>
  <p:sldIdLst>
    <p:sldId id="256" r:id="rId2"/>
    <p:sldId id="257" r:id="rId3"/>
    <p:sldId id="260" r:id="rId4"/>
    <p:sldId id="261" r:id="rId5"/>
    <p:sldId id="603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563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25" r:id="rId48"/>
    <p:sldId id="566" r:id="rId49"/>
    <p:sldId id="567" r:id="rId50"/>
    <p:sldId id="568" r:id="rId51"/>
    <p:sldId id="569" r:id="rId52"/>
    <p:sldId id="570" r:id="rId53"/>
    <p:sldId id="571" r:id="rId54"/>
    <p:sldId id="572" r:id="rId55"/>
    <p:sldId id="574" r:id="rId56"/>
    <p:sldId id="575" r:id="rId57"/>
    <p:sldId id="576" r:id="rId58"/>
    <p:sldId id="577" r:id="rId59"/>
    <p:sldId id="578" r:id="rId60"/>
    <p:sldId id="579" r:id="rId61"/>
    <p:sldId id="580" r:id="rId62"/>
    <p:sldId id="581" r:id="rId63"/>
    <p:sldId id="582" r:id="rId64"/>
    <p:sldId id="583" r:id="rId65"/>
    <p:sldId id="584" r:id="rId66"/>
    <p:sldId id="585" r:id="rId67"/>
    <p:sldId id="587" r:id="rId68"/>
    <p:sldId id="588" r:id="rId69"/>
    <p:sldId id="589" r:id="rId70"/>
    <p:sldId id="590" r:id="rId71"/>
    <p:sldId id="591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71" r:id="rId92"/>
    <p:sldId id="372" r:id="rId93"/>
    <p:sldId id="373" r:id="rId94"/>
    <p:sldId id="374" r:id="rId95"/>
    <p:sldId id="375" r:id="rId96"/>
    <p:sldId id="376" r:id="rId97"/>
    <p:sldId id="377" r:id="rId98"/>
    <p:sldId id="378" r:id="rId99"/>
    <p:sldId id="379" r:id="rId100"/>
    <p:sldId id="380" r:id="rId101"/>
    <p:sldId id="381" r:id="rId102"/>
    <p:sldId id="382" r:id="rId103"/>
    <p:sldId id="383" r:id="rId104"/>
    <p:sldId id="384" r:id="rId105"/>
    <p:sldId id="385" r:id="rId106"/>
    <p:sldId id="386" r:id="rId107"/>
    <p:sldId id="387" r:id="rId108"/>
    <p:sldId id="388" r:id="rId109"/>
    <p:sldId id="389" r:id="rId110"/>
    <p:sldId id="390" r:id="rId111"/>
    <p:sldId id="391" r:id="rId112"/>
    <p:sldId id="392" r:id="rId113"/>
    <p:sldId id="393" r:id="rId114"/>
    <p:sldId id="593" r:id="rId115"/>
    <p:sldId id="600" r:id="rId116"/>
    <p:sldId id="282" r:id="rId117"/>
    <p:sldId id="283" r:id="rId118"/>
    <p:sldId id="284" r:id="rId119"/>
    <p:sldId id="285" r:id="rId120"/>
    <p:sldId id="601" r:id="rId121"/>
    <p:sldId id="594" r:id="rId122"/>
    <p:sldId id="595" r:id="rId123"/>
    <p:sldId id="596" r:id="rId124"/>
    <p:sldId id="597" r:id="rId125"/>
    <p:sldId id="598" r:id="rId126"/>
    <p:sldId id="599" r:id="rId127"/>
    <p:sldId id="394" r:id="rId1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244" y="-6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DA19E-4653-4ECB-8F80-5BECA31A5558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678B-E733-4914-B641-8E1B6D5AA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95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B678B-E733-4914-B641-8E1B6D5AAC5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300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B678B-E733-4914-B641-8E1B6D5AAC5B}" type="slidenum">
              <a:rPr lang="en-IN" smtClean="0"/>
              <a:t>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95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526"/>
            <a:ext cx="4895088" cy="500176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7911" y="435902"/>
            <a:ext cx="421982" cy="42198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4140" y="573023"/>
            <a:ext cx="224662" cy="2246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829" y="21081"/>
            <a:ext cx="892434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158062"/>
            <a:ext cx="8611870" cy="304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microprocessor/microprocessor_8086_overview.htm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IIIm-II/MwPMatCc_UhN?ITa-p01p=desktop&amp;v=OvLRBSQ0Ja0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laboutcircuits.com/" TargetMode="Externa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0.jp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560070">
              <a:lnSpc>
                <a:spcPct val="100000"/>
              </a:lnSpc>
              <a:spcBef>
                <a:spcPts val="90"/>
              </a:spcBef>
            </a:pPr>
            <a:r>
              <a:rPr sz="3200" b="1" spc="-7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3200" b="1" spc="-70" dirty="0">
                <a:solidFill>
                  <a:srgbClr val="1E1C11"/>
                </a:solidFill>
                <a:latin typeface="Cambria"/>
                <a:cs typeface="Cambria"/>
              </a:rPr>
              <a:t>AMACHANDRA</a:t>
            </a:r>
            <a:r>
              <a:rPr sz="3200" b="1" spc="-105" dirty="0">
                <a:solidFill>
                  <a:srgbClr val="1E1C11"/>
                </a:solidFill>
                <a:latin typeface="Cambria"/>
                <a:cs typeface="Cambria"/>
              </a:rPr>
              <a:t> </a:t>
            </a:r>
            <a:r>
              <a:rPr sz="3200" b="1" spc="-75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3200" b="1" spc="-75" dirty="0">
                <a:solidFill>
                  <a:srgbClr val="1E1C11"/>
                </a:solidFill>
                <a:latin typeface="Cambria"/>
                <a:cs typeface="Cambria"/>
              </a:rPr>
              <a:t>OLLEGE</a:t>
            </a:r>
            <a:r>
              <a:rPr sz="3200" b="1" spc="-80" dirty="0">
                <a:solidFill>
                  <a:srgbClr val="1E1C11"/>
                </a:solidFill>
                <a:latin typeface="Cambria"/>
                <a:cs typeface="Cambria"/>
              </a:rPr>
              <a:t> </a:t>
            </a:r>
            <a:r>
              <a:rPr sz="3200" b="1" spc="-20" dirty="0">
                <a:solidFill>
                  <a:srgbClr val="1E1C11"/>
                </a:solidFill>
                <a:latin typeface="Cambria"/>
                <a:cs typeface="Cambria"/>
              </a:rPr>
              <a:t>OF</a:t>
            </a:r>
            <a:r>
              <a:rPr sz="3200" b="1" spc="-110" dirty="0">
                <a:solidFill>
                  <a:srgbClr val="1E1C11"/>
                </a:solidFill>
                <a:latin typeface="Cambria"/>
                <a:cs typeface="Cambria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3200" b="1" spc="-25" dirty="0">
                <a:solidFill>
                  <a:srgbClr val="1E1C11"/>
                </a:solidFill>
                <a:latin typeface="Cambria"/>
                <a:cs typeface="Cambria"/>
              </a:rPr>
              <a:t>NGINEERING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139" y="1075766"/>
            <a:ext cx="7687945" cy="3311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latin typeface="Cambria"/>
                <a:cs typeface="Cambria"/>
              </a:rPr>
              <a:t>(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A</a:t>
            </a:r>
            <a:r>
              <a:rPr sz="2800" b="1" spc="-10" dirty="0">
                <a:solidFill>
                  <a:srgbClr val="1E1C11"/>
                </a:solidFill>
                <a:latin typeface="Cambria"/>
                <a:cs typeface="Cambria"/>
              </a:rPr>
              <a:t>utonomous</a:t>
            </a:r>
            <a:r>
              <a:rPr sz="2800" b="1" spc="-10" dirty="0">
                <a:latin typeface="Cambria"/>
                <a:cs typeface="Cambria"/>
              </a:rPr>
              <a:t>)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ambria"/>
              <a:cs typeface="Cambria"/>
            </a:endParaRPr>
          </a:p>
          <a:p>
            <a:pPr marL="5715" algn="ctr">
              <a:lnSpc>
                <a:spcPct val="100000"/>
              </a:lnSpc>
            </a:pP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UNIT-</a:t>
            </a:r>
            <a:r>
              <a:rPr sz="2800" b="1" spc="-25" dirty="0">
                <a:solidFill>
                  <a:srgbClr val="FF0000"/>
                </a:solidFill>
                <a:latin typeface="Cambria"/>
                <a:cs typeface="Cambria"/>
              </a:rPr>
              <a:t>01</a:t>
            </a:r>
            <a:endParaRPr sz="2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045"/>
              </a:spcBef>
            </a:pPr>
            <a:r>
              <a:rPr lang="en-IN" sz="2400" b="1" dirty="0">
                <a:solidFill>
                  <a:srgbClr val="00AF50"/>
                </a:solidFill>
                <a:latin typeface="Cambria"/>
                <a:cs typeface="Cambria"/>
              </a:rPr>
              <a:t>UNIT</a:t>
            </a:r>
            <a:r>
              <a:rPr lang="en-IN" sz="2400" b="1" spc="-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lang="en-IN" sz="2400" b="1" dirty="0">
                <a:solidFill>
                  <a:srgbClr val="00AF50"/>
                </a:solidFill>
                <a:latin typeface="Cambria"/>
                <a:cs typeface="Cambria"/>
              </a:rPr>
              <a:t>-</a:t>
            </a:r>
            <a:r>
              <a:rPr lang="en-IN" sz="2400" b="1" spc="-7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lang="en-IN" sz="2400" b="1" dirty="0">
                <a:solidFill>
                  <a:srgbClr val="00AF50"/>
                </a:solidFill>
                <a:latin typeface="Cambria"/>
                <a:cs typeface="Cambria"/>
              </a:rPr>
              <a:t>I</a:t>
            </a:r>
            <a:r>
              <a:rPr lang="en-IN" sz="2400" b="1" spc="-7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lang="en-IN" sz="2400" b="1" dirty="0">
                <a:solidFill>
                  <a:srgbClr val="00AF50"/>
                </a:solidFill>
              </a:rPr>
              <a:t>8086/8088 MICROPROCESSORS </a:t>
            </a:r>
            <a:r>
              <a:rPr lang="en-IN" sz="2400" b="1" spc="-10" dirty="0">
                <a:solidFill>
                  <a:srgbClr val="00AF50"/>
                </a:solidFill>
                <a:latin typeface="Cambria"/>
                <a:cs typeface="Cambria"/>
              </a:rPr>
              <a:t>:</a:t>
            </a:r>
          </a:p>
          <a:p>
            <a:pPr algn="ctr">
              <a:lnSpc>
                <a:spcPct val="100000"/>
              </a:lnSpc>
              <a:spcBef>
                <a:spcPts val="3045"/>
              </a:spcBef>
            </a:pPr>
            <a:r>
              <a:rPr lang="en-IN" sz="2000" b="1" spc="-10" dirty="0">
                <a:solidFill>
                  <a:srgbClr val="001F5F"/>
                </a:solidFill>
                <a:latin typeface="Cambria"/>
                <a:cs typeface="Cambria"/>
              </a:rPr>
              <a:t>A.RAMADEVI</a:t>
            </a:r>
          </a:p>
          <a:p>
            <a:pPr marL="2259965" marR="2245360" algn="ctr">
              <a:lnSpc>
                <a:spcPct val="200100"/>
              </a:lnSpc>
              <a:spcBef>
                <a:spcPts val="160"/>
              </a:spcBef>
            </a:pP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35" dirty="0">
                <a:solidFill>
                  <a:srgbClr val="001F5F"/>
                </a:solidFill>
                <a:latin typeface="Cambria"/>
                <a:cs typeface="Cambria"/>
              </a:rPr>
              <a:t>ASSISTANT</a:t>
            </a:r>
            <a:r>
              <a:rPr sz="2000" b="1" spc="-6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mbria"/>
                <a:cs typeface="Cambria"/>
              </a:rPr>
              <a:t>PROFESSOR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1524" y="873379"/>
            <a:ext cx="676427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AF50"/>
                </a:solidFill>
                <a:latin typeface="Cambria"/>
                <a:cs typeface="Cambria"/>
              </a:rPr>
              <a:t>UNIT</a:t>
            </a:r>
            <a:r>
              <a:rPr sz="2000" b="1" spc="-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mbria"/>
                <a:cs typeface="Cambria"/>
              </a:rPr>
              <a:t>-</a:t>
            </a:r>
            <a:r>
              <a:rPr sz="2000" b="1" spc="-7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mbria"/>
                <a:cs typeface="Cambria"/>
              </a:rPr>
              <a:t>I</a:t>
            </a:r>
            <a:r>
              <a:rPr sz="2000" b="1" spc="-7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lang="en-US" sz="2000" b="1" dirty="0">
                <a:solidFill>
                  <a:srgbClr val="00AF50"/>
                </a:solidFill>
              </a:rPr>
              <a:t>8086/8088 MICROPROCESSORS </a:t>
            </a:r>
            <a:r>
              <a:rPr sz="2000" b="1" spc="-10" dirty="0">
                <a:solidFill>
                  <a:srgbClr val="00AF50"/>
                </a:solidFill>
                <a:latin typeface="Cambria"/>
                <a:cs typeface="Cambria"/>
              </a:rPr>
              <a:t>: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1635328"/>
            <a:ext cx="8340725" cy="5087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 algn="just">
              <a:lnSpc>
                <a:spcPct val="100000"/>
              </a:lnSpc>
              <a:spcBef>
                <a:spcPts val="95"/>
              </a:spcBef>
            </a:pPr>
            <a:endParaRPr lang="en-US" sz="1600" dirty="0">
              <a:latin typeface="Cambria"/>
              <a:cs typeface="Cambria"/>
            </a:endParaRP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Register organization of 8086, 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Architecture, 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signal capability, special purpose activities,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Minimum mode, maximum mode of 8086 system and timings, 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machine language </a:t>
            </a:r>
            <a:r>
              <a:rPr lang="en-US" sz="2000" dirty="0" err="1">
                <a:latin typeface="Cambria"/>
                <a:cs typeface="Cambria"/>
              </a:rPr>
              <a:t>instructionformats</a:t>
            </a:r>
            <a:endParaRPr lang="en-US" sz="2000" dirty="0">
              <a:latin typeface="Cambria"/>
              <a:cs typeface="Cambria"/>
            </a:endParaRP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addressing mode of 8086, 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instruction set of 8086</a:t>
            </a:r>
          </a:p>
          <a:p>
            <a:pPr marL="298450" marR="5080" indent="-28575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Cambria"/>
                <a:cs typeface="Cambria"/>
              </a:rPr>
              <a:t>,assembler directives and operators</a:t>
            </a:r>
            <a:r>
              <a:rPr sz="2000" spc="-10" dirty="0">
                <a:latin typeface="Cambria"/>
                <a:cs typeface="Cambria"/>
              </a:rPr>
              <a:t>).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4817"/>
            <a:ext cx="22701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Calibri"/>
                <a:cs typeface="Calibri"/>
              </a:rPr>
              <a:t>What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Microprocessor?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89346" y="3633064"/>
            <a:ext cx="273494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0"/>
              </a:lnSpc>
            </a:pPr>
            <a:r>
              <a:rPr sz="1600" dirty="0">
                <a:latin typeface="Cambria"/>
                <a:cs typeface="Cambria"/>
              </a:rPr>
              <a:t>by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computer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its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work.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82879"/>
            <a:ext cx="8978265" cy="4174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Computer's</a:t>
            </a:r>
            <a:r>
              <a:rPr sz="1600" spc="3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Central</a:t>
            </a:r>
            <a:r>
              <a:rPr sz="1600" spc="3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Processing</a:t>
            </a:r>
            <a:r>
              <a:rPr sz="1600" spc="4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(CPU)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built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3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40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single</a:t>
            </a:r>
            <a:r>
              <a:rPr sz="1600" b="1" spc="4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Integrated</a:t>
            </a:r>
            <a:r>
              <a:rPr sz="1600" b="1" spc="4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Circuit</a:t>
            </a:r>
            <a:r>
              <a:rPr sz="1600" b="1" spc="409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(IC)</a:t>
            </a:r>
            <a:r>
              <a:rPr sz="1600" b="1" spc="3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called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mbria"/>
                <a:cs typeface="Cambria"/>
              </a:rPr>
              <a:t>a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microprocessor</a:t>
            </a:r>
            <a:r>
              <a:rPr sz="1600" spc="-10" dirty="0"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computer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microprocessor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acts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CPU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called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microcomputer.</a:t>
            </a:r>
            <a:endParaRPr sz="1600">
              <a:latin typeface="Cambria"/>
              <a:cs typeface="Cambria"/>
            </a:endParaRPr>
          </a:p>
          <a:p>
            <a:pPr marL="297815" marR="5080" indent="-28575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programmable,</a:t>
            </a:r>
            <a:r>
              <a:rPr sz="1600" b="1" spc="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multipurpose,</a:t>
            </a:r>
            <a:r>
              <a:rPr sz="16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clock</a:t>
            </a:r>
            <a:r>
              <a:rPr sz="1600" b="1" spc="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-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driven,</a:t>
            </a:r>
            <a:r>
              <a:rPr sz="1600" b="1" spc="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6F2F9F"/>
                </a:solidFill>
                <a:latin typeface="Cambria"/>
                <a:cs typeface="Cambria"/>
              </a:rPr>
              <a:t>register-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based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electronic</a:t>
            </a:r>
            <a:r>
              <a:rPr sz="1600" b="1" spc="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device</a:t>
            </a:r>
            <a:r>
              <a:rPr sz="16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reads 	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binary</a:t>
            </a:r>
            <a:r>
              <a:rPr sz="1600" b="1" spc="1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instructions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from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storage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device</a:t>
            </a:r>
            <a:r>
              <a:rPr sz="1600" b="1" spc="1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called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memory,</a:t>
            </a:r>
            <a:r>
              <a:rPr sz="1600" b="1" spc="1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accepts</a:t>
            </a:r>
            <a:r>
              <a:rPr sz="1600" b="1" spc="1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binary</a:t>
            </a:r>
            <a:r>
              <a:rPr sz="1600" b="1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data</a:t>
            </a:r>
            <a:r>
              <a:rPr sz="1600" b="1" spc="1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as</a:t>
            </a:r>
            <a:r>
              <a:rPr sz="1600" b="1" spc="1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input</a:t>
            </a:r>
            <a:r>
              <a:rPr sz="1600" b="1" spc="1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spc="-25" dirty="0">
                <a:solidFill>
                  <a:srgbClr val="006FC0"/>
                </a:solidFill>
                <a:latin typeface="Cambria"/>
                <a:cs typeface="Cambria"/>
              </a:rPr>
              <a:t>and 	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processes</a:t>
            </a:r>
            <a:r>
              <a:rPr sz="1600" b="1" spc="-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data</a:t>
            </a:r>
            <a:r>
              <a:rPr sz="1600" b="1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according</a:t>
            </a:r>
            <a:r>
              <a:rPr sz="1600" b="1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to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those</a:t>
            </a:r>
            <a:r>
              <a:rPr sz="1600" b="1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instructions</a:t>
            </a:r>
            <a:r>
              <a:rPr sz="1600" b="1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and</a:t>
            </a:r>
            <a:r>
              <a:rPr sz="1600" b="1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provides</a:t>
            </a:r>
            <a:r>
              <a:rPr sz="1600" b="1" spc="-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results</a:t>
            </a:r>
            <a:r>
              <a:rPr sz="1600" b="1" spc="-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as 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output.</a:t>
            </a:r>
            <a:endParaRPr sz="1600">
              <a:latin typeface="Cambria"/>
              <a:cs typeface="Cambria"/>
            </a:endParaRPr>
          </a:p>
          <a:p>
            <a:pPr marL="299085" marR="5080" indent="-287020" algn="just">
              <a:lnSpc>
                <a:spcPct val="200100"/>
              </a:lnSpc>
              <a:buFont typeface="Wingdings"/>
              <a:buChar char=""/>
              <a:tabLst>
                <a:tab pos="299085" algn="l"/>
                <a:tab pos="8424545" algn="l"/>
              </a:tabLst>
            </a:pPr>
            <a:r>
              <a:rPr sz="1600" dirty="0">
                <a:latin typeface="Cambria"/>
                <a:cs typeface="Cambria"/>
              </a:rPr>
              <a:t>A</a:t>
            </a:r>
            <a:r>
              <a:rPr sz="1600" spc="2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microprocessor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electronic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component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2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used</a:t>
            </a:r>
            <a:r>
              <a:rPr sz="1600" dirty="0">
                <a:latin typeface="Cambria"/>
                <a:cs typeface="Cambria"/>
              </a:rPr>
              <a:t>	It</a:t>
            </a:r>
            <a:r>
              <a:rPr sz="1600" spc="25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6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a </a:t>
            </a:r>
            <a:r>
              <a:rPr sz="1600" dirty="0">
                <a:latin typeface="Cambria"/>
                <a:cs typeface="Cambria"/>
              </a:rPr>
              <a:t>central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processing</a:t>
            </a:r>
            <a:r>
              <a:rPr sz="1600" spc="4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</a:t>
            </a:r>
            <a:r>
              <a:rPr sz="1600" spc="4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48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4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single</a:t>
            </a:r>
            <a:r>
              <a:rPr sz="1600" spc="4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integrated</a:t>
            </a:r>
            <a:r>
              <a:rPr sz="1600" spc="4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circuit</a:t>
            </a:r>
            <a:r>
              <a:rPr sz="1600" spc="48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chip</a:t>
            </a:r>
            <a:r>
              <a:rPr sz="1600" spc="48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containing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millions</a:t>
            </a:r>
            <a:r>
              <a:rPr sz="1600" spc="4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48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very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spc="-10" dirty="0">
                <a:latin typeface="Cambria"/>
                <a:cs typeface="Cambria"/>
              </a:rPr>
              <a:t>small </a:t>
            </a:r>
            <a:r>
              <a:rPr sz="1600" dirty="0">
                <a:latin typeface="Cambria"/>
                <a:cs typeface="Cambria"/>
              </a:rPr>
              <a:t>components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including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transistors,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resistors,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diodes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work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together.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0888" y="3328415"/>
            <a:ext cx="2855975" cy="539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8" y="0"/>
            <a:ext cx="8202168" cy="28955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2968" y="2916079"/>
            <a:ext cx="8837295" cy="18561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20" dirty="0">
                <a:solidFill>
                  <a:srgbClr val="FF0000"/>
                </a:solidFill>
                <a:latin typeface="Cambria"/>
                <a:cs typeface="Cambria"/>
              </a:rPr>
              <a:t>Working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6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Microprocessor:</a:t>
            </a:r>
            <a:endParaRPr sz="1600">
              <a:latin typeface="Cambria"/>
              <a:cs typeface="Cambria"/>
            </a:endParaRPr>
          </a:p>
          <a:p>
            <a:pPr marL="297815" marR="5715" indent="-285750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A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microprocessor</a:t>
            </a:r>
            <a:r>
              <a:rPr sz="1600" spc="3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consists</a:t>
            </a:r>
            <a:r>
              <a:rPr sz="1600" spc="3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3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3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ALU,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control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3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array.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Where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ALU</a:t>
            </a:r>
            <a:r>
              <a:rPr sz="1600" b="1" spc="39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performs 	</a:t>
            </a:r>
            <a:r>
              <a:rPr sz="1600" dirty="0">
                <a:latin typeface="Cambria"/>
                <a:cs typeface="Cambria"/>
              </a:rPr>
              <a:t>arithmetic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logical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operations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received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 input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device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memory.</a:t>
            </a:r>
            <a:endParaRPr sz="1600">
              <a:latin typeface="Cambria"/>
              <a:cs typeface="Cambria"/>
            </a:endParaRPr>
          </a:p>
          <a:p>
            <a:pPr marL="299085" marR="5080" indent="-287020">
              <a:lnSpc>
                <a:spcPts val="288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Control</a:t>
            </a:r>
            <a:r>
              <a:rPr sz="1600" spc="4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</a:t>
            </a:r>
            <a:r>
              <a:rPr sz="1600" spc="4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controls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45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instructions</a:t>
            </a:r>
            <a:r>
              <a:rPr sz="1600" spc="4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4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flow</a:t>
            </a:r>
            <a:r>
              <a:rPr sz="1600" spc="4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43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4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within</a:t>
            </a:r>
            <a:r>
              <a:rPr sz="1600" spc="4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computer.</a:t>
            </a:r>
            <a:r>
              <a:rPr sz="1600" spc="4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And,</a:t>
            </a:r>
            <a:r>
              <a:rPr sz="1600" spc="4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register array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consists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very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fast.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0" y="51445"/>
            <a:ext cx="5345207" cy="6121240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79067" algn="just">
              <a:spcBef>
                <a:spcPts val="64"/>
              </a:spcBef>
              <a:tabLst>
                <a:tab pos="4274422" algn="l"/>
              </a:tabLst>
            </a:pPr>
            <a:r>
              <a:rPr sz="769" spc="-13" dirty="0">
                <a:solidFill>
                  <a:srgbClr val="7D7D7D"/>
                </a:solidFill>
                <a:latin typeface="Trebuchet MS"/>
                <a:cs typeface="Trebuchet MS"/>
              </a:rPr>
              <a:t>MPMC</a:t>
            </a:r>
            <a:r>
              <a:rPr sz="769" dirty="0">
                <a:solidFill>
                  <a:srgbClr val="7D7D7D"/>
                </a:solidFill>
                <a:latin typeface="Trebuchet MS"/>
                <a:cs typeface="Trebuchet MS"/>
              </a:rPr>
              <a:t>	</a:t>
            </a:r>
            <a:r>
              <a:rPr sz="769" spc="-122" dirty="0">
                <a:solidFill>
                  <a:srgbClr val="7D7D7D"/>
                </a:solidFill>
                <a:latin typeface="Trebuchet MS"/>
                <a:cs typeface="Trebuchet MS"/>
              </a:rPr>
              <a:t>UNIT-</a:t>
            </a:r>
            <a:r>
              <a:rPr sz="769" spc="-32" dirty="0">
                <a:solidFill>
                  <a:srgbClr val="7D7D7D"/>
                </a:solidFill>
                <a:latin typeface="Trebuchet MS"/>
                <a:cs typeface="Trebuchet MS"/>
              </a:rPr>
              <a:t>2</a:t>
            </a:r>
            <a:endParaRPr sz="769" dirty="0">
              <a:latin typeface="Trebuchet MS"/>
              <a:cs typeface="Trebuchet MS"/>
            </a:endParaRPr>
          </a:p>
          <a:p>
            <a:pPr>
              <a:spcBef>
                <a:spcPts val="122"/>
              </a:spcBef>
            </a:pPr>
            <a:endParaRPr sz="769" dirty="0">
              <a:latin typeface="Trebuchet MS"/>
              <a:cs typeface="Trebuchet MS"/>
            </a:endParaRPr>
          </a:p>
          <a:p>
            <a:pPr marL="179067" marR="161974" algn="just">
              <a:lnSpc>
                <a:spcPts val="884"/>
              </a:lnSpc>
            </a:pP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CPU:</a:t>
            </a:r>
            <a:r>
              <a:rPr sz="769" b="1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Central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Processing</a:t>
            </a:r>
            <a:r>
              <a:rPr sz="769" spc="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Unit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CPU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controls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operation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computer.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microcomputer</a:t>
            </a:r>
            <a:r>
              <a:rPr sz="769" spc="22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CPU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microprocessor.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CPU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fetches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binary</a:t>
            </a:r>
            <a:r>
              <a:rPr sz="769" spc="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ceded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instructions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from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memory, </a:t>
            </a:r>
            <a:r>
              <a:rPr sz="769" dirty="0">
                <a:latin typeface="Times New Roman"/>
                <a:cs typeface="Times New Roman"/>
              </a:rPr>
              <a:t>decodes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instructions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into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series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simple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actions,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carries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out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these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actions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sequence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steps.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78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138370" marR="159126" indent="40697" algn="just">
              <a:lnSpc>
                <a:spcPct val="95700"/>
              </a:lnSpc>
            </a:pP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769" b="1" u="heavy" spc="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bus:</a:t>
            </a:r>
            <a:r>
              <a:rPr sz="769" b="1" spc="5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consists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16,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20,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24,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32…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parallel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signal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lines.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These</a:t>
            </a:r>
            <a:r>
              <a:rPr sz="769" spc="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are </a:t>
            </a:r>
            <a:r>
              <a:rPr sz="769" dirty="0">
                <a:latin typeface="Times New Roman"/>
                <a:cs typeface="Times New Roman"/>
              </a:rPr>
              <a:t>used</a:t>
            </a:r>
            <a:r>
              <a:rPr sz="769" spc="1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12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send</a:t>
            </a:r>
            <a:r>
              <a:rPr sz="769" spc="13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14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10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location</a:t>
            </a:r>
            <a:r>
              <a:rPr sz="769" spc="13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2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</a:t>
            </a:r>
            <a:r>
              <a:rPr sz="769" spc="12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13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from</a:t>
            </a:r>
            <a:r>
              <a:rPr sz="769" spc="12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12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unit</a:t>
            </a:r>
            <a:r>
              <a:rPr sz="769" spc="12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125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2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26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peripheral.</a:t>
            </a:r>
            <a:r>
              <a:rPr sz="769" spc="26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6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26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26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always</a:t>
            </a:r>
            <a:r>
              <a:rPr sz="769" spc="26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unidirectional.</a:t>
            </a:r>
            <a:r>
              <a:rPr sz="769" spc="27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26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always</a:t>
            </a:r>
            <a:r>
              <a:rPr sz="769" spc="27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goes</a:t>
            </a:r>
            <a:r>
              <a:rPr sz="769" spc="27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out</a:t>
            </a:r>
            <a:r>
              <a:rPr sz="769" spc="26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260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microprocessor.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number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locations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can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determined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by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number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lines.</a:t>
            </a:r>
            <a:r>
              <a:rPr sz="769" spc="6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If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has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N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lines,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then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it</a:t>
            </a:r>
            <a:r>
              <a:rPr sz="769" spc="5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can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directly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2</a:t>
            </a:r>
            <a:r>
              <a:rPr sz="769" baseline="38194" dirty="0">
                <a:latin typeface="Times New Roman"/>
                <a:cs typeface="Times New Roman"/>
              </a:rPr>
              <a:t>N</a:t>
            </a:r>
            <a:r>
              <a:rPr sz="769" spc="173" baseline="38194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memory </a:t>
            </a:r>
            <a:r>
              <a:rPr sz="769" dirty="0">
                <a:latin typeface="Times New Roman"/>
                <a:cs typeface="Times New Roman"/>
              </a:rPr>
              <a:t>locations.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ex: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with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16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can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2</a:t>
            </a:r>
            <a:r>
              <a:rPr sz="769" baseline="38194" dirty="0">
                <a:latin typeface="Times New Roman"/>
                <a:cs typeface="Times New Roman"/>
              </a:rPr>
              <a:t>16</a:t>
            </a:r>
            <a:r>
              <a:rPr sz="769" spc="81" baseline="3819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65,536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locations.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179067" marR="167265" algn="just">
              <a:lnSpc>
                <a:spcPts val="884"/>
              </a:lnSpc>
              <a:spcBef>
                <a:spcPts val="3"/>
              </a:spcBef>
            </a:pP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769" b="1" u="heavy" spc="1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bus:</a:t>
            </a:r>
            <a:r>
              <a:rPr sz="769" b="1" spc="13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data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consists</a:t>
            </a:r>
            <a:r>
              <a:rPr sz="769" spc="11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8,16,or</a:t>
            </a:r>
            <a:r>
              <a:rPr sz="769" spc="10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32…parallel</a:t>
            </a:r>
            <a:r>
              <a:rPr sz="769" spc="1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.A</a:t>
            </a:r>
            <a:r>
              <a:rPr sz="769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used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11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transfer</a:t>
            </a:r>
            <a:r>
              <a:rPr sz="769" spc="11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09" dirty="0">
                <a:latin typeface="Times New Roman"/>
                <a:cs typeface="Times New Roman"/>
              </a:rPr>
              <a:t> </a:t>
            </a:r>
            <a:r>
              <a:rPr sz="769" spc="-13" dirty="0">
                <a:latin typeface="Times New Roman"/>
                <a:cs typeface="Times New Roman"/>
              </a:rPr>
              <a:t>data </a:t>
            </a:r>
            <a:r>
              <a:rPr sz="769" dirty="0">
                <a:latin typeface="Times New Roman"/>
                <a:cs typeface="Times New Roman"/>
              </a:rPr>
              <a:t>between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peripherals(or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memory).The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data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always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bi-</a:t>
            </a:r>
            <a:r>
              <a:rPr sz="769" spc="-6" dirty="0">
                <a:latin typeface="Times New Roman"/>
                <a:cs typeface="Times New Roman"/>
              </a:rPr>
              <a:t>directional.</a:t>
            </a:r>
            <a:endParaRPr sz="769" dirty="0">
              <a:latin typeface="Times New Roman"/>
              <a:cs typeface="Times New Roman"/>
            </a:endParaRPr>
          </a:p>
          <a:p>
            <a:pPr marL="179067" marR="165230" algn="just">
              <a:lnSpc>
                <a:spcPts val="884"/>
              </a:lnSpc>
              <a:spcBef>
                <a:spcPts val="884"/>
              </a:spcBef>
            </a:pP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Control</a:t>
            </a:r>
            <a:r>
              <a:rPr sz="769" b="1" u="heavy" spc="2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69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bus:</a:t>
            </a:r>
            <a:r>
              <a:rPr sz="769" b="1" u="heavy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control</a:t>
            </a:r>
            <a:r>
              <a:rPr sz="769" spc="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consists</a:t>
            </a:r>
            <a:r>
              <a:rPr sz="769" spc="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4</a:t>
            </a:r>
            <a:r>
              <a:rPr sz="769" spc="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10</a:t>
            </a:r>
            <a:r>
              <a:rPr sz="769" spc="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parallel</a:t>
            </a:r>
            <a:r>
              <a:rPr sz="769" spc="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signal</a:t>
            </a:r>
            <a:r>
              <a:rPr sz="769" spc="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lines.</a:t>
            </a:r>
            <a:r>
              <a:rPr sz="769" spc="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sends</a:t>
            </a:r>
            <a:r>
              <a:rPr sz="769" spc="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out</a:t>
            </a:r>
            <a:r>
              <a:rPr sz="769" spc="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signals </a:t>
            </a:r>
            <a:r>
              <a:rPr sz="769" dirty="0">
                <a:latin typeface="Times New Roman"/>
                <a:cs typeface="Times New Roman"/>
              </a:rPr>
              <a:t>on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control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3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enable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outputs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addressed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devices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port</a:t>
            </a:r>
            <a:r>
              <a:rPr sz="769" spc="4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devices.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Typical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control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bus </a:t>
            </a:r>
            <a:r>
              <a:rPr sz="769" dirty="0">
                <a:latin typeface="Times New Roman"/>
                <a:cs typeface="Times New Roman"/>
              </a:rPr>
              <a:t>signals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Read,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Write,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I/O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Read,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I/O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Write.</a:t>
            </a:r>
            <a:endParaRPr sz="769" dirty="0">
              <a:latin typeface="Times New Roman"/>
              <a:cs typeface="Times New Roman"/>
            </a:endParaRPr>
          </a:p>
          <a:p>
            <a:pPr marL="284880">
              <a:spcBef>
                <a:spcPts val="843"/>
              </a:spcBef>
            </a:pPr>
            <a:r>
              <a:rPr sz="833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SOME</a:t>
            </a:r>
            <a:r>
              <a:rPr sz="833" b="1" i="1" u="heavy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33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IMPORTANT</a:t>
            </a:r>
            <a:r>
              <a:rPr sz="833" b="1" i="1" u="heavy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33" b="1" i="1" u="heavy" spc="-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TERMS:</a:t>
            </a:r>
            <a:endParaRPr sz="833" dirty="0">
              <a:latin typeface="Times New Roman"/>
              <a:cs typeface="Times New Roman"/>
            </a:endParaRPr>
          </a:p>
          <a:p>
            <a:pPr marL="179067" marR="167672" algn="just">
              <a:lnSpc>
                <a:spcPts val="884"/>
              </a:lnSpc>
              <a:spcBef>
                <a:spcPts val="756"/>
              </a:spcBef>
            </a:pPr>
            <a:r>
              <a:rPr sz="769" b="1" dirty="0">
                <a:latin typeface="Times New Roman"/>
                <a:cs typeface="Times New Roman"/>
              </a:rPr>
              <a:t>Microprocessor:</a:t>
            </a:r>
            <a:r>
              <a:rPr sz="769" b="1" spc="90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It</a:t>
            </a:r>
            <a:r>
              <a:rPr sz="769" b="1" spc="9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8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7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semiconductor</a:t>
            </a:r>
            <a:r>
              <a:rPr sz="769" spc="7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</a:t>
            </a:r>
            <a:r>
              <a:rPr sz="769" spc="7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which</a:t>
            </a:r>
            <a:r>
              <a:rPr sz="769" spc="7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7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manufactured</a:t>
            </a:r>
            <a:r>
              <a:rPr sz="769" spc="7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by</a:t>
            </a:r>
            <a:r>
              <a:rPr sz="769" spc="7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using</a:t>
            </a:r>
            <a:r>
              <a:rPr sz="769" spc="7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LSI</a:t>
            </a:r>
            <a:r>
              <a:rPr sz="769" spc="6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7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VLSI</a:t>
            </a:r>
            <a:r>
              <a:rPr sz="769" spc="64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technology, </a:t>
            </a:r>
            <a:r>
              <a:rPr sz="769" dirty="0">
                <a:latin typeface="Times New Roman"/>
                <a:cs typeface="Times New Roman"/>
              </a:rPr>
              <a:t>which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includes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ALU,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Control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unit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Registers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single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Integrated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circuit.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179067" marR="163603" algn="just">
              <a:lnSpc>
                <a:spcPts val="878"/>
              </a:lnSpc>
            </a:pPr>
            <a:r>
              <a:rPr sz="769" b="1" dirty="0">
                <a:latin typeface="Times New Roman"/>
                <a:cs typeface="Times New Roman"/>
              </a:rPr>
              <a:t>Microcontroller:</a:t>
            </a:r>
            <a:r>
              <a:rPr sz="769" b="1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It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 device that includes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microprocessor, memory,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I/O signal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on a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single </a:t>
            </a:r>
            <a:r>
              <a:rPr sz="769" spc="-6" dirty="0">
                <a:latin typeface="Times New Roman"/>
                <a:cs typeface="Times New Roman"/>
              </a:rPr>
              <a:t>chip, </a:t>
            </a:r>
            <a:r>
              <a:rPr sz="769" dirty="0">
                <a:latin typeface="Times New Roman"/>
                <a:cs typeface="Times New Roman"/>
              </a:rPr>
              <a:t>fabricated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using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VLSI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technology.</a:t>
            </a:r>
            <a:endParaRPr sz="76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69" dirty="0">
              <a:latin typeface="Times New Roman"/>
              <a:cs typeface="Times New Roman"/>
            </a:endParaRPr>
          </a:p>
          <a:p>
            <a:pPr marL="179067" marR="161568" algn="just">
              <a:lnSpc>
                <a:spcPts val="884"/>
              </a:lnSpc>
              <a:spcBef>
                <a:spcPts val="3"/>
              </a:spcBef>
            </a:pPr>
            <a:r>
              <a:rPr sz="769" b="1" dirty="0">
                <a:latin typeface="Times New Roman"/>
                <a:cs typeface="Times New Roman"/>
              </a:rPr>
              <a:t>Microcomputer:</a:t>
            </a:r>
            <a:r>
              <a:rPr sz="769" b="1" spc="17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6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digital</a:t>
            </a:r>
            <a:r>
              <a:rPr sz="769" spc="1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having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6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1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its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Central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Processing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Unit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called </a:t>
            </a:r>
            <a:r>
              <a:rPr sz="769" dirty="0">
                <a:latin typeface="Times New Roman"/>
                <a:cs typeface="Times New Roman"/>
              </a:rPr>
              <a:t>Microcomputer.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So,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combined with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memory,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input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output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forms</a:t>
            </a:r>
            <a:r>
              <a:rPr sz="769" spc="22" dirty="0">
                <a:latin typeface="Times New Roman"/>
                <a:cs typeface="Times New Roman"/>
              </a:rPr>
              <a:t> </a:t>
            </a:r>
            <a:r>
              <a:rPr sz="769" spc="-32" dirty="0">
                <a:latin typeface="Times New Roman"/>
                <a:cs typeface="Times New Roman"/>
              </a:rPr>
              <a:t>a </a:t>
            </a:r>
            <a:r>
              <a:rPr sz="769" spc="-6" dirty="0">
                <a:latin typeface="Times New Roman"/>
                <a:cs typeface="Times New Roman"/>
              </a:rPr>
              <a:t>microcomputer.</a:t>
            </a:r>
            <a:endParaRPr sz="769" dirty="0">
              <a:latin typeface="Times New Roman"/>
              <a:cs typeface="Times New Roman"/>
            </a:endParaRPr>
          </a:p>
          <a:p>
            <a:pPr marL="179067" marR="166044" algn="just">
              <a:lnSpc>
                <a:spcPts val="884"/>
              </a:lnSpc>
              <a:spcBef>
                <a:spcPts val="884"/>
              </a:spcBef>
            </a:pPr>
            <a:r>
              <a:rPr sz="769" b="1" dirty="0">
                <a:latin typeface="Times New Roman"/>
                <a:cs typeface="Times New Roman"/>
              </a:rPr>
              <a:t>Bus:</a:t>
            </a:r>
            <a:r>
              <a:rPr sz="769" b="1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wires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lines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used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transfer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bits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between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other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components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27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system.</a:t>
            </a:r>
            <a:r>
              <a:rPr sz="769" spc="28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28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27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path</a:t>
            </a:r>
            <a:r>
              <a:rPr sz="769" spc="27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used</a:t>
            </a:r>
            <a:r>
              <a:rPr sz="769" spc="28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27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carry</a:t>
            </a:r>
            <a:r>
              <a:rPr sz="769" spc="26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signals,</a:t>
            </a:r>
            <a:r>
              <a:rPr sz="769" spc="28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such</a:t>
            </a:r>
            <a:r>
              <a:rPr sz="769" spc="27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</a:t>
            </a:r>
            <a:r>
              <a:rPr sz="769" spc="27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connection</a:t>
            </a:r>
            <a:r>
              <a:rPr sz="769" spc="27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between</a:t>
            </a:r>
            <a:r>
              <a:rPr sz="769" spc="28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memory</a:t>
            </a:r>
            <a:r>
              <a:rPr sz="769" spc="27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276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digital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computer.</a:t>
            </a:r>
            <a:endParaRPr sz="769" dirty="0">
              <a:latin typeface="Times New Roman"/>
              <a:cs typeface="Times New Roman"/>
            </a:endParaRPr>
          </a:p>
          <a:p>
            <a:pPr marL="179067">
              <a:spcBef>
                <a:spcPts val="830"/>
              </a:spcBef>
            </a:pPr>
            <a:r>
              <a:rPr sz="769" b="1" dirty="0">
                <a:latin typeface="Times New Roman"/>
                <a:cs typeface="Times New Roman"/>
              </a:rPr>
              <a:t>Hardware:</a:t>
            </a:r>
            <a:r>
              <a:rPr sz="769" b="1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physical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circuitry</a:t>
            </a:r>
            <a:r>
              <a:rPr sz="769" spc="-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called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Hardware.</a:t>
            </a:r>
            <a:endParaRPr sz="769" dirty="0">
              <a:latin typeface="Times New Roman"/>
              <a:cs typeface="Times New Roman"/>
            </a:endParaRPr>
          </a:p>
          <a:p>
            <a:pPr marL="179067">
              <a:spcBef>
                <a:spcPts val="846"/>
              </a:spcBef>
            </a:pPr>
            <a:r>
              <a:rPr sz="769" b="1" dirty="0">
                <a:latin typeface="Times New Roman"/>
                <a:cs typeface="Times New Roman"/>
              </a:rPr>
              <a:t>Software:</a:t>
            </a:r>
            <a:r>
              <a:rPr sz="769" b="1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for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referred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software.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2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179067" marR="165637" algn="just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Firmware:</a:t>
            </a:r>
            <a:r>
              <a:rPr sz="769" b="1" spc="22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20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stored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19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ROMs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19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other</a:t>
            </a:r>
            <a:r>
              <a:rPr sz="769" spc="19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devices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which</a:t>
            </a:r>
            <a:r>
              <a:rPr sz="769" spc="20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permanently</a:t>
            </a:r>
            <a:r>
              <a:rPr sz="769" spc="18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keep</a:t>
            </a:r>
            <a:r>
              <a:rPr sz="769" spc="20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their</a:t>
            </a:r>
            <a:r>
              <a:rPr sz="769" spc="202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stored </a:t>
            </a:r>
            <a:r>
              <a:rPr sz="769" dirty="0">
                <a:latin typeface="Times New Roman"/>
                <a:cs typeface="Times New Roman"/>
              </a:rPr>
              <a:t>information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referred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Firmware.</a:t>
            </a:r>
            <a:endParaRPr sz="769" dirty="0">
              <a:latin typeface="Times New Roman"/>
              <a:cs typeface="Times New Roman"/>
            </a:endParaRPr>
          </a:p>
          <a:p>
            <a:pPr marL="472087" indent="-147324">
              <a:lnSpc>
                <a:spcPts val="900"/>
              </a:lnSpc>
              <a:spcBef>
                <a:spcPts val="833"/>
              </a:spcBef>
              <a:buFont typeface="Wingdings"/>
              <a:buChar char=""/>
              <a:tabLst>
                <a:tab pos="472087" algn="l"/>
              </a:tabLst>
            </a:pP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general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width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data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bus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equal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bit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capacity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the</a:t>
            </a:r>
            <a:r>
              <a:rPr sz="769" spc="-48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microprocessor.</a:t>
            </a:r>
            <a:endParaRPr sz="769" dirty="0">
              <a:latin typeface="Times New Roman"/>
              <a:cs typeface="Times New Roman"/>
            </a:endParaRPr>
          </a:p>
          <a:p>
            <a:pPr marL="472494" marR="575051" indent="-147730">
              <a:lnSpc>
                <a:spcPts val="884"/>
              </a:lnSpc>
              <a:spcBef>
                <a:spcPts val="38"/>
              </a:spcBef>
              <a:buFont typeface="Wingdings"/>
              <a:buChar char=""/>
              <a:tabLst>
                <a:tab pos="472494" algn="l"/>
              </a:tabLst>
            </a:pP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general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internal</a:t>
            </a:r>
            <a:r>
              <a:rPr sz="769" spc="-6" dirty="0">
                <a:latin typeface="Times New Roman"/>
                <a:cs typeface="Times New Roman"/>
              </a:rPr>
              <a:t> architecture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microprocessor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depends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on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bit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capacity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spc="-6" dirty="0">
                <a:latin typeface="Times New Roman"/>
                <a:cs typeface="Times New Roman"/>
              </a:rPr>
              <a:t>microprocessor.</a:t>
            </a:r>
            <a:endParaRPr sz="769" dirty="0">
              <a:latin typeface="Times New Roman"/>
              <a:cs typeface="Times New Roman"/>
            </a:endParaRPr>
          </a:p>
          <a:p>
            <a:pPr marL="764699" lvl="1" indent="-146917">
              <a:lnSpc>
                <a:spcPts val="843"/>
              </a:lnSpc>
              <a:buFont typeface="Wingdings"/>
              <a:buChar char=""/>
              <a:tabLst>
                <a:tab pos="764699" algn="l"/>
              </a:tabLst>
            </a:pPr>
            <a:r>
              <a:rPr sz="769" b="1" spc="-6" dirty="0">
                <a:latin typeface="Times New Roman"/>
                <a:cs typeface="Times New Roman"/>
              </a:rPr>
              <a:t>Bit</a:t>
            </a:r>
            <a:r>
              <a:rPr sz="769" spc="-6" dirty="0">
                <a:latin typeface="Times New Roman"/>
                <a:cs typeface="Times New Roman"/>
              </a:rPr>
              <a:t>-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binary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digit.0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spc="-32" dirty="0">
                <a:latin typeface="Times New Roman"/>
                <a:cs typeface="Times New Roman"/>
              </a:rPr>
              <a:t>1</a:t>
            </a:r>
            <a:endParaRPr sz="769" dirty="0">
              <a:latin typeface="Times New Roman"/>
              <a:cs typeface="Times New Roman"/>
            </a:endParaRPr>
          </a:p>
          <a:p>
            <a:pPr marL="764699" lvl="1" indent="-146917">
              <a:lnSpc>
                <a:spcPts val="884"/>
              </a:lnSpc>
              <a:buFont typeface="Wingdings"/>
              <a:buChar char=""/>
              <a:tabLst>
                <a:tab pos="764699" algn="l"/>
              </a:tabLst>
            </a:pPr>
            <a:r>
              <a:rPr sz="769" b="1" spc="-6" dirty="0">
                <a:latin typeface="Times New Roman"/>
                <a:cs typeface="Times New Roman"/>
              </a:rPr>
              <a:t>Nibble</a:t>
            </a:r>
            <a:r>
              <a:rPr sz="769" spc="-6" dirty="0">
                <a:latin typeface="Times New Roman"/>
                <a:cs typeface="Times New Roman"/>
              </a:rPr>
              <a:t>-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four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spc="-13" dirty="0">
                <a:latin typeface="Times New Roman"/>
                <a:cs typeface="Times New Roman"/>
              </a:rPr>
              <a:t>bits</a:t>
            </a:r>
            <a:endParaRPr sz="769" dirty="0">
              <a:latin typeface="Times New Roman"/>
              <a:cs typeface="Times New Roman"/>
            </a:endParaRPr>
          </a:p>
          <a:p>
            <a:pPr marL="764699" lvl="1" indent="-146917">
              <a:lnSpc>
                <a:spcPts val="884"/>
              </a:lnSpc>
              <a:buFont typeface="Wingdings"/>
              <a:buChar char=""/>
              <a:tabLst>
                <a:tab pos="764699" algn="l"/>
              </a:tabLst>
            </a:pPr>
            <a:r>
              <a:rPr sz="769" b="1" spc="-6" dirty="0">
                <a:latin typeface="Times New Roman"/>
                <a:cs typeface="Times New Roman"/>
              </a:rPr>
              <a:t>Byte</a:t>
            </a:r>
            <a:r>
              <a:rPr sz="769" spc="-6" dirty="0">
                <a:latin typeface="Times New Roman"/>
                <a:cs typeface="Times New Roman"/>
              </a:rPr>
              <a:t>-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eight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13" dirty="0">
                <a:latin typeface="Times New Roman"/>
                <a:cs typeface="Times New Roman"/>
              </a:rPr>
              <a:t>bits</a:t>
            </a:r>
            <a:endParaRPr sz="769" dirty="0">
              <a:latin typeface="Times New Roman"/>
              <a:cs typeface="Times New Roman"/>
            </a:endParaRPr>
          </a:p>
          <a:p>
            <a:pPr marL="764699" lvl="1" indent="-146917">
              <a:lnSpc>
                <a:spcPts val="888"/>
              </a:lnSpc>
              <a:buFont typeface="Wingdings"/>
              <a:buChar char=""/>
              <a:tabLst>
                <a:tab pos="764699" algn="l"/>
              </a:tabLst>
            </a:pPr>
            <a:r>
              <a:rPr sz="769" b="1" spc="-6" dirty="0">
                <a:latin typeface="Times New Roman"/>
                <a:cs typeface="Times New Roman"/>
              </a:rPr>
              <a:t>Word</a:t>
            </a:r>
            <a:r>
              <a:rPr sz="769" spc="-6" dirty="0">
                <a:latin typeface="Times New Roman"/>
                <a:cs typeface="Times New Roman"/>
              </a:rPr>
              <a:t>-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16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bits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bits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recognizes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processes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at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a</a:t>
            </a:r>
            <a:r>
              <a:rPr sz="769" spc="-70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time.</a:t>
            </a:r>
            <a:endParaRPr sz="769" dirty="0">
              <a:latin typeface="Times New Roman"/>
              <a:cs typeface="Times New Roman"/>
            </a:endParaRPr>
          </a:p>
          <a:p>
            <a:pPr marL="764699" lvl="1" indent="-146917">
              <a:lnSpc>
                <a:spcPts val="907"/>
              </a:lnSpc>
              <a:buFont typeface="Wingdings"/>
              <a:buChar char=""/>
              <a:tabLst>
                <a:tab pos="764699" algn="l"/>
              </a:tabLst>
            </a:pPr>
            <a:r>
              <a:rPr sz="769" b="1" dirty="0">
                <a:latin typeface="Times New Roman"/>
                <a:cs typeface="Times New Roman"/>
              </a:rPr>
              <a:t>Double</a:t>
            </a:r>
            <a:r>
              <a:rPr sz="769" b="1" spc="-6" dirty="0">
                <a:latin typeface="Times New Roman"/>
                <a:cs typeface="Times New Roman"/>
              </a:rPr>
              <a:t> word</a:t>
            </a:r>
            <a:r>
              <a:rPr sz="769" spc="-6" dirty="0">
                <a:latin typeface="Times New Roman"/>
                <a:cs typeface="Times New Roman"/>
              </a:rPr>
              <a:t>-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group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 32</a:t>
            </a:r>
            <a:r>
              <a:rPr sz="769" spc="-2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bits.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19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179067" marR="163196" algn="just">
              <a:lnSpc>
                <a:spcPts val="884"/>
              </a:lnSpc>
              <a:spcBef>
                <a:spcPts val="3"/>
              </a:spcBef>
            </a:pPr>
            <a:r>
              <a:rPr sz="769" b="1" dirty="0">
                <a:latin typeface="Times New Roman"/>
                <a:cs typeface="Times New Roman"/>
              </a:rPr>
              <a:t>Instruction:</a:t>
            </a:r>
            <a:r>
              <a:rPr sz="769" b="1" spc="7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command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binary</a:t>
            </a:r>
            <a:r>
              <a:rPr sz="769" spc="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5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recognized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executed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by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4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accomplish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48" dirty="0">
                <a:latin typeface="Times New Roman"/>
                <a:cs typeface="Times New Roman"/>
              </a:rPr>
              <a:t> </a:t>
            </a:r>
            <a:r>
              <a:rPr sz="769" spc="-13" dirty="0">
                <a:latin typeface="Times New Roman"/>
                <a:cs typeface="Times New Roman"/>
              </a:rPr>
              <a:t>task. </a:t>
            </a:r>
            <a:r>
              <a:rPr sz="769" dirty="0">
                <a:latin typeface="Times New Roman"/>
                <a:cs typeface="Times New Roman"/>
              </a:rPr>
              <a:t>Some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instructions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designed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with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one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word,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some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require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multiple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words.</a:t>
            </a:r>
            <a:endParaRPr sz="769" dirty="0">
              <a:latin typeface="Times New Roman"/>
              <a:cs typeface="Times New Roman"/>
            </a:endParaRPr>
          </a:p>
          <a:p>
            <a:pPr marL="179067">
              <a:spcBef>
                <a:spcPts val="820"/>
              </a:spcBef>
            </a:pPr>
            <a:r>
              <a:rPr sz="769" b="1" dirty="0">
                <a:latin typeface="Times New Roman"/>
                <a:cs typeface="Times New Roman"/>
              </a:rPr>
              <a:t>Mnemonic:</a:t>
            </a:r>
            <a:r>
              <a:rPr sz="769" b="1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combination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letters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suggest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operation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instruction.</a:t>
            </a:r>
            <a:endParaRPr sz="769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6557" y="6591299"/>
            <a:ext cx="4375282" cy="36223"/>
          </a:xfrm>
          <a:custGeom>
            <a:avLst/>
            <a:gdLst/>
            <a:ahLst/>
            <a:cxnLst/>
            <a:rect l="l" t="t" r="r" b="b"/>
            <a:pathLst>
              <a:path w="6826250" h="56515">
                <a:moveTo>
                  <a:pt x="6825742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6825742" y="56388"/>
                </a:lnTo>
                <a:lnTo>
                  <a:pt x="6825742" y="47244"/>
                </a:lnTo>
                <a:close/>
              </a:path>
              <a:path w="6826250" h="56515">
                <a:moveTo>
                  <a:pt x="6825742" y="0"/>
                </a:moveTo>
                <a:lnTo>
                  <a:pt x="0" y="0"/>
                </a:lnTo>
                <a:lnTo>
                  <a:pt x="0" y="38100"/>
                </a:lnTo>
                <a:lnTo>
                  <a:pt x="6825742" y="38100"/>
                </a:lnTo>
                <a:lnTo>
                  <a:pt x="6825742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604" y="2380258"/>
            <a:ext cx="91982" cy="858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90">
              <a:lnSpc>
                <a:spcPts val="756"/>
              </a:lnSpc>
            </a:pPr>
            <a:r>
              <a:rPr dirty="0"/>
              <a:t>Page</a:t>
            </a:r>
            <a:r>
              <a:rPr spc="-16" dirty="0"/>
              <a:t> </a:t>
            </a:r>
            <a:fld id="{81D60167-4931-47E6-BA6A-407CBD079E47}" type="slidenum">
              <a:rPr spc="-32" dirty="0"/>
              <a:pPr marL="57790">
                <a:lnSpc>
                  <a:spcPts val="756"/>
                </a:lnSpc>
              </a:pPr>
              <a:t>5</a:t>
            </a:fld>
            <a:endParaRPr spc="-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6754" y="51445"/>
            <a:ext cx="228329" cy="126585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769" spc="-122" dirty="0">
                <a:solidFill>
                  <a:srgbClr val="7D7D7D"/>
                </a:solidFill>
                <a:latin typeface="Trebuchet MS"/>
                <a:cs typeface="Trebuchet MS"/>
              </a:rPr>
              <a:t>UNIT-</a:t>
            </a:r>
            <a:r>
              <a:rPr sz="769" spc="-48" dirty="0">
                <a:solidFill>
                  <a:srgbClr val="7D7D7D"/>
                </a:solidFill>
                <a:latin typeface="Trebuchet MS"/>
                <a:cs typeface="Trebuchet MS"/>
              </a:rPr>
              <a:t>2</a:t>
            </a:r>
            <a:endParaRPr sz="769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1164" y="41677"/>
            <a:ext cx="4109916" cy="267637"/>
          </a:xfrm>
          <a:prstGeom prst="rect">
            <a:avLst/>
          </a:prstGeom>
        </p:spPr>
        <p:txBody>
          <a:bodyPr vert="horz" wrap="square" lIns="0" tIns="17907" rIns="0" bIns="0" rtlCol="0">
            <a:spAutoFit/>
          </a:bodyPr>
          <a:lstStyle/>
          <a:p>
            <a:pPr marL="8139">
              <a:spcBef>
                <a:spcPts val="140"/>
              </a:spcBef>
            </a:pPr>
            <a:r>
              <a:rPr sz="769" spc="-13" dirty="0">
                <a:solidFill>
                  <a:srgbClr val="7D7D7D"/>
                </a:solidFill>
                <a:latin typeface="Trebuchet MS"/>
                <a:cs typeface="Trebuchet MS"/>
              </a:rPr>
              <a:t>MPMC</a:t>
            </a:r>
            <a:endParaRPr sz="769">
              <a:latin typeface="Trebuchet MS"/>
              <a:cs typeface="Trebuchet MS"/>
            </a:endParaRPr>
          </a:p>
          <a:p>
            <a:pPr marL="8139">
              <a:spcBef>
                <a:spcPts val="77"/>
              </a:spcBef>
            </a:pPr>
            <a:r>
              <a:rPr sz="769" b="1" dirty="0">
                <a:latin typeface="Times New Roman"/>
                <a:cs typeface="Times New Roman"/>
              </a:rPr>
              <a:t>Program:</a:t>
            </a:r>
            <a:r>
              <a:rPr sz="769" b="1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set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instructions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specific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sequence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for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accomplish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given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task.</a:t>
            </a:r>
            <a:endParaRPr sz="769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6557" y="6591299"/>
            <a:ext cx="4375282" cy="36223"/>
          </a:xfrm>
          <a:custGeom>
            <a:avLst/>
            <a:gdLst/>
            <a:ahLst/>
            <a:cxnLst/>
            <a:rect l="l" t="t" r="r" b="b"/>
            <a:pathLst>
              <a:path w="6826250" h="56515">
                <a:moveTo>
                  <a:pt x="6825742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6825742" y="56388"/>
                </a:lnTo>
                <a:lnTo>
                  <a:pt x="6825742" y="47244"/>
                </a:lnTo>
                <a:close/>
              </a:path>
              <a:path w="6826250" h="56515">
                <a:moveTo>
                  <a:pt x="6825742" y="0"/>
                </a:moveTo>
                <a:lnTo>
                  <a:pt x="0" y="0"/>
                </a:lnTo>
                <a:lnTo>
                  <a:pt x="0" y="38100"/>
                </a:lnTo>
                <a:lnTo>
                  <a:pt x="6825742" y="38100"/>
                </a:lnTo>
                <a:lnTo>
                  <a:pt x="6825742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90138" y="402119"/>
            <a:ext cx="4368770" cy="3607652"/>
          </a:xfrm>
          <a:prstGeom prst="rect">
            <a:avLst/>
          </a:prstGeom>
        </p:spPr>
        <p:txBody>
          <a:bodyPr vert="horz" wrap="square" lIns="0" tIns="15873" rIns="0" bIns="0" rtlCol="0">
            <a:spAutoFit/>
          </a:bodyPr>
          <a:lstStyle/>
          <a:p>
            <a:pPr marL="48837" marR="322321">
              <a:lnSpc>
                <a:spcPts val="884"/>
              </a:lnSpc>
              <a:spcBef>
                <a:spcPts val="125"/>
              </a:spcBef>
            </a:pPr>
            <a:r>
              <a:rPr sz="769" b="1" dirty="0">
                <a:latin typeface="Times New Roman"/>
                <a:cs typeface="Times New Roman"/>
              </a:rPr>
              <a:t>Machine</a:t>
            </a:r>
            <a:r>
              <a:rPr sz="769" b="1" spc="-22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language:</a:t>
            </a:r>
            <a:r>
              <a:rPr sz="769" b="1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binary</a:t>
            </a:r>
            <a:r>
              <a:rPr sz="769" spc="-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medium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communication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with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through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designed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set</a:t>
            </a:r>
            <a:r>
              <a:rPr sz="769" spc="-16" dirty="0">
                <a:latin typeface="Times New Roman"/>
                <a:cs typeface="Times New Roman"/>
              </a:rPr>
              <a:t> of </a:t>
            </a:r>
            <a:r>
              <a:rPr sz="769" dirty="0">
                <a:latin typeface="Times New Roman"/>
                <a:cs typeface="Times New Roman"/>
              </a:rPr>
              <a:t>instructions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specific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each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computer.</a:t>
            </a:r>
            <a:endParaRPr sz="76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69" dirty="0">
              <a:latin typeface="Times New Roman"/>
              <a:cs typeface="Times New Roman"/>
            </a:endParaRPr>
          </a:p>
          <a:p>
            <a:pPr marL="48837" marR="342263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Assembly</a:t>
            </a:r>
            <a:r>
              <a:rPr sz="769" b="1" spc="-13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language:</a:t>
            </a:r>
            <a:r>
              <a:rPr sz="769" b="1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medium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communication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with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which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in </a:t>
            </a:r>
            <a:r>
              <a:rPr sz="769" spc="-6" dirty="0">
                <a:latin typeface="Times New Roman"/>
                <a:cs typeface="Times New Roman"/>
              </a:rPr>
              <a:t>mnemonics.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2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48837" marR="404123">
              <a:lnSpc>
                <a:spcPts val="878"/>
              </a:lnSpc>
            </a:pPr>
            <a:r>
              <a:rPr sz="769" b="1" dirty="0">
                <a:latin typeface="Times New Roman"/>
                <a:cs typeface="Times New Roman"/>
              </a:rPr>
              <a:t>Low-level</a:t>
            </a:r>
            <a:r>
              <a:rPr sz="769" b="1" spc="-10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language:</a:t>
            </a:r>
            <a:r>
              <a:rPr sz="769" b="1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medium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communication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machine-</a:t>
            </a:r>
            <a:r>
              <a:rPr sz="769" dirty="0">
                <a:latin typeface="Times New Roman"/>
                <a:cs typeface="Times New Roman"/>
              </a:rPr>
              <a:t>dependant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specific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6" dirty="0">
                <a:latin typeface="Times New Roman"/>
                <a:cs typeface="Times New Roman"/>
              </a:rPr>
              <a:t> given computer.</a:t>
            </a:r>
            <a:endParaRPr sz="769" dirty="0">
              <a:latin typeface="Times New Roman"/>
              <a:cs typeface="Times New Roman"/>
            </a:endParaRPr>
          </a:p>
          <a:p>
            <a:pPr marL="342263">
              <a:lnSpc>
                <a:spcPts val="900"/>
              </a:lnSpc>
            </a:pP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machine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assembly</a:t>
            </a:r>
            <a:r>
              <a:rPr sz="769" spc="-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considered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low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level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languages.</a:t>
            </a:r>
            <a:endParaRPr sz="769" dirty="0">
              <a:latin typeface="Times New Roman"/>
              <a:cs typeface="Times New Roman"/>
            </a:endParaRPr>
          </a:p>
          <a:p>
            <a:pPr marL="48837">
              <a:lnSpc>
                <a:spcPts val="900"/>
              </a:lnSpc>
            </a:pP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these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are</a:t>
            </a:r>
            <a:r>
              <a:rPr sz="769" spc="-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not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transferable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different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types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machines.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2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48837" marR="52499" algn="just">
              <a:lnSpc>
                <a:spcPts val="884"/>
              </a:lnSpc>
            </a:pPr>
            <a:r>
              <a:rPr sz="769" b="1" spc="-6" dirty="0">
                <a:latin typeface="Times New Roman"/>
                <a:cs typeface="Times New Roman"/>
              </a:rPr>
              <a:t>High-</a:t>
            </a:r>
            <a:r>
              <a:rPr sz="769" b="1" dirty="0">
                <a:latin typeface="Times New Roman"/>
                <a:cs typeface="Times New Roman"/>
              </a:rPr>
              <a:t>level</a:t>
            </a:r>
            <a:r>
              <a:rPr sz="769" b="1" spc="45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language:</a:t>
            </a:r>
            <a:r>
              <a:rPr sz="769" b="1" spc="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medium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communication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independent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2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given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computer.</a:t>
            </a:r>
            <a:r>
              <a:rPr sz="769" spc="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26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are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English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like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words,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they</a:t>
            </a:r>
            <a:r>
              <a:rPr sz="769" spc="135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can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be</a:t>
            </a:r>
            <a:r>
              <a:rPr sz="769" spc="15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executed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on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machine</a:t>
            </a:r>
            <a:r>
              <a:rPr sz="769" spc="14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using</a:t>
            </a:r>
            <a:r>
              <a:rPr sz="769" spc="14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translator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(a</a:t>
            </a:r>
            <a:r>
              <a:rPr sz="769" spc="141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compiler</a:t>
            </a:r>
            <a:r>
              <a:rPr sz="769" spc="144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or </a:t>
            </a:r>
            <a:r>
              <a:rPr sz="769" spc="-6" dirty="0">
                <a:latin typeface="Times New Roman"/>
                <a:cs typeface="Times New Roman"/>
              </a:rPr>
              <a:t>interpreter).</a:t>
            </a:r>
            <a:endParaRPr sz="76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69" dirty="0">
              <a:latin typeface="Times New Roman"/>
              <a:cs typeface="Times New Roman"/>
            </a:endParaRPr>
          </a:p>
          <a:p>
            <a:pPr marL="48837" marR="56569" algn="just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Source</a:t>
            </a:r>
            <a:r>
              <a:rPr sz="769" b="1" spc="13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code:</a:t>
            </a:r>
            <a:r>
              <a:rPr sz="769" b="1" spc="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written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either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 mnemonics of</a:t>
            </a:r>
            <a:r>
              <a:rPr sz="769" spc="-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assembly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 English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like</a:t>
            </a:r>
            <a:r>
              <a:rPr sz="769" spc="-6" dirty="0">
                <a:latin typeface="Times New Roman"/>
                <a:cs typeface="Times New Roman"/>
              </a:rPr>
              <a:t> statements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high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level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(before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it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assembled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or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compiled).</a:t>
            </a:r>
            <a:endParaRPr sz="76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69" dirty="0">
              <a:latin typeface="Times New Roman"/>
              <a:cs typeface="Times New Roman"/>
            </a:endParaRPr>
          </a:p>
          <a:p>
            <a:pPr marL="48837" marR="54127" algn="just">
              <a:lnSpc>
                <a:spcPts val="884"/>
              </a:lnSpc>
              <a:spcBef>
                <a:spcPts val="3"/>
              </a:spcBef>
            </a:pPr>
            <a:r>
              <a:rPr sz="769" b="1" dirty="0">
                <a:latin typeface="Times New Roman"/>
                <a:cs typeface="Times New Roman"/>
              </a:rPr>
              <a:t>Assembler:</a:t>
            </a:r>
            <a:r>
              <a:rPr sz="769" b="1" spc="1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0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computer</a:t>
            </a:r>
            <a:r>
              <a:rPr sz="769" spc="10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</a:t>
            </a:r>
            <a:r>
              <a:rPr sz="769" spc="10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10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translates</a:t>
            </a:r>
            <a:r>
              <a:rPr sz="769" spc="10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</a:t>
            </a:r>
            <a:r>
              <a:rPr sz="769" spc="10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assembly</a:t>
            </a:r>
            <a:r>
              <a:rPr sz="769" spc="9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10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</a:t>
            </a:r>
            <a:r>
              <a:rPr sz="769" spc="10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from</a:t>
            </a:r>
            <a:r>
              <a:rPr sz="769" spc="9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mnemonics</a:t>
            </a:r>
            <a:r>
              <a:rPr sz="769" spc="10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to</a:t>
            </a:r>
            <a:r>
              <a:rPr sz="769" spc="103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binary</a:t>
            </a:r>
            <a:r>
              <a:rPr sz="769" spc="-3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machine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code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computer.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48837" marR="54127" algn="just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Compiler:</a:t>
            </a:r>
            <a:r>
              <a:rPr sz="769" b="1" spc="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 that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translates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English-</a:t>
            </a:r>
            <a:r>
              <a:rPr sz="769" dirty="0">
                <a:latin typeface="Times New Roman"/>
                <a:cs typeface="Times New Roman"/>
              </a:rPr>
              <a:t>like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words of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 high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level</a:t>
            </a:r>
            <a:r>
              <a:rPr sz="769" spc="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into</a:t>
            </a:r>
            <a:r>
              <a:rPr sz="769" spc="-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machine </a:t>
            </a:r>
            <a:r>
              <a:rPr sz="769" spc="-6" dirty="0">
                <a:latin typeface="Times New Roman"/>
                <a:cs typeface="Times New Roman"/>
              </a:rPr>
              <a:t>language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0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computer.</a:t>
            </a:r>
            <a:endParaRPr sz="76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69" dirty="0">
              <a:latin typeface="Times New Roman"/>
              <a:cs typeface="Times New Roman"/>
            </a:endParaRPr>
          </a:p>
          <a:p>
            <a:pPr marL="48837" marR="51685" algn="just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Interpreter:</a:t>
            </a:r>
            <a:r>
              <a:rPr sz="769" b="1" spc="17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translates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the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English</a:t>
            </a:r>
            <a:r>
              <a:rPr sz="769" spc="16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–like</a:t>
            </a:r>
            <a:r>
              <a:rPr sz="769" spc="15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statements</a:t>
            </a:r>
            <a:r>
              <a:rPr sz="769" spc="16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high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level</a:t>
            </a:r>
            <a:r>
              <a:rPr sz="769" spc="16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into</a:t>
            </a:r>
            <a:r>
              <a:rPr sz="769" spc="154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the </a:t>
            </a:r>
            <a:r>
              <a:rPr sz="769" dirty="0">
                <a:latin typeface="Times New Roman"/>
                <a:cs typeface="Times New Roman"/>
              </a:rPr>
              <a:t>machine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language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computer.</a:t>
            </a:r>
            <a:endParaRPr sz="769" dirty="0">
              <a:latin typeface="Times New Roman"/>
              <a:cs typeface="Times New Roman"/>
            </a:endParaRPr>
          </a:p>
          <a:p>
            <a:pPr marL="48837">
              <a:spcBef>
                <a:spcPts val="824"/>
              </a:spcBef>
            </a:pPr>
            <a:r>
              <a:rPr sz="769" b="1" dirty="0">
                <a:latin typeface="Times New Roman"/>
                <a:cs typeface="Times New Roman"/>
              </a:rPr>
              <a:t>Operating</a:t>
            </a:r>
            <a:r>
              <a:rPr sz="769" b="1" spc="-19" dirty="0">
                <a:latin typeface="Times New Roman"/>
                <a:cs typeface="Times New Roman"/>
              </a:rPr>
              <a:t> </a:t>
            </a:r>
            <a:r>
              <a:rPr sz="769" b="1" dirty="0">
                <a:latin typeface="Times New Roman"/>
                <a:cs typeface="Times New Roman"/>
              </a:rPr>
              <a:t>System:</a:t>
            </a:r>
            <a:r>
              <a:rPr sz="769" b="1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set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of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programs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that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manages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interaction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between</a:t>
            </a:r>
            <a:r>
              <a:rPr sz="769" spc="-1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hardware</a:t>
            </a:r>
            <a:r>
              <a:rPr sz="769" spc="-22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and</a:t>
            </a:r>
            <a:r>
              <a:rPr sz="769" spc="-16" dirty="0">
                <a:latin typeface="Times New Roman"/>
                <a:cs typeface="Times New Roman"/>
              </a:rPr>
              <a:t> </a:t>
            </a:r>
            <a:r>
              <a:rPr sz="769" spc="-6" dirty="0">
                <a:latin typeface="Times New Roman"/>
                <a:cs typeface="Times New Roman"/>
              </a:rPr>
              <a:t>software.</a:t>
            </a:r>
            <a:endParaRPr sz="769" dirty="0">
              <a:latin typeface="Times New Roman"/>
              <a:cs typeface="Times New Roman"/>
            </a:endParaRPr>
          </a:p>
          <a:p>
            <a:pPr>
              <a:spcBef>
                <a:spcPts val="22"/>
              </a:spcBef>
            </a:pPr>
            <a:endParaRPr sz="769" dirty="0">
              <a:latin typeface="Times New Roman"/>
              <a:cs typeface="Times New Roman"/>
            </a:endParaRPr>
          </a:p>
          <a:p>
            <a:pPr marL="48837" marR="50464" algn="just">
              <a:lnSpc>
                <a:spcPts val="884"/>
              </a:lnSpc>
            </a:pPr>
            <a:r>
              <a:rPr sz="769" b="1" dirty="0">
                <a:latin typeface="Times New Roman"/>
                <a:cs typeface="Times New Roman"/>
              </a:rPr>
              <a:t>ASCII:</a:t>
            </a:r>
            <a:r>
              <a:rPr sz="769" b="1" spc="99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American</a:t>
            </a:r>
            <a:r>
              <a:rPr sz="769" spc="8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Standard</a:t>
            </a:r>
            <a:r>
              <a:rPr sz="769" spc="8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Code</a:t>
            </a:r>
            <a:r>
              <a:rPr sz="769" spc="8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for</a:t>
            </a:r>
            <a:r>
              <a:rPr sz="769" spc="9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Information</a:t>
            </a:r>
            <a:r>
              <a:rPr sz="769" spc="9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Interchange.</a:t>
            </a:r>
            <a:r>
              <a:rPr sz="769" spc="83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This</a:t>
            </a:r>
            <a:r>
              <a:rPr sz="769" spc="8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is</a:t>
            </a:r>
            <a:r>
              <a:rPr sz="769" spc="8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7-bit</a:t>
            </a:r>
            <a:r>
              <a:rPr sz="769" spc="9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alphanumeric</a:t>
            </a:r>
            <a:r>
              <a:rPr sz="769" spc="80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code</a:t>
            </a:r>
            <a:r>
              <a:rPr sz="769" spc="87" dirty="0">
                <a:latin typeface="Times New Roman"/>
                <a:cs typeface="Times New Roman"/>
              </a:rPr>
              <a:t> </a:t>
            </a:r>
            <a:r>
              <a:rPr sz="769" dirty="0">
                <a:latin typeface="Times New Roman"/>
                <a:cs typeface="Times New Roman"/>
              </a:rPr>
              <a:t>with</a:t>
            </a:r>
            <a:r>
              <a:rPr sz="769" spc="96" dirty="0">
                <a:latin typeface="Times New Roman"/>
                <a:cs typeface="Times New Roman"/>
              </a:rPr>
              <a:t> </a:t>
            </a:r>
            <a:r>
              <a:rPr sz="769" spc="-16" dirty="0">
                <a:latin typeface="Times New Roman"/>
                <a:cs typeface="Times New Roman"/>
              </a:rPr>
              <a:t>128 </a:t>
            </a:r>
            <a:r>
              <a:rPr sz="769" spc="-6" dirty="0">
                <a:latin typeface="Times New Roman"/>
                <a:cs typeface="Times New Roman"/>
              </a:rPr>
              <a:t>combinations.</a:t>
            </a:r>
            <a:endParaRPr sz="769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604" y="4037226"/>
            <a:ext cx="83029" cy="7749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90">
              <a:lnSpc>
                <a:spcPts val="756"/>
              </a:lnSpc>
            </a:pPr>
            <a:r>
              <a:rPr dirty="0"/>
              <a:t>Page</a:t>
            </a:r>
            <a:r>
              <a:rPr spc="-16" dirty="0"/>
              <a:t> </a:t>
            </a:r>
            <a:fld id="{81D60167-4931-47E6-BA6A-407CBD079E47}" type="slidenum">
              <a:rPr spc="-32" dirty="0"/>
              <a:pPr marL="57790">
                <a:lnSpc>
                  <a:spcPts val="756"/>
                </a:lnSpc>
              </a:pPr>
              <a:t>6</a:t>
            </a:fld>
            <a:endParaRPr spc="-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4843" y="310870"/>
            <a:ext cx="4710430" cy="571500"/>
            <a:chOff x="484843" y="310870"/>
            <a:chExt cx="4710430" cy="571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843" y="472730"/>
              <a:ext cx="1731739" cy="199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3119" y="310870"/>
              <a:ext cx="659714" cy="5712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4976" y="310870"/>
              <a:ext cx="2650108" cy="5712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2312" y="310870"/>
              <a:ext cx="412826" cy="57127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46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92D050"/>
                </a:solidFill>
                <a:latin typeface="Cambria"/>
                <a:cs typeface="Cambria"/>
              </a:rPr>
              <a:t>APPLICATIONS</a:t>
            </a:r>
            <a:r>
              <a:rPr sz="2000" b="1" spc="-5" dirty="0">
                <a:solidFill>
                  <a:srgbClr val="92D05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92D050"/>
                </a:solidFill>
                <a:latin typeface="Cambria"/>
                <a:cs typeface="Cambria"/>
              </a:rPr>
              <a:t>OF</a:t>
            </a:r>
            <a:r>
              <a:rPr sz="2000" b="1" spc="-35" dirty="0">
                <a:solidFill>
                  <a:srgbClr val="92D05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92D050"/>
                </a:solidFill>
                <a:latin typeface="Cambria"/>
                <a:cs typeface="Cambria"/>
              </a:rPr>
              <a:t>MICROPROCESSORS: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370" y="989202"/>
            <a:ext cx="3605529" cy="3378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mbria"/>
                <a:cs typeface="Cambria"/>
              </a:rPr>
              <a:t>Microprocessors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:</a:t>
            </a:r>
            <a:endParaRPr sz="2000">
              <a:latin typeface="Cambria"/>
              <a:cs typeface="Cambria"/>
            </a:endParaRPr>
          </a:p>
          <a:p>
            <a:pPr marL="12700" marR="1306830">
              <a:lnSpc>
                <a:spcPct val="200100"/>
              </a:lnSpc>
            </a:pPr>
            <a:r>
              <a:rPr sz="2000" spc="-10" dirty="0">
                <a:latin typeface="Cambria"/>
                <a:cs typeface="Cambria"/>
              </a:rPr>
              <a:t>1.Calculators. </a:t>
            </a:r>
            <a:r>
              <a:rPr sz="2000" dirty="0">
                <a:latin typeface="Cambria"/>
                <a:cs typeface="Cambria"/>
              </a:rPr>
              <a:t>2.Accounting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system.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3.Games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machine.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2000" dirty="0">
                <a:latin typeface="Cambria"/>
                <a:cs typeface="Cambria"/>
              </a:rPr>
              <a:t>4.Complex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Industrial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Controllers. 5Traffic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light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Control.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370" y="4648911"/>
            <a:ext cx="29470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mbria"/>
                <a:cs typeface="Cambria"/>
              </a:rPr>
              <a:t>6.Data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acquisition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systems.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191" y="36614"/>
            <a:ext cx="6167755" cy="678180"/>
            <a:chOff x="1536191" y="36614"/>
            <a:chExt cx="6167755" cy="678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2383" y="462724"/>
              <a:ext cx="5858918" cy="514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6191" y="36614"/>
              <a:ext cx="6167374" cy="67801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251" rIns="0" bIns="0" rtlCol="0">
            <a:spAutoFit/>
          </a:bodyPr>
          <a:lstStyle/>
          <a:p>
            <a:pPr marL="1542415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 2.EVOLUTION</a:t>
            </a:r>
            <a:r>
              <a:rPr sz="24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400" b="1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/>
                <a:cs typeface="Times New Roman"/>
              </a:rPr>
              <a:t>MICROPROCESSORS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437" y="822705"/>
            <a:ext cx="8273415" cy="3198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Cambria"/>
                <a:cs typeface="Cambria"/>
              </a:rPr>
              <a:t>First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Generation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(4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-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Microprocessors)</a:t>
            </a:r>
            <a:endParaRPr sz="1600">
              <a:latin typeface="Cambria"/>
              <a:cs typeface="Cambria"/>
            </a:endParaRPr>
          </a:p>
          <a:p>
            <a:pPr marL="297815" marR="5080" indent="-285750">
              <a:lnSpc>
                <a:spcPct val="2001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The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first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generation</a:t>
            </a:r>
            <a:r>
              <a:rPr sz="1600" spc="3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microprocessors</a:t>
            </a:r>
            <a:r>
              <a:rPr sz="1600" spc="3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were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introduced</a:t>
            </a:r>
            <a:r>
              <a:rPr sz="1600" spc="375" dirty="0"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1600" spc="3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the</a:t>
            </a:r>
            <a:r>
              <a:rPr sz="1600" spc="3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year</a:t>
            </a:r>
            <a:r>
              <a:rPr sz="1600" spc="3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1971-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1972</a:t>
            </a:r>
            <a:r>
              <a:rPr sz="1600" spc="3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3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Intel 	</a:t>
            </a:r>
            <a:r>
              <a:rPr sz="1600" dirty="0">
                <a:latin typeface="Cambria"/>
                <a:cs typeface="Cambria"/>
              </a:rPr>
              <a:t>Corporation.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named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Intel</a:t>
            </a:r>
            <a:r>
              <a:rPr sz="1600" b="1" spc="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4004</a:t>
            </a:r>
            <a:r>
              <a:rPr sz="1600" b="1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since</a:t>
            </a:r>
            <a:r>
              <a:rPr sz="16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it</a:t>
            </a:r>
            <a:r>
              <a:rPr sz="1600" spc="-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was</a:t>
            </a:r>
            <a:r>
              <a:rPr sz="16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a</a:t>
            </a:r>
            <a:r>
              <a:rPr sz="1600" spc="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ambria"/>
                <a:cs typeface="Cambria"/>
              </a:rPr>
              <a:t>4-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bit</a:t>
            </a:r>
            <a:r>
              <a:rPr sz="16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processor.</a:t>
            </a:r>
            <a:endParaRPr sz="1600">
              <a:latin typeface="Cambria"/>
              <a:cs typeface="Cambria"/>
            </a:endParaRPr>
          </a:p>
          <a:p>
            <a:pPr marL="297815" marR="7620" indent="-285750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8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4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single</a:t>
            </a:r>
            <a:r>
              <a:rPr sz="1600" spc="4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chip.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could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perform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simple</a:t>
            </a:r>
            <a:r>
              <a:rPr sz="1600" spc="8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arithmetic</a:t>
            </a:r>
            <a:r>
              <a:rPr sz="1600" spc="8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75" dirty="0">
                <a:latin typeface="Cambria"/>
                <a:cs typeface="Cambria"/>
              </a:rPr>
              <a:t>  </a:t>
            </a:r>
            <a:r>
              <a:rPr sz="1600" spc="-10" dirty="0">
                <a:latin typeface="Cambria"/>
                <a:cs typeface="Cambria"/>
              </a:rPr>
              <a:t>logical 	</a:t>
            </a:r>
            <a:r>
              <a:rPr sz="1600" dirty="0">
                <a:latin typeface="Cambria"/>
                <a:cs typeface="Cambria"/>
              </a:rPr>
              <a:t>operations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such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addition,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subtraction,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Boolean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Boolean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AND.</a:t>
            </a:r>
            <a:endParaRPr sz="1600">
              <a:latin typeface="Cambria"/>
              <a:cs typeface="Cambria"/>
            </a:endParaRPr>
          </a:p>
          <a:p>
            <a:pPr marL="299085" marR="7620" indent="-287020">
              <a:lnSpc>
                <a:spcPts val="3840"/>
              </a:lnSpc>
              <a:spcBef>
                <a:spcPts val="24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had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control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capable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performing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control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functions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like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fetching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instruction </a:t>
            </a:r>
            <a:r>
              <a:rPr sz="1600" dirty="0">
                <a:latin typeface="Cambria"/>
                <a:cs typeface="Cambria"/>
              </a:rPr>
              <a:t>from storage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memory,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decoding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it,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then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generating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control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pulses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 </a:t>
            </a:r>
            <a:r>
              <a:rPr sz="1600" spc="-10" dirty="0">
                <a:latin typeface="Cambria"/>
                <a:cs typeface="Cambria"/>
              </a:rPr>
              <a:t>execute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it.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116159"/>
            <a:ext cx="8630285" cy="414337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latin typeface="Cambria"/>
                <a:cs typeface="Cambria"/>
              </a:rPr>
              <a:t>Second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Generation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(8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bit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Microprocessor)</a:t>
            </a:r>
            <a:endParaRPr sz="18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5687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second</a:t>
            </a:r>
            <a:r>
              <a:rPr sz="18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generation</a:t>
            </a:r>
            <a:r>
              <a:rPr sz="1800" spc="-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/>
                <a:cs typeface="Cambria"/>
              </a:rPr>
              <a:t>microprocessors</a:t>
            </a:r>
            <a:r>
              <a:rPr sz="18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were</a:t>
            </a:r>
            <a:r>
              <a:rPr sz="1800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introduced</a:t>
            </a:r>
            <a:r>
              <a:rPr sz="1800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18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1973</a:t>
            </a:r>
            <a:r>
              <a:rPr sz="18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again</a:t>
            </a:r>
            <a:r>
              <a:rPr sz="1800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sz="18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/>
                <a:cs typeface="Cambria"/>
              </a:rPr>
              <a:t>Intel.</a:t>
            </a:r>
            <a:endParaRPr sz="18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356870" algn="l"/>
              </a:tabLst>
            </a:pPr>
            <a:r>
              <a:rPr sz="1800" dirty="0">
                <a:latin typeface="Cambria"/>
                <a:cs typeface="Cambria"/>
              </a:rPr>
              <a:t>It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was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44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first</a:t>
            </a:r>
            <a:r>
              <a:rPr sz="1800" spc="4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8</a:t>
            </a:r>
            <a:r>
              <a:rPr sz="1800" spc="4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1800" spc="4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bit</a:t>
            </a:r>
            <a:r>
              <a:rPr sz="1800" spc="4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microprocessor</a:t>
            </a:r>
            <a:r>
              <a:rPr sz="1800" spc="4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could</a:t>
            </a:r>
            <a:r>
              <a:rPr sz="1800" spc="4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perform</a:t>
            </a:r>
            <a:r>
              <a:rPr sz="1800" spc="4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arithmetic</a:t>
            </a:r>
            <a:r>
              <a:rPr sz="1800" spc="4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logic</a:t>
            </a:r>
            <a:endParaRPr sz="180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mbria"/>
                <a:cs typeface="Cambria"/>
              </a:rPr>
              <a:t>operations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8-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words.</a:t>
            </a:r>
            <a:endParaRPr sz="18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56870" algn="l"/>
              </a:tabLst>
            </a:pP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It</a:t>
            </a:r>
            <a:r>
              <a:rPr sz="1800" spc="-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was</a:t>
            </a:r>
            <a:r>
              <a:rPr sz="18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Intel</a:t>
            </a:r>
            <a:r>
              <a:rPr sz="1800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8008,</a:t>
            </a:r>
            <a:r>
              <a:rPr sz="180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and</a:t>
            </a:r>
            <a:r>
              <a:rPr sz="1800" spc="-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another</a:t>
            </a:r>
            <a:r>
              <a:rPr sz="18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"/>
                <a:cs typeface="Cambria"/>
              </a:rPr>
              <a:t>improved</a:t>
            </a:r>
            <a:r>
              <a:rPr sz="180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version</a:t>
            </a:r>
            <a:r>
              <a:rPr sz="180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was</a:t>
            </a:r>
            <a:r>
              <a:rPr sz="18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Intel</a:t>
            </a:r>
            <a:r>
              <a:rPr sz="1800" spc="-10" dirty="0">
                <a:solidFill>
                  <a:srgbClr val="006FC0"/>
                </a:solidFill>
                <a:latin typeface="Cambria"/>
                <a:cs typeface="Cambria"/>
              </a:rPr>
              <a:t> 8088</a:t>
            </a:r>
            <a:r>
              <a:rPr sz="1800" spc="-1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sz="1800" b="1" dirty="0">
                <a:latin typeface="Cambria"/>
                <a:cs typeface="Cambria"/>
              </a:rPr>
              <a:t>Third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Generation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(16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bit</a:t>
            </a:r>
            <a:r>
              <a:rPr sz="1800" b="1" spc="-10" dirty="0">
                <a:latin typeface="Cambria"/>
                <a:cs typeface="Cambria"/>
              </a:rPr>
              <a:t> Microprocessor)</a:t>
            </a:r>
            <a:endParaRPr sz="1800">
              <a:latin typeface="Cambria"/>
              <a:cs typeface="Cambria"/>
            </a:endParaRPr>
          </a:p>
          <a:p>
            <a:pPr marL="356870" marR="6350" indent="-344805" algn="just">
              <a:lnSpc>
                <a:spcPct val="150100"/>
              </a:lnSpc>
              <a:buFont typeface="Wingdings"/>
              <a:buChar char=""/>
              <a:tabLst>
                <a:tab pos="35687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third</a:t>
            </a:r>
            <a:r>
              <a:rPr sz="1800" spc="40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generation</a:t>
            </a:r>
            <a:r>
              <a:rPr sz="1800" spc="40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microprocessors,</a:t>
            </a:r>
            <a:r>
              <a:rPr sz="1800" spc="3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introduced</a:t>
            </a:r>
            <a:r>
              <a:rPr sz="1800" spc="4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1800" spc="3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1978</a:t>
            </a:r>
            <a:r>
              <a:rPr sz="1800" spc="3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were</a:t>
            </a:r>
            <a:r>
              <a:rPr sz="1800" spc="40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represented</a:t>
            </a:r>
            <a:r>
              <a:rPr sz="1800" spc="4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Cambria"/>
                <a:cs typeface="Cambria"/>
              </a:rPr>
              <a:t>by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Intel's</a:t>
            </a:r>
            <a:r>
              <a:rPr sz="1800" spc="125" dirty="0">
                <a:solidFill>
                  <a:srgbClr val="006FC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8086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Zilog</a:t>
            </a:r>
            <a:r>
              <a:rPr sz="1800" spc="12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Z800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80286,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were</a:t>
            </a:r>
            <a:r>
              <a:rPr sz="1800" spc="114" dirty="0"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16</a:t>
            </a:r>
            <a:r>
              <a:rPr sz="1800" spc="130" dirty="0">
                <a:solidFill>
                  <a:srgbClr val="006FC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-</a:t>
            </a:r>
            <a:r>
              <a:rPr sz="1800" spc="125" dirty="0">
                <a:solidFill>
                  <a:srgbClr val="006FC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bit</a:t>
            </a:r>
            <a:r>
              <a:rPr sz="1800" spc="120" dirty="0">
                <a:solidFill>
                  <a:srgbClr val="006FC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006FC0"/>
                </a:solidFill>
                <a:latin typeface="Cambria"/>
                <a:cs typeface="Cambria"/>
              </a:rPr>
              <a:t>processors</a:t>
            </a:r>
            <a:r>
              <a:rPr sz="1800" spc="125" dirty="0">
                <a:solidFill>
                  <a:srgbClr val="006FC0"/>
                </a:solidFill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120" dirty="0">
                <a:latin typeface="Cambria"/>
                <a:cs typeface="Cambria"/>
              </a:rPr>
              <a:t>  </a:t>
            </a:r>
            <a:r>
              <a:rPr sz="1800" spc="-50" dirty="0">
                <a:latin typeface="Cambria"/>
                <a:cs typeface="Cambria"/>
              </a:rPr>
              <a:t>a </a:t>
            </a:r>
            <a:r>
              <a:rPr sz="1800" dirty="0">
                <a:latin typeface="Cambria"/>
                <a:cs typeface="Cambria"/>
              </a:rPr>
              <a:t>performance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like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minicomputers.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552145"/>
            <a:ext cx="8705850" cy="36868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latin typeface="Cambria"/>
                <a:cs typeface="Cambria"/>
              </a:rPr>
              <a:t>Fourth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Generation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(32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-</a:t>
            </a:r>
            <a:r>
              <a:rPr sz="1600" b="1" spc="-1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-10" dirty="0">
                <a:latin typeface="Cambria"/>
                <a:cs typeface="Cambria"/>
              </a:rPr>
              <a:t> Microprocessors)</a:t>
            </a:r>
            <a:endParaRPr sz="1600">
              <a:latin typeface="Cambria"/>
              <a:cs typeface="Cambria"/>
            </a:endParaRPr>
          </a:p>
          <a:p>
            <a:pPr marL="299085" marR="5080" indent="-287020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Several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different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companies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introduced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32-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bit</a:t>
            </a:r>
            <a:r>
              <a:rPr sz="1600" spc="-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microprocessors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16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around</a:t>
            </a:r>
            <a:r>
              <a:rPr sz="1600" spc="-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1980,</a:t>
            </a:r>
            <a:r>
              <a:rPr sz="1600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but</a:t>
            </a:r>
            <a:r>
              <a:rPr sz="1600" spc="-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the</a:t>
            </a:r>
            <a:r>
              <a:rPr sz="1600" spc="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ambria"/>
                <a:cs typeface="Cambria"/>
              </a:rPr>
              <a:t>most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popular</a:t>
            </a:r>
            <a:r>
              <a:rPr sz="1600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one</a:t>
            </a:r>
            <a:r>
              <a:rPr sz="16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1600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the</a:t>
            </a:r>
            <a:r>
              <a:rPr sz="16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Intel</a:t>
            </a:r>
            <a:r>
              <a:rPr sz="1600" b="1" spc="-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80386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Fifth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Generation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(64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-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Microprocessors)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From</a:t>
            </a:r>
            <a:r>
              <a:rPr sz="16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1995</a:t>
            </a:r>
            <a:r>
              <a:rPr sz="16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to</a:t>
            </a:r>
            <a:r>
              <a:rPr sz="1600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now</a:t>
            </a:r>
            <a:r>
              <a:rPr sz="1600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we</a:t>
            </a:r>
            <a:r>
              <a:rPr sz="16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are</a:t>
            </a:r>
            <a:r>
              <a:rPr sz="16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1600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the</a:t>
            </a:r>
            <a:r>
              <a:rPr sz="16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fifth</a:t>
            </a:r>
            <a:r>
              <a:rPr sz="1600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generation</a:t>
            </a:r>
            <a:r>
              <a:rPr sz="1600" spc="-10" dirty="0"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  <a:p>
            <a:pPr marL="299085" marR="5080" indent="-287020">
              <a:lnSpc>
                <a:spcPct val="2001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  <a:tab pos="344805" algn="l"/>
              </a:tabLst>
            </a:pP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dirty="0">
                <a:latin typeface="Cambria"/>
                <a:cs typeface="Cambria"/>
              </a:rPr>
              <a:t>After</a:t>
            </a:r>
            <a:r>
              <a:rPr sz="1600" spc="11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80856,</a:t>
            </a:r>
            <a:r>
              <a:rPr sz="1600" spc="11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Intel</a:t>
            </a:r>
            <a:r>
              <a:rPr sz="1600" spc="9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came</a:t>
            </a:r>
            <a:r>
              <a:rPr sz="1600" spc="10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out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new</a:t>
            </a:r>
            <a:r>
              <a:rPr sz="1600" spc="11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namely</a:t>
            </a:r>
            <a:r>
              <a:rPr sz="1600" spc="11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Pentium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spc="-10" dirty="0">
                <a:latin typeface="Cambria"/>
                <a:cs typeface="Cambria"/>
              </a:rPr>
              <a:t>followed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Pentium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Pro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CPU</a:t>
            </a:r>
            <a:r>
              <a:rPr sz="1600" dirty="0">
                <a:latin typeface="Cambria"/>
                <a:cs typeface="Cambria"/>
              </a:rPr>
              <a:t>,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allows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multiple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CPUs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single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achieve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multiprocessing.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Other</a:t>
            </a:r>
            <a:r>
              <a:rPr sz="1600" spc="-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improved</a:t>
            </a:r>
            <a:r>
              <a:rPr sz="1600" spc="-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"/>
                <a:cs typeface="Cambria"/>
              </a:rPr>
              <a:t>64-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bit</a:t>
            </a:r>
            <a:r>
              <a:rPr sz="1600" spc="-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processors</a:t>
            </a:r>
            <a:r>
              <a:rPr sz="1600" spc="-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"/>
                <a:cs typeface="Cambria"/>
              </a:rPr>
              <a:t>are</a:t>
            </a:r>
            <a:r>
              <a:rPr sz="160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Celeron,</a:t>
            </a:r>
            <a:r>
              <a:rPr sz="1600" b="1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Dual,</a:t>
            </a:r>
            <a:r>
              <a:rPr sz="1600" b="1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Quad,</a:t>
            </a:r>
            <a:r>
              <a:rPr sz="1600" b="1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Octa</a:t>
            </a:r>
            <a:r>
              <a:rPr sz="1600" b="1" spc="-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Cambria"/>
                <a:cs typeface="Cambria"/>
              </a:rPr>
              <a:t>Core</a:t>
            </a:r>
            <a:r>
              <a:rPr sz="1600" b="1" spc="-10" dirty="0">
                <a:solidFill>
                  <a:srgbClr val="006FC0"/>
                </a:solidFill>
                <a:latin typeface="Cambria"/>
                <a:cs typeface="Cambria"/>
              </a:rPr>
              <a:t> processors</a:t>
            </a:r>
            <a:r>
              <a:rPr sz="1600" spc="-10" dirty="0"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303657"/>
            <a:ext cx="6899275" cy="414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Functions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Microprocessor: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800" spc="-10" dirty="0">
                <a:latin typeface="Cambria"/>
                <a:cs typeface="Cambria"/>
              </a:rPr>
              <a:t>1.Controlling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parts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machine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sending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timing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signals. 2.Transferring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between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I/O </a:t>
            </a:r>
            <a:r>
              <a:rPr sz="1800" spc="-10" dirty="0">
                <a:latin typeface="Cambria"/>
                <a:cs typeface="Cambria"/>
              </a:rPr>
              <a:t>devices.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86055" indent="-175895">
              <a:lnSpc>
                <a:spcPct val="100000"/>
              </a:lnSpc>
              <a:buSzPct val="94444"/>
              <a:buAutoNum type="arabicPeriod" startAt="3"/>
              <a:tabLst>
                <a:tab pos="186055" algn="l"/>
              </a:tabLst>
            </a:pPr>
            <a:r>
              <a:rPr sz="1800" spc="-10" dirty="0">
                <a:latin typeface="Cambria"/>
                <a:cs typeface="Cambria"/>
              </a:rPr>
              <a:t>Fetching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memory.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 startAt="3"/>
            </a:pPr>
            <a:endParaRPr sz="1800">
              <a:latin typeface="Cambria"/>
              <a:cs typeface="Cambria"/>
            </a:endParaRPr>
          </a:p>
          <a:p>
            <a:pPr marL="186055" indent="-175895">
              <a:lnSpc>
                <a:spcPct val="100000"/>
              </a:lnSpc>
              <a:buSzPct val="94444"/>
              <a:buAutoNum type="arabicPeriod" startAt="3"/>
              <a:tabLst>
                <a:tab pos="186055" algn="l"/>
              </a:tabLst>
            </a:pPr>
            <a:r>
              <a:rPr sz="1800" dirty="0">
                <a:latin typeface="Cambria"/>
                <a:cs typeface="Cambria"/>
              </a:rPr>
              <a:t>Decoding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instruction.</a:t>
            </a:r>
            <a:endParaRPr sz="1800">
              <a:latin typeface="Cambria"/>
              <a:cs typeface="Cambria"/>
            </a:endParaRPr>
          </a:p>
          <a:p>
            <a:pPr marL="12700" marR="2102485" indent="-2540">
              <a:lnSpc>
                <a:spcPct val="200100"/>
              </a:lnSpc>
              <a:buSzPct val="94444"/>
              <a:buAutoNum type="arabicPeriod" startAt="3"/>
              <a:tabLst>
                <a:tab pos="186055" algn="l"/>
              </a:tabLst>
            </a:pPr>
            <a:r>
              <a:rPr sz="1800" spc="-10" dirty="0">
                <a:latin typeface="Cambria"/>
                <a:cs typeface="Cambria"/>
              </a:rPr>
              <a:t>	Performing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arithmetical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logical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operations. 6.Executing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stored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memory.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mbria"/>
                <a:cs typeface="Cambria"/>
              </a:rPr>
              <a:t>7.Performing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communication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among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 I/O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etc.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334" y="114680"/>
            <a:ext cx="25768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20" dirty="0">
                <a:solidFill>
                  <a:srgbClr val="FF0000"/>
                </a:solidFill>
                <a:latin typeface="Cambria"/>
                <a:cs typeface="Cambria"/>
              </a:rPr>
              <a:t>Features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Microprocessor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404240"/>
            <a:ext cx="8774430" cy="3312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Low</a:t>
            </a:r>
            <a:r>
              <a:rPr sz="1400" b="1" spc="5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Cost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Due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integrated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circuit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technology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microprocessors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available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low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cost.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will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reduce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cost</a:t>
            </a:r>
            <a:r>
              <a:rPr sz="1400" spc="-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computer</a:t>
            </a:r>
            <a:r>
              <a:rPr sz="1400" spc="-10" dirty="0">
                <a:latin typeface="Cambria"/>
                <a:cs typeface="Cambria"/>
              </a:rPr>
              <a:t> system.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High</a:t>
            </a:r>
            <a:r>
              <a:rPr sz="1400" b="1" spc="16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Speed</a:t>
            </a:r>
            <a:r>
              <a:rPr sz="1400" b="1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Due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1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technology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involved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it,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1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microprocessor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can</a:t>
            </a:r>
            <a:r>
              <a:rPr sz="1400" spc="1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work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at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high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speed.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It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can</a:t>
            </a:r>
            <a:endParaRPr sz="140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</a:pPr>
            <a:r>
              <a:rPr sz="1400" spc="-10" dirty="0">
                <a:latin typeface="Cambria"/>
                <a:cs typeface="Cambria"/>
              </a:rPr>
              <a:t>execute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millions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instructions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per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second.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Small</a:t>
            </a:r>
            <a:r>
              <a:rPr sz="1400" b="1" spc="1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Size</a:t>
            </a:r>
            <a:r>
              <a:rPr sz="1400" b="1" spc="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microprocessor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is</a:t>
            </a:r>
            <a:r>
              <a:rPr sz="1400" spc="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fabricated</a:t>
            </a:r>
            <a:r>
              <a:rPr sz="1400" spc="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 a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less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footprint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due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large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scale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and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ultra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large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scale</a:t>
            </a:r>
            <a:endParaRPr sz="140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</a:pPr>
            <a:r>
              <a:rPr sz="1400" spc="-10" dirty="0">
                <a:latin typeface="Cambria"/>
                <a:cs typeface="Cambria"/>
              </a:rPr>
              <a:t>integration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technology.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Because</a:t>
            </a:r>
            <a:r>
              <a:rPr sz="1400" spc="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this,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size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computer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system </a:t>
            </a:r>
            <a:r>
              <a:rPr sz="1400" dirty="0">
                <a:latin typeface="Cambria"/>
                <a:cs typeface="Cambria"/>
              </a:rPr>
              <a:t>is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reduced.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spc="-10" dirty="0">
                <a:latin typeface="Cambria"/>
                <a:cs typeface="Cambria"/>
              </a:rPr>
              <a:t>Versatile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same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chip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can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used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several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applications,</a:t>
            </a:r>
            <a:r>
              <a:rPr sz="140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therefore,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microprocessors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versatile.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Low</a:t>
            </a:r>
            <a:r>
              <a:rPr sz="1400" b="1" spc="47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Power</a:t>
            </a:r>
            <a:r>
              <a:rPr sz="1400" b="1" spc="49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Consumption</a:t>
            </a:r>
            <a:r>
              <a:rPr sz="1400" b="1" spc="4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4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Microprocessors</a:t>
            </a:r>
            <a:r>
              <a:rPr sz="1400" spc="49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4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using</a:t>
            </a:r>
            <a:r>
              <a:rPr sz="1400" spc="4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metal</a:t>
            </a:r>
            <a:r>
              <a:rPr sz="1400" spc="49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oxide</a:t>
            </a:r>
            <a:r>
              <a:rPr sz="1400" spc="4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semiconductor</a:t>
            </a:r>
            <a:r>
              <a:rPr sz="1400" spc="49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technology,</a:t>
            </a:r>
            <a:r>
              <a:rPr sz="1400" spc="49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which</a:t>
            </a:r>
            <a:endParaRPr sz="140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mbria"/>
                <a:cs typeface="Cambria"/>
              </a:rPr>
              <a:t>consumes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less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power.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Less</a:t>
            </a:r>
            <a:r>
              <a:rPr sz="1400" b="1" spc="14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Heat</a:t>
            </a:r>
            <a:r>
              <a:rPr sz="1400" b="1" spc="12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Generation</a:t>
            </a:r>
            <a:r>
              <a:rPr sz="1400" b="1" spc="1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Microprocessors</a:t>
            </a:r>
            <a:r>
              <a:rPr sz="1400" spc="1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uses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semiconductor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technology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which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will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not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emit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much</a:t>
            </a:r>
            <a:r>
              <a:rPr sz="1400" spc="1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heat</a:t>
            </a:r>
            <a:r>
              <a:rPr sz="1400" spc="16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as</a:t>
            </a:r>
            <a:endParaRPr sz="140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</a:pPr>
            <a:r>
              <a:rPr sz="1400" dirty="0">
                <a:latin typeface="Cambria"/>
                <a:cs typeface="Cambria"/>
              </a:rPr>
              <a:t>compared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-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vacuum</a:t>
            </a:r>
            <a:r>
              <a:rPr sz="1400" spc="-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tube</a:t>
            </a:r>
            <a:r>
              <a:rPr sz="1400" spc="-6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devices.</a:t>
            </a:r>
            <a:endParaRPr sz="1400" dirty="0">
              <a:latin typeface="Cambria"/>
              <a:cs typeface="Cambria"/>
            </a:endParaRPr>
          </a:p>
          <a:p>
            <a:pPr marL="356870" marR="6985" indent="-34480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Reliable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Since</a:t>
            </a:r>
            <a:r>
              <a:rPr sz="1400" spc="-10" dirty="0">
                <a:latin typeface="Cambria"/>
                <a:cs typeface="Cambria"/>
              </a:rPr>
              <a:t> microprocessors</a:t>
            </a:r>
            <a:r>
              <a:rPr sz="1400" spc="-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semiconductor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technology,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therefore,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failure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rate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is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less.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Hence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it </a:t>
            </a:r>
            <a:r>
              <a:rPr sz="1400" dirty="0">
                <a:latin typeface="Cambria"/>
                <a:cs typeface="Cambria"/>
              </a:rPr>
              <a:t>is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very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reliable.</a:t>
            </a:r>
            <a:endParaRPr sz="14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6870" algn="l"/>
              </a:tabLst>
            </a:pPr>
            <a:r>
              <a:rPr sz="1400" b="1" dirty="0">
                <a:latin typeface="Cambria"/>
                <a:cs typeface="Cambria"/>
              </a:rPr>
              <a:t>Portable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-</a:t>
            </a:r>
            <a:r>
              <a:rPr sz="1400" spc="-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Due to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small</a:t>
            </a:r>
            <a:r>
              <a:rPr sz="1400" spc="-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size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and low</a:t>
            </a:r>
            <a:r>
              <a:rPr sz="1400" spc="-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power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consumption</a:t>
            </a:r>
            <a:r>
              <a:rPr sz="1400" spc="-1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microprocessors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portable.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17A6-602E-7230-B9B0-BDAB819F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4EBD3-BEC0-79D3-FF05-E088DFCDA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32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504" y="165303"/>
            <a:ext cx="793559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5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.REGISTER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ORGANIZATION</a:t>
            </a:r>
            <a:r>
              <a:rPr sz="2400" b="1" spc="-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8086</a:t>
            </a:r>
            <a:r>
              <a:rPr sz="24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MICROPROCESSOR:</a:t>
            </a:r>
            <a:endParaRPr sz="2400" dirty="0">
              <a:latin typeface="Cambria"/>
              <a:cs typeface="Cambria"/>
            </a:endParaRPr>
          </a:p>
          <a:p>
            <a:pPr marL="99060">
              <a:lnSpc>
                <a:spcPts val="3275"/>
              </a:lnSpc>
            </a:pPr>
            <a:r>
              <a:rPr sz="2800" b="1" spc="-10" dirty="0">
                <a:solidFill>
                  <a:srgbClr val="6F2F9F"/>
                </a:solidFill>
                <a:latin typeface="Cambria"/>
                <a:cs typeface="Cambria"/>
              </a:rPr>
              <a:t>Register</a:t>
            </a:r>
            <a:r>
              <a:rPr sz="28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6F2F9F"/>
                </a:solidFill>
                <a:latin typeface="Cambria"/>
                <a:cs typeface="Cambria"/>
              </a:rPr>
              <a:t>Organization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46708"/>
            <a:ext cx="361569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290" indent="-275590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288290" algn="l"/>
              </a:tabLst>
            </a:pP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General</a:t>
            </a:r>
            <a:r>
              <a:rPr sz="2000" spc="-7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purpose</a:t>
            </a:r>
            <a:r>
              <a:rPr sz="2000" spc="-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data</a:t>
            </a:r>
            <a:r>
              <a:rPr sz="2000" spc="-11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mbria"/>
                <a:cs typeface="Cambria"/>
              </a:rPr>
              <a:t>registers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AF50"/>
              </a:buClr>
              <a:buFont typeface="Cambria"/>
              <a:buAutoNum type="alphaLcParenR"/>
            </a:pPr>
            <a:endParaRPr sz="2000">
              <a:latin typeface="Cambria"/>
              <a:cs typeface="Cambria"/>
            </a:endParaRPr>
          </a:p>
          <a:p>
            <a:pPr marL="303530" indent="-290830">
              <a:lnSpc>
                <a:spcPct val="100000"/>
              </a:lnSpc>
              <a:buAutoNum type="alphaLcParenR"/>
              <a:tabLst>
                <a:tab pos="303530" algn="l"/>
              </a:tabLst>
            </a:pP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Segment</a:t>
            </a:r>
            <a:r>
              <a:rPr sz="2000" spc="-8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mbria"/>
                <a:cs typeface="Cambria"/>
              </a:rPr>
              <a:t>Registers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AF50"/>
              </a:buClr>
              <a:buFont typeface="Cambria"/>
              <a:buAutoNum type="alphaLcParenR"/>
            </a:pPr>
            <a:endParaRPr sz="2000">
              <a:latin typeface="Cambria"/>
              <a:cs typeface="Cambria"/>
            </a:endParaRPr>
          </a:p>
          <a:p>
            <a:pPr marL="276225" indent="-263525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276225" algn="l"/>
              </a:tabLst>
            </a:pP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Index</a:t>
            </a:r>
            <a:r>
              <a:rPr sz="2000" spc="-4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and</a:t>
            </a:r>
            <a:r>
              <a:rPr sz="2000" spc="-8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Point</a:t>
            </a:r>
            <a:r>
              <a:rPr sz="2000" spc="-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mbria"/>
                <a:cs typeface="Cambria"/>
              </a:rPr>
              <a:t>Registers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639" y="3102382"/>
            <a:ext cx="1799589" cy="29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5"/>
              </a:lnSpc>
            </a:pP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d)</a:t>
            </a:r>
            <a:r>
              <a:rPr sz="2000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"/>
                <a:cs typeface="Cambria"/>
              </a:rPr>
              <a:t>Flag</a:t>
            </a:r>
            <a:r>
              <a:rPr sz="2000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Cambria"/>
                <a:cs typeface="Cambria"/>
              </a:rPr>
              <a:t>Registers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569" y="2819400"/>
            <a:ext cx="7413140" cy="181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2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3707" y="54101"/>
            <a:ext cx="54838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a)</a:t>
            </a:r>
            <a:r>
              <a:rPr sz="2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General</a:t>
            </a:r>
            <a:r>
              <a:rPr sz="2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purpose</a:t>
            </a:r>
            <a:r>
              <a:rPr sz="28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registers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395022"/>
            <a:ext cx="8994775" cy="46304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15" algn="just">
              <a:lnSpc>
                <a:spcPct val="150100"/>
              </a:lnSpc>
              <a:spcBef>
                <a:spcPts val="90"/>
              </a:spcBef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Accumulator</a:t>
            </a:r>
            <a:r>
              <a:rPr sz="1600" b="1" spc="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1600" b="1" spc="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(AX)</a:t>
            </a:r>
            <a:r>
              <a:rPr sz="1600" b="1" spc="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consists</a:t>
            </a:r>
            <a:r>
              <a:rPr sz="1600" b="1" spc="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of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two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8-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registers</a:t>
            </a:r>
            <a:r>
              <a:rPr sz="1600" b="1" spc="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AL(</a:t>
            </a:r>
            <a:r>
              <a:rPr sz="1600" spc="-10" dirty="0">
                <a:latin typeface="Cambria"/>
                <a:cs typeface="Cambria"/>
              </a:rPr>
              <a:t>Low-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byte)</a:t>
            </a:r>
            <a:r>
              <a:rPr sz="1600" spc="4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AH(</a:t>
            </a:r>
            <a:r>
              <a:rPr sz="1600" spc="-10" dirty="0">
                <a:latin typeface="Cambria"/>
                <a:cs typeface="Cambria"/>
              </a:rPr>
              <a:t>High-order </a:t>
            </a:r>
            <a:r>
              <a:rPr sz="1600" dirty="0">
                <a:latin typeface="Cambria"/>
                <a:cs typeface="Cambria"/>
              </a:rPr>
              <a:t>byte),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can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be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combined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together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used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as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16-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AX.</a:t>
            </a:r>
            <a:r>
              <a:rPr sz="1600" b="1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case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contains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AH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contains,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It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holds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operands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results</a:t>
            </a:r>
            <a:r>
              <a:rPr sz="1600" b="1" spc="-6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during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operation</a:t>
            </a:r>
            <a:endParaRPr sz="1600">
              <a:latin typeface="Cambria"/>
              <a:cs typeface="Cambria"/>
            </a:endParaRPr>
          </a:p>
          <a:p>
            <a:pPr marL="12700" marR="5080" algn="just">
              <a:lnSpc>
                <a:spcPct val="150100"/>
              </a:lnSpc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Base</a:t>
            </a:r>
            <a:r>
              <a:rPr sz="1600" b="1" spc="1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1600" b="1" spc="1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(BX)</a:t>
            </a:r>
            <a:r>
              <a:rPr sz="1600" b="1" spc="14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consists</a:t>
            </a:r>
            <a:r>
              <a:rPr sz="1600" b="1" spc="1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of</a:t>
            </a:r>
            <a:r>
              <a:rPr sz="1600" b="1" spc="18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two</a:t>
            </a:r>
            <a:r>
              <a:rPr sz="1600" b="1" spc="17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8-bit</a:t>
            </a:r>
            <a:r>
              <a:rPr sz="1600" b="1" spc="16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registers</a:t>
            </a:r>
            <a:r>
              <a:rPr sz="1600" b="1" spc="1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BL(</a:t>
            </a:r>
            <a:r>
              <a:rPr sz="1600" spc="-10" dirty="0">
                <a:latin typeface="Cambria"/>
                <a:cs typeface="Cambria"/>
              </a:rPr>
              <a:t>Low-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byte)</a:t>
            </a:r>
            <a:r>
              <a:rPr sz="1600" spc="175" dirty="0">
                <a:latin typeface="Cambria"/>
                <a:cs typeface="Cambria"/>
              </a:rPr>
              <a:t> 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1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BH(</a:t>
            </a:r>
            <a:r>
              <a:rPr sz="1600" spc="-10" dirty="0">
                <a:latin typeface="Cambria"/>
                <a:cs typeface="Cambria"/>
              </a:rPr>
              <a:t>High-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byte),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can</a:t>
            </a:r>
            <a:r>
              <a:rPr sz="1600" b="1" spc="9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be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combined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together</a:t>
            </a:r>
            <a:r>
              <a:rPr sz="1600" b="1" spc="8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used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as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</a:t>
            </a:r>
            <a:r>
              <a:rPr sz="1600" b="1" spc="8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16-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BX</a:t>
            </a:r>
            <a:r>
              <a:rPr sz="1600" b="1" spc="7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.it</a:t>
            </a:r>
            <a:r>
              <a:rPr sz="1600" b="1" spc="9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holds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the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offset</a:t>
            </a:r>
            <a:r>
              <a:rPr sz="1600" b="1" spc="9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address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-25" dirty="0">
                <a:latin typeface="Cambria"/>
                <a:cs typeface="Cambria"/>
              </a:rPr>
              <a:t>in </a:t>
            </a:r>
            <a:r>
              <a:rPr sz="1600" b="1" dirty="0">
                <a:latin typeface="Cambria"/>
                <a:cs typeface="Cambria"/>
              </a:rPr>
              <a:t>indirect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addressing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mode</a:t>
            </a:r>
            <a:endParaRPr sz="1600">
              <a:latin typeface="Cambria"/>
              <a:cs typeface="Cambria"/>
            </a:endParaRPr>
          </a:p>
          <a:p>
            <a:pPr marL="12700" marR="7620" algn="just">
              <a:lnSpc>
                <a:spcPts val="3840"/>
              </a:lnSpc>
              <a:spcBef>
                <a:spcPts val="210"/>
              </a:spcBef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Count</a:t>
            </a:r>
            <a:r>
              <a:rPr sz="1600" b="1" spc="1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1600" b="1" spc="14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(CX)</a:t>
            </a:r>
            <a:r>
              <a:rPr sz="1600" b="1" spc="1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consists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of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two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8-bit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registers</a:t>
            </a:r>
            <a:r>
              <a:rPr sz="1600" b="1" spc="1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CL(</a:t>
            </a:r>
            <a:r>
              <a:rPr sz="1600" spc="-10" dirty="0">
                <a:latin typeface="Cambria"/>
                <a:cs typeface="Cambria"/>
              </a:rPr>
              <a:t>Low-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byte)</a:t>
            </a:r>
            <a:r>
              <a:rPr sz="1600" spc="140" dirty="0">
                <a:latin typeface="Cambria"/>
                <a:cs typeface="Cambria"/>
              </a:rPr>
              <a:t> 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1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CH(</a:t>
            </a:r>
            <a:r>
              <a:rPr sz="1600" spc="-10" dirty="0">
                <a:latin typeface="Cambria"/>
                <a:cs typeface="Cambria"/>
              </a:rPr>
              <a:t>High-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byte),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can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be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combined</a:t>
            </a:r>
            <a:r>
              <a:rPr sz="1600" b="1" spc="-7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together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used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as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 16-bit</a:t>
            </a:r>
            <a:r>
              <a:rPr sz="1600" b="1" spc="-6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register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CX</a:t>
            </a:r>
            <a:r>
              <a:rPr sz="1600" dirty="0">
                <a:latin typeface="Cambria"/>
                <a:cs typeface="Cambria"/>
              </a:rPr>
              <a:t>.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sz="1600" b="1" spc="-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holds</a:t>
            </a:r>
            <a:r>
              <a:rPr sz="16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count</a:t>
            </a:r>
            <a:r>
              <a:rPr sz="16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for</a:t>
            </a:r>
            <a:r>
              <a:rPr sz="16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1F5F"/>
                </a:solidFill>
                <a:latin typeface="Cambria"/>
                <a:cs typeface="Cambria"/>
              </a:rPr>
              <a:t>instruction.</a:t>
            </a:r>
            <a:endParaRPr sz="1600">
              <a:latin typeface="Cambria"/>
              <a:cs typeface="Cambria"/>
            </a:endParaRPr>
          </a:p>
          <a:p>
            <a:pPr marL="12700" marR="7620" algn="just">
              <a:lnSpc>
                <a:spcPts val="3840"/>
              </a:lnSpc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Data</a:t>
            </a:r>
            <a:r>
              <a:rPr sz="1600" b="1" spc="1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register</a:t>
            </a:r>
            <a:r>
              <a:rPr sz="1600" b="1" spc="1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(DX)</a:t>
            </a:r>
            <a:r>
              <a:rPr sz="1600" b="1" spc="14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consists</a:t>
            </a:r>
            <a:r>
              <a:rPr sz="1600" b="1" spc="1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of</a:t>
            </a:r>
            <a:r>
              <a:rPr sz="1600" b="1" spc="1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two</a:t>
            </a:r>
            <a:r>
              <a:rPr sz="1600" b="1" spc="1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8-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1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DL(</a:t>
            </a:r>
            <a:r>
              <a:rPr sz="1600" spc="-10" dirty="0">
                <a:latin typeface="Cambria"/>
                <a:cs typeface="Cambria"/>
              </a:rPr>
              <a:t>Low-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byte)</a:t>
            </a:r>
            <a:r>
              <a:rPr sz="1600" spc="160" dirty="0">
                <a:latin typeface="Cambria"/>
                <a:cs typeface="Cambria"/>
              </a:rPr>
              <a:t> 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1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DH(</a:t>
            </a:r>
            <a:r>
              <a:rPr sz="1600" spc="-10" dirty="0">
                <a:latin typeface="Cambria"/>
                <a:cs typeface="Cambria"/>
              </a:rPr>
              <a:t>High-</a:t>
            </a:r>
            <a:r>
              <a:rPr sz="1600" dirty="0">
                <a:latin typeface="Cambria"/>
                <a:cs typeface="Cambria"/>
              </a:rPr>
              <a:t>order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byte),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can</a:t>
            </a:r>
            <a:r>
              <a:rPr sz="1600" b="1" spc="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be</a:t>
            </a:r>
            <a:r>
              <a:rPr sz="1600" b="1" spc="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combined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together</a:t>
            </a:r>
            <a:r>
              <a:rPr sz="1600" b="1" spc="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used</a:t>
            </a:r>
            <a:r>
              <a:rPr sz="1600" b="1" spc="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as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</a:t>
            </a:r>
            <a:r>
              <a:rPr sz="1600" b="1" spc="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16-</a:t>
            </a:r>
            <a:r>
              <a:rPr sz="1600" b="1" dirty="0">
                <a:latin typeface="Cambria"/>
                <a:cs typeface="Cambria"/>
              </a:rPr>
              <a:t>bit</a:t>
            </a:r>
            <a:r>
              <a:rPr sz="1600" b="1" spc="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register</a:t>
            </a:r>
            <a:r>
              <a:rPr sz="1600" b="1" spc="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DX</a:t>
            </a:r>
            <a:r>
              <a:rPr sz="1600" dirty="0">
                <a:latin typeface="Cambria"/>
                <a:cs typeface="Cambria"/>
              </a:rPr>
              <a:t>.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It</a:t>
            </a:r>
            <a:r>
              <a:rPr sz="1600" b="1" spc="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used</a:t>
            </a:r>
            <a:r>
              <a:rPr sz="1600" b="1" spc="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with</a:t>
            </a:r>
            <a:r>
              <a:rPr sz="1600" b="1" spc="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AX</a:t>
            </a:r>
            <a:r>
              <a:rPr sz="1600" b="1" spc="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</a:t>
            </a:r>
            <a:r>
              <a:rPr sz="1600" b="1" spc="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holds</a:t>
            </a:r>
            <a:r>
              <a:rPr sz="1600" b="1" spc="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32bit </a:t>
            </a:r>
            <a:r>
              <a:rPr sz="1600" b="1" dirty="0">
                <a:latin typeface="Cambria"/>
                <a:cs typeface="Cambria"/>
              </a:rPr>
              <a:t>values</a:t>
            </a:r>
            <a:r>
              <a:rPr sz="1600" b="1" spc="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during</a:t>
            </a:r>
            <a:r>
              <a:rPr sz="1600" b="1" spc="30" dirty="0">
                <a:latin typeface="Cambria"/>
                <a:cs typeface="Cambria"/>
              </a:rPr>
              <a:t> </a:t>
            </a:r>
            <a:r>
              <a:rPr sz="1600" b="1" spc="-30" dirty="0">
                <a:latin typeface="Cambria"/>
                <a:cs typeface="Cambria"/>
              </a:rPr>
              <a:t>MULTIPLICATION</a:t>
            </a:r>
            <a:r>
              <a:rPr sz="1600" b="1" spc="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25" dirty="0">
                <a:latin typeface="Cambria"/>
                <a:cs typeface="Cambria"/>
              </a:rPr>
              <a:t> </a:t>
            </a:r>
            <a:r>
              <a:rPr sz="1600" b="1" spc="-15" dirty="0">
                <a:latin typeface="Cambria"/>
                <a:cs typeface="Cambria"/>
              </a:rPr>
              <a:t>D</a:t>
            </a:r>
            <a:r>
              <a:rPr sz="1600" b="1" spc="-25" dirty="0">
                <a:latin typeface="Cambria"/>
                <a:cs typeface="Cambria"/>
              </a:rPr>
              <a:t>I</a:t>
            </a:r>
            <a:r>
              <a:rPr sz="1600" b="1" spc="-20" dirty="0">
                <a:latin typeface="Cambria"/>
                <a:cs typeface="Cambria"/>
              </a:rPr>
              <a:t>V</a:t>
            </a:r>
            <a:r>
              <a:rPr sz="1600" b="1" spc="-254" dirty="0">
                <a:latin typeface="Cambria"/>
                <a:cs typeface="Cambria"/>
              </a:rPr>
              <a:t>I</a:t>
            </a:r>
            <a:r>
              <a:rPr sz="1800" spc="-120" baseline="462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600" b="1" spc="-750" dirty="0">
                <a:latin typeface="Cambria"/>
                <a:cs typeface="Cambria"/>
              </a:rPr>
              <a:t>S</a:t>
            </a:r>
            <a:r>
              <a:rPr sz="1800" baseline="4629" dirty="0">
                <a:solidFill>
                  <a:srgbClr val="888888"/>
                </a:solidFill>
                <a:latin typeface="Calibri"/>
                <a:cs typeface="Calibri"/>
              </a:rPr>
              <a:t>II</a:t>
            </a:r>
            <a:r>
              <a:rPr sz="1800" spc="-397" baseline="4629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600" b="1" spc="-330" dirty="0">
                <a:latin typeface="Cambria"/>
                <a:cs typeface="Cambria"/>
              </a:rPr>
              <a:t>I</a:t>
            </a:r>
            <a:r>
              <a:rPr sz="1800" spc="-22" baseline="462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457" baseline="462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600" b="1" spc="-819" dirty="0">
                <a:latin typeface="Cambria"/>
                <a:cs typeface="Cambria"/>
              </a:rPr>
              <a:t>O</a:t>
            </a:r>
            <a:r>
              <a:rPr sz="1800" spc="-15" baseline="4629" dirty="0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800" spc="-1245" baseline="4629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600" b="1" spc="-280" dirty="0">
                <a:latin typeface="Cambria"/>
                <a:cs typeface="Cambria"/>
              </a:rPr>
              <a:t>N</a:t>
            </a:r>
            <a:r>
              <a:rPr sz="1800" spc="-15" baseline="4629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800" spc="-982" baseline="4629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600" b="1" spc="-280" dirty="0">
                <a:latin typeface="Cambria"/>
                <a:cs typeface="Cambria"/>
              </a:rPr>
              <a:t>o</a:t>
            </a:r>
            <a:r>
              <a:rPr sz="1800" spc="-577" baseline="4629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600" b="1" spc="-590" dirty="0">
                <a:latin typeface="Cambria"/>
                <a:cs typeface="Cambria"/>
              </a:rPr>
              <a:t>p</a:t>
            </a:r>
            <a:r>
              <a:rPr sz="1800" spc="-52" baseline="4629" dirty="0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600" b="1" spc="-850" dirty="0">
                <a:latin typeface="Cambria"/>
                <a:cs typeface="Cambria"/>
              </a:rPr>
              <a:t>e</a:t>
            </a:r>
            <a:r>
              <a:rPr sz="1800" spc="-15" baseline="4629" dirty="0">
                <a:solidFill>
                  <a:srgbClr val="888888"/>
                </a:solidFill>
                <a:latin typeface="Calibri"/>
                <a:cs typeface="Calibri"/>
              </a:rPr>
              <a:t>U</a:t>
            </a:r>
            <a:r>
              <a:rPr sz="1800" spc="-1080" baseline="4629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600" b="1" spc="-35" dirty="0">
                <a:latin typeface="Cambria"/>
                <a:cs typeface="Cambria"/>
              </a:rPr>
              <a:t>r</a:t>
            </a:r>
            <a:r>
              <a:rPr sz="1600" b="1" spc="-910" dirty="0">
                <a:latin typeface="Cambria"/>
                <a:cs typeface="Cambria"/>
              </a:rPr>
              <a:t>a</a:t>
            </a:r>
            <a:r>
              <a:rPr sz="1800" spc="-7" baseline="462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37" baseline="4629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600" b="1" spc="-600" dirty="0">
                <a:latin typeface="Cambria"/>
                <a:cs typeface="Cambria"/>
              </a:rPr>
              <a:t>t</a:t>
            </a:r>
            <a:r>
              <a:rPr sz="1800" spc="-30" baseline="4629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375" baseline="4629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600" b="1" spc="45" dirty="0">
                <a:latin typeface="Cambria"/>
                <a:cs typeface="Cambria"/>
              </a:rPr>
              <a:t>i</a:t>
            </a:r>
            <a:r>
              <a:rPr sz="1800" spc="-509" baseline="4629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600" b="1" spc="160" dirty="0">
                <a:latin typeface="Cambria"/>
                <a:cs typeface="Cambria"/>
              </a:rPr>
              <a:t>o</a:t>
            </a:r>
            <a:r>
              <a:rPr sz="1600" b="1" spc="140" dirty="0">
                <a:latin typeface="Cambria"/>
                <a:cs typeface="Cambria"/>
              </a:rPr>
              <a:t>n</a:t>
            </a:r>
            <a:r>
              <a:rPr sz="1600" b="1" spc="160" dirty="0"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52406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143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b)</a:t>
            </a:r>
            <a:r>
              <a:rPr sz="28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2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Registers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131" y="1006220"/>
            <a:ext cx="8559800" cy="359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Code</a:t>
            </a:r>
            <a:r>
              <a:rPr sz="1800" b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18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(CS)</a:t>
            </a:r>
            <a:r>
              <a:rPr sz="1800" b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containing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code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segment(64KB)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Cambria"/>
                <a:cs typeface="Cambria"/>
              </a:rPr>
              <a:t>memory, </a:t>
            </a:r>
            <a:r>
              <a:rPr sz="1800" b="1" dirty="0">
                <a:latin typeface="Cambria"/>
                <a:cs typeface="Cambria"/>
              </a:rPr>
              <a:t>where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the</a:t>
            </a:r>
            <a:r>
              <a:rPr sz="1800" b="1" spc="-10" dirty="0">
                <a:latin typeface="Cambria"/>
                <a:cs typeface="Cambria"/>
              </a:rPr>
              <a:t> executable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program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is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stored.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Stack</a:t>
            </a:r>
            <a:r>
              <a:rPr sz="18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18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(SS)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containing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stack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segment(64KB)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 memory.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store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stack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i.e.,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subroutines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or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functions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1800" b="1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(DS)</a:t>
            </a:r>
            <a:r>
              <a:rPr sz="1800" b="1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containing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segment(64KB)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 memory,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where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data is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stored</a:t>
            </a:r>
            <a:r>
              <a:rPr sz="1800" spc="-1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Extra</a:t>
            </a:r>
            <a:r>
              <a:rPr sz="18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18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(ES)</a:t>
            </a:r>
            <a:r>
              <a:rPr sz="1800" b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containing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extra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segment(64KB)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131" y="4848555"/>
            <a:ext cx="3112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"/>
                <a:cs typeface="Cambria"/>
              </a:rPr>
              <a:t>memory,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where</a:t>
            </a:r>
            <a:r>
              <a:rPr sz="1800" b="1" spc="-6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data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is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stored.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473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143" rIns="0" bIns="0" rtlCol="0">
            <a:spAutoFit/>
          </a:bodyPr>
          <a:lstStyle/>
          <a:p>
            <a:pPr marL="37719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c)</a:t>
            </a:r>
            <a:r>
              <a:rPr sz="2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Index</a:t>
            </a:r>
            <a:r>
              <a:rPr sz="28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Point</a:t>
            </a:r>
            <a:r>
              <a:rPr sz="28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Registers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821562"/>
            <a:ext cx="8992235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Instruction</a:t>
            </a:r>
            <a:r>
              <a:rPr sz="1600" b="1" spc="30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Pointer</a:t>
            </a:r>
            <a:r>
              <a:rPr sz="1600" b="1" spc="31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(IP)</a:t>
            </a:r>
            <a:r>
              <a:rPr sz="1600" b="1" spc="31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16-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register.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IP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3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holds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Offset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2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30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next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fetched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Code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segment.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796872"/>
            <a:ext cx="82416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Stack</a:t>
            </a:r>
            <a:r>
              <a:rPr sz="1600" b="1" spc="2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Pointer</a:t>
            </a:r>
            <a:r>
              <a:rPr sz="1600" b="1" spc="2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(SP)</a:t>
            </a:r>
            <a:r>
              <a:rPr sz="1600" b="1" spc="2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16-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register.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holds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Offset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TOP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of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4643" y="1796872"/>
            <a:ext cx="61658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45" dirty="0">
                <a:latin typeface="Cambria"/>
                <a:cs typeface="Cambria"/>
              </a:rPr>
              <a:t>STACK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2284933"/>
            <a:ext cx="8996045" cy="22231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latin typeface="Cambria"/>
                <a:cs typeface="Cambria"/>
              </a:rPr>
              <a:t>SEGMENT.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Base</a:t>
            </a:r>
            <a:r>
              <a:rPr sz="1600" b="1" spc="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Pointer</a:t>
            </a:r>
            <a:r>
              <a:rPr sz="1600" b="1" spc="3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(BP)</a:t>
            </a:r>
            <a:r>
              <a:rPr sz="1600" b="1" spc="1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16-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register.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BP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holds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Offset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any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random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location </a:t>
            </a:r>
            <a:r>
              <a:rPr sz="1600" dirty="0">
                <a:latin typeface="Cambria"/>
                <a:cs typeface="Cambria"/>
              </a:rPr>
              <a:t>OF </a:t>
            </a:r>
            <a:r>
              <a:rPr sz="1600" b="1" spc="-50" dirty="0">
                <a:latin typeface="Cambria"/>
                <a:cs typeface="Cambria"/>
              </a:rPr>
              <a:t>STACK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SEGMENT.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Source</a:t>
            </a:r>
            <a:r>
              <a:rPr sz="1600" b="1" spc="-2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Index</a:t>
            </a:r>
            <a:r>
              <a:rPr sz="1600" b="1" spc="-3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(SI)</a:t>
            </a:r>
            <a:r>
              <a:rPr sz="1600" b="1" spc="-1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 </a:t>
            </a:r>
            <a:r>
              <a:rPr sz="1600" spc="-10" dirty="0">
                <a:latin typeface="Cambria"/>
                <a:cs typeface="Cambria"/>
              </a:rPr>
              <a:t>16-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register.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holds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Offset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b="1" spc="-85" dirty="0">
                <a:latin typeface="Cambria"/>
                <a:cs typeface="Cambria"/>
              </a:rPr>
              <a:t>DATA </a:t>
            </a:r>
            <a:r>
              <a:rPr sz="1600" b="1" spc="-10" dirty="0">
                <a:latin typeface="Cambria"/>
                <a:cs typeface="Cambria"/>
              </a:rPr>
              <a:t>SEGMENT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Destination</a:t>
            </a:r>
            <a:r>
              <a:rPr sz="1600" b="1" spc="4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Index</a:t>
            </a:r>
            <a:r>
              <a:rPr sz="1600" b="1" spc="4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mbria"/>
                <a:cs typeface="Cambria"/>
              </a:rPr>
              <a:t>(DI)</a:t>
            </a:r>
            <a:r>
              <a:rPr sz="1600" b="1" spc="409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4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4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16-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register.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</a:t>
            </a:r>
            <a:r>
              <a:rPr sz="1600" spc="4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4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holds</a:t>
            </a:r>
            <a:r>
              <a:rPr sz="1600" spc="4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Offset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4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EXTRA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4725111"/>
            <a:ext cx="9391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Cambria"/>
                <a:cs typeface="Cambria"/>
              </a:rPr>
              <a:t>SEGMENT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8278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472" y="2033016"/>
            <a:ext cx="7833359" cy="25359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6921" y="380"/>
            <a:ext cx="312420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solidFill>
                  <a:srgbClr val="FF0000"/>
                </a:solidFill>
                <a:latin typeface="Cambria"/>
                <a:cs typeface="Cambria"/>
              </a:rPr>
              <a:t>d)</a:t>
            </a:r>
            <a:r>
              <a:rPr sz="32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mbria"/>
                <a:cs typeface="Cambria"/>
              </a:rPr>
              <a:t>Flag</a:t>
            </a:r>
            <a:r>
              <a:rPr sz="32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mbria"/>
                <a:cs typeface="Cambria"/>
              </a:rPr>
              <a:t>Registers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370" y="724661"/>
            <a:ext cx="815720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3"/>
              </a:rPr>
              <a:t>8086</a:t>
            </a:r>
            <a:r>
              <a:rPr sz="1800" b="1" spc="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has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flag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register,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there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9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 flag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i.e.,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6-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status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flags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3-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flags.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format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flag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register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like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below.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1106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822" y="390157"/>
            <a:ext cx="5789289" cy="14331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5160" y="2225378"/>
            <a:ext cx="6216423" cy="1645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8444" y="4099661"/>
            <a:ext cx="8487410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ambria"/>
                <a:cs typeface="Cambria"/>
              </a:rPr>
              <a:t>If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PF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1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;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it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means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it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is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even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parity in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the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result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there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are </a:t>
            </a:r>
            <a:r>
              <a:rPr sz="2000" b="1" spc="-10" dirty="0">
                <a:latin typeface="Cambria"/>
                <a:cs typeface="Cambria"/>
              </a:rPr>
              <a:t>even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numbers</a:t>
            </a:r>
            <a:endParaRPr sz="20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</a:pPr>
            <a:r>
              <a:rPr sz="2000" b="1" dirty="0">
                <a:latin typeface="Cambria"/>
                <a:cs typeface="Cambria"/>
              </a:rPr>
              <a:t>of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1’s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).</a:t>
            </a:r>
            <a:endParaRPr sz="20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mbria"/>
                <a:cs typeface="Cambria"/>
              </a:rPr>
              <a:t>If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PF</a:t>
            </a:r>
            <a:r>
              <a:rPr sz="2000" b="1" spc="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0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; it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means</a:t>
            </a:r>
            <a:r>
              <a:rPr sz="2000" b="1" spc="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it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is</a:t>
            </a:r>
            <a:r>
              <a:rPr sz="2000" b="1" spc="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odd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</a:t>
            </a:r>
            <a:r>
              <a:rPr sz="2000" b="1" spc="-30" dirty="0">
                <a:latin typeface="Cambria"/>
                <a:cs typeface="Cambria"/>
              </a:rPr>
              <a:t>a</a:t>
            </a:r>
            <a:r>
              <a:rPr sz="2000" b="1" spc="-335" dirty="0">
                <a:latin typeface="Cambria"/>
                <a:cs typeface="Cambria"/>
              </a:rPr>
              <a:t>r</a:t>
            </a:r>
            <a:r>
              <a:rPr sz="1800" spc="-7" baseline="6944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2000" b="1" spc="-635" dirty="0">
                <a:latin typeface="Cambria"/>
                <a:cs typeface="Cambria"/>
              </a:rPr>
              <a:t>i</a:t>
            </a:r>
            <a:r>
              <a:rPr sz="1800" spc="-7" baseline="6944" dirty="0">
                <a:solidFill>
                  <a:srgbClr val="888888"/>
                </a:solidFill>
                <a:latin typeface="Calibri"/>
                <a:cs typeface="Calibri"/>
              </a:rPr>
              <a:t>II</a:t>
            </a:r>
            <a:r>
              <a:rPr sz="1800" spc="-569" baseline="6944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2000" b="1" spc="-380" dirty="0">
                <a:latin typeface="Cambria"/>
                <a:cs typeface="Cambria"/>
              </a:rPr>
              <a:t>t</a:t>
            </a:r>
            <a:r>
              <a:rPr sz="1800" spc="-7" baseline="6944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397" baseline="6944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2000" b="1" spc="-819" dirty="0">
                <a:latin typeface="Cambria"/>
                <a:cs typeface="Cambria"/>
              </a:rPr>
              <a:t>y</a:t>
            </a:r>
            <a:r>
              <a:rPr sz="1800" spc="-15" baseline="6944" dirty="0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2000" b="1" spc="-475" dirty="0">
                <a:latin typeface="Cambria"/>
                <a:cs typeface="Cambria"/>
              </a:rPr>
              <a:t>.</a:t>
            </a:r>
            <a:r>
              <a:rPr sz="1800" spc="-22" baseline="6944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800" spc="-15" baseline="6944" dirty="0">
                <a:solidFill>
                  <a:srgbClr val="888888"/>
                </a:solidFill>
                <a:latin typeface="Calibri"/>
                <a:cs typeface="Calibri"/>
              </a:rPr>
              <a:t>PM</a:t>
            </a:r>
            <a:r>
              <a:rPr sz="1800" spc="-7" baseline="6944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800" spc="-15" baseline="6944" dirty="0">
                <a:solidFill>
                  <a:srgbClr val="888888"/>
                </a:solidFill>
                <a:latin typeface="Calibri"/>
                <a:cs typeface="Calibri"/>
              </a:rPr>
              <a:t>_U</a:t>
            </a:r>
            <a:r>
              <a:rPr sz="1800" spc="-44" baseline="6944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800" spc="-7" baseline="6944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15" baseline="6944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30" baseline="6944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37" baseline="6944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800" baseline="6944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744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CF:CARRY</a:t>
            </a:r>
            <a:r>
              <a:rPr sz="2400" b="1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FLAG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200" y="1866391"/>
            <a:ext cx="2011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PF:PARITY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FLAG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89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5691" y="505967"/>
            <a:ext cx="6225540" cy="1539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4370" y="2141042"/>
            <a:ext cx="5507990" cy="253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If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AF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;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there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is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carry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out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from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lower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nibble.</a:t>
            </a:r>
            <a:endParaRPr sz="1800">
              <a:latin typeface="Cambria"/>
              <a:cs typeface="Cambria"/>
            </a:endParaRPr>
          </a:p>
          <a:p>
            <a:pPr marL="22669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mbria"/>
                <a:cs typeface="Cambria"/>
              </a:rPr>
              <a:t>If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AF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0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;no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carry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out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lower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nibble.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Cambria"/>
              <a:cs typeface="Cambria"/>
            </a:endParaRPr>
          </a:p>
          <a:p>
            <a:pPr marL="299085" indent="-292100">
              <a:lnSpc>
                <a:spcPct val="100000"/>
              </a:lnSpc>
              <a:buSzPct val="96428"/>
              <a:buFont typeface="Wingdings"/>
              <a:buChar char=""/>
              <a:tabLst>
                <a:tab pos="299085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ZF:ZERO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FLAG</a:t>
            </a:r>
            <a:endParaRPr sz="2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1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zero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flag.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Whenever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output 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 flag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 </a:t>
            </a:r>
            <a:r>
              <a:rPr sz="1800" b="1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Calibri"/>
                <a:cs typeface="Calibri"/>
              </a:rPr>
              <a:t>If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ZF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 1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;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zero.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Calibri"/>
                <a:cs typeface="Calibri"/>
              </a:rPr>
              <a:t>If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ZF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;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non </a:t>
            </a:r>
            <a:r>
              <a:rPr sz="1800" b="1" spc="-20" dirty="0">
                <a:latin typeface="Calibri"/>
                <a:cs typeface="Calibri"/>
              </a:rPr>
              <a:t>zero.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842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AF:AUXILARY</a:t>
            </a:r>
            <a:r>
              <a:rPr sz="2800" b="1" spc="-1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FLAG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958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504" y="108585"/>
            <a:ext cx="28276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SF:SF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stands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mbria"/>
                <a:cs typeface="Cambria"/>
              </a:rPr>
              <a:t>Sign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Flag</a:t>
            </a:r>
            <a:r>
              <a:rPr sz="2000" spc="-2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504" y="630174"/>
            <a:ext cx="7627620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alibri"/>
                <a:cs typeface="Calibri"/>
              </a:rPr>
              <a:t>MSB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 +ve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number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b="1" dirty="0">
                <a:latin typeface="Calibri"/>
                <a:cs typeface="Calibri"/>
              </a:rPr>
              <a:t>MSB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0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-</a:t>
            </a:r>
            <a:r>
              <a:rPr sz="2000" b="1" dirty="0">
                <a:latin typeface="Calibri"/>
                <a:cs typeface="Calibri"/>
              </a:rPr>
              <a:t>ve </a:t>
            </a:r>
            <a:r>
              <a:rPr sz="2000" b="1" spc="-25" dirty="0">
                <a:latin typeface="Calibri"/>
                <a:cs typeface="Calibri"/>
              </a:rPr>
              <a:t>number.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This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reverse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with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original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case.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127" y="1853183"/>
            <a:ext cx="5766816" cy="10432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3001" y="3333038"/>
            <a:ext cx="771017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OF: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400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mbria"/>
                <a:cs typeface="Cambria"/>
              </a:rPr>
              <a:t>overflow</a:t>
            </a:r>
            <a:r>
              <a:rPr sz="2400" b="1" spc="-7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mbria"/>
                <a:cs typeface="Cambria"/>
              </a:rPr>
              <a:t>flag</a:t>
            </a:r>
            <a:r>
              <a:rPr sz="2400" b="1" spc="-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2400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set</a:t>
            </a:r>
            <a:r>
              <a:rPr sz="2400" spc="-5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400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1</a:t>
            </a:r>
            <a:r>
              <a:rPr sz="2400" spc="-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when</a:t>
            </a:r>
            <a:r>
              <a:rPr sz="2400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the</a:t>
            </a:r>
            <a:r>
              <a:rPr sz="2400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result</a:t>
            </a:r>
            <a:r>
              <a:rPr sz="2400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of</a:t>
            </a:r>
            <a:r>
              <a:rPr sz="2400" spc="-5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2400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mbria"/>
                <a:cs typeface="Cambria"/>
              </a:rPr>
              <a:t>signed operation</a:t>
            </a:r>
            <a:r>
              <a:rPr sz="2400" spc="-6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2400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too</a:t>
            </a:r>
            <a:r>
              <a:rPr sz="2400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large</a:t>
            </a:r>
            <a:r>
              <a:rPr sz="2400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2400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01F5F"/>
                </a:solidFill>
                <a:latin typeface="Cambria"/>
                <a:cs typeface="Cambria"/>
              </a:rPr>
              <a:t>fit.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7847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9109075" cy="466725"/>
          </a:xfrm>
          <a:custGeom>
            <a:avLst/>
            <a:gdLst/>
            <a:ahLst/>
            <a:cxnLst/>
            <a:rect l="l" t="t" r="r" b="b"/>
            <a:pathLst>
              <a:path w="9109075" h="466725">
                <a:moveTo>
                  <a:pt x="9108529" y="0"/>
                </a:moveTo>
                <a:lnTo>
                  <a:pt x="1261325" y="0"/>
                </a:lnTo>
                <a:lnTo>
                  <a:pt x="0" y="0"/>
                </a:lnTo>
                <a:lnTo>
                  <a:pt x="0" y="466572"/>
                </a:lnTo>
                <a:lnTo>
                  <a:pt x="1261325" y="466572"/>
                </a:lnTo>
                <a:lnTo>
                  <a:pt x="9108529" y="466572"/>
                </a:lnTo>
                <a:lnTo>
                  <a:pt x="910852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3175"/>
          <a:ext cx="9104630" cy="4982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b="1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Bit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58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5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b="1" spc="-25" dirty="0">
                          <a:latin typeface="Cambria"/>
                          <a:cs typeface="Cambria"/>
                        </a:rPr>
                        <a:t>SF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Sign</a:t>
                      </a:r>
                      <a:r>
                        <a:rPr sz="15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After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any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operation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MSB</a:t>
                      </a:r>
                      <a:r>
                        <a:rPr sz="1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indicates</a:t>
                      </a:r>
                      <a:r>
                        <a:rPr sz="1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negative.</a:t>
                      </a:r>
                      <a:r>
                        <a:rPr sz="1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And</a:t>
                      </a:r>
                      <a:endParaRPr sz="1500">
                        <a:latin typeface="Cambria"/>
                        <a:cs typeface="Cambri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50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set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1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b="1" spc="-25" dirty="0">
                          <a:latin typeface="Cambria"/>
                          <a:cs typeface="Cambria"/>
                        </a:rPr>
                        <a:t>ZF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b="1" dirty="0">
                          <a:latin typeface="Cambria"/>
                          <a:cs typeface="Cambria"/>
                        </a:rPr>
                        <a:t>Zero</a:t>
                      </a:r>
                      <a:r>
                        <a:rPr sz="1500" b="1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Flag-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5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total</a:t>
                      </a:r>
                      <a:r>
                        <a:rPr sz="15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register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zero,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Z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set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b="1" spc="-25" dirty="0">
                          <a:latin typeface="Cambria"/>
                          <a:cs typeface="Cambria"/>
                        </a:rPr>
                        <a:t>AF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487680">
                        <a:lnSpc>
                          <a:spcPct val="149400"/>
                        </a:lnSpc>
                        <a:spcBef>
                          <a:spcPts val="250"/>
                        </a:spcBef>
                      </a:pPr>
                      <a:r>
                        <a:rPr sz="1500" b="1" spc="-10" dirty="0">
                          <a:latin typeface="Cambria"/>
                          <a:cs typeface="Cambria"/>
                        </a:rPr>
                        <a:t>Auxiliary</a:t>
                      </a:r>
                      <a:r>
                        <a:rPr sz="1500" b="1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-When</a:t>
                      </a:r>
                      <a:r>
                        <a:rPr sz="15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some</a:t>
                      </a:r>
                      <a:r>
                        <a:rPr sz="1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arithmetic</a:t>
                      </a:r>
                      <a:r>
                        <a:rPr sz="1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operations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generates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carry</a:t>
                      </a:r>
                      <a:r>
                        <a:rPr sz="15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after</a:t>
                      </a:r>
                      <a:r>
                        <a:rPr sz="1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lower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half</a:t>
                      </a:r>
                      <a:r>
                        <a:rPr sz="1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sends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upper</a:t>
                      </a:r>
                      <a:r>
                        <a:rPr sz="1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half,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AC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1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500" b="1" spc="-25" dirty="0">
                          <a:latin typeface="Cambria"/>
                          <a:cs typeface="Cambria"/>
                        </a:rPr>
                        <a:t>PF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50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even</a:t>
                      </a:r>
                      <a:r>
                        <a:rPr sz="15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parity</a:t>
                      </a:r>
                      <a:r>
                        <a:rPr sz="1500" b="1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.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When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result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has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even</a:t>
                      </a:r>
                      <a:r>
                        <a:rPr sz="1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be set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otherwise</a:t>
                      </a:r>
                      <a:r>
                        <a:rPr sz="1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for</a:t>
                      </a:r>
                      <a:endParaRPr sz="1500">
                        <a:latin typeface="Cambria"/>
                        <a:cs typeface="Cambri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00" dirty="0">
                          <a:latin typeface="Cambria"/>
                          <a:cs typeface="Cambria"/>
                        </a:rPr>
                        <a:t>odd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5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1s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500" b="1" spc="-25" dirty="0">
                          <a:latin typeface="Cambria"/>
                          <a:cs typeface="Cambria"/>
                        </a:rPr>
                        <a:t>CF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5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50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carry</a:t>
                      </a:r>
                      <a:r>
                        <a:rPr sz="1500" b="1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.</a:t>
                      </a:r>
                      <a:r>
                        <a:rPr sz="1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If some</a:t>
                      </a:r>
                      <a:r>
                        <a:rPr sz="1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operations</a:t>
                      </a:r>
                      <a:r>
                        <a:rPr sz="1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generating</a:t>
                      </a:r>
                      <a:r>
                        <a:rPr sz="15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carry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after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latin typeface="Cambria"/>
                          <a:cs typeface="Cambria"/>
                        </a:rPr>
                        <a:t>operation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latin typeface="Cambria"/>
                          <a:cs typeface="Cambria"/>
                        </a:rPr>
                        <a:t>set</a:t>
                      </a:r>
                      <a:r>
                        <a:rPr sz="1500" spc="-25" dirty="0">
                          <a:latin typeface="Cambria"/>
                          <a:cs typeface="Cambria"/>
                        </a:rPr>
                        <a:t> to</a:t>
                      </a:r>
                      <a:endParaRPr sz="1500">
                        <a:latin typeface="Cambria"/>
                        <a:cs typeface="Cambri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1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4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800" b="1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62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234950">
                        <a:lnSpc>
                          <a:spcPts val="3760"/>
                        </a:lnSpc>
                        <a:tabLst>
                          <a:tab pos="2647950" algn="l"/>
                        </a:tabLst>
                      </a:pP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overflow</a:t>
                      </a:r>
                      <a:r>
                        <a:rPr sz="1800" b="1" spc="-5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flag</a:t>
                      </a:r>
                      <a:r>
                        <a:rPr sz="1800" b="1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set</a:t>
                      </a:r>
                      <a:r>
                        <a:rPr sz="18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-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sz="1800" spc="-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when</a:t>
                      </a:r>
                      <a:r>
                        <a:rPr sz="18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 result of</a:t>
                      </a:r>
                      <a:r>
                        <a:rPr sz="18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signed</a:t>
                      </a:r>
                      <a:r>
                        <a:rPr sz="18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operation</a:t>
                      </a:r>
                      <a:r>
                        <a:rPr sz="1800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too </a:t>
                      </a:r>
                      <a:r>
                        <a:rPr sz="18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large </a:t>
                      </a:r>
                      <a:r>
                        <a:rPr sz="2700" baseline="15432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700" spc="-44" baseline="15432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700" spc="-30" baseline="15432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fit.</a:t>
                      </a:r>
                      <a:r>
                        <a:rPr sz="2700" baseline="15432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III-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II_MPMC_UNIT-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01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835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1154" y="81152"/>
          <a:ext cx="8857615" cy="444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8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Flag</a:t>
                      </a:r>
                      <a:r>
                        <a:rPr sz="1800" b="1" spc="-3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Bit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500" b="1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57150" algn="just">
                        <a:lnSpc>
                          <a:spcPct val="150100"/>
                        </a:lnSpc>
                        <a:spcBef>
                          <a:spcPts val="285"/>
                        </a:spcBef>
                      </a:pP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b="1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b="1" spc="-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directional</a:t>
                      </a:r>
                      <a:r>
                        <a:rPr sz="1500" b="1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flag.</a:t>
                      </a:r>
                      <a:r>
                        <a:rPr sz="1500" b="1" spc="-8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used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500" spc="-4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related</a:t>
                      </a:r>
                      <a:r>
                        <a:rPr sz="1500" spc="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operations.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1500" spc="-4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will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be accessed</a:t>
                      </a:r>
                      <a:r>
                        <a:rPr sz="1500" spc="-4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from</a:t>
                      </a:r>
                      <a:r>
                        <a:rPr sz="15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higher</a:t>
                      </a:r>
                      <a:r>
                        <a:rPr sz="1500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memory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500" spc="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lower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memory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address,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if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0,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do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reverse.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500" b="1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341630">
                        <a:lnSpc>
                          <a:spcPct val="149400"/>
                        </a:lnSpc>
                        <a:spcBef>
                          <a:spcPts val="300"/>
                        </a:spcBef>
                      </a:pP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b="1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b="1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interrupt</a:t>
                      </a:r>
                      <a:r>
                        <a:rPr sz="1500" b="1" spc="-6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500" spc="-5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If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MPU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5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recognize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interrupts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from</a:t>
                      </a:r>
                      <a:r>
                        <a:rPr sz="1500" spc="-3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peripherals.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sz="15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0,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interrupts</a:t>
                      </a:r>
                      <a:r>
                        <a:rPr sz="1500" spc="-5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be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ignored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500" b="1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TF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157480">
                        <a:lnSpc>
                          <a:spcPct val="150100"/>
                        </a:lnSpc>
                        <a:spcBef>
                          <a:spcPts val="295"/>
                        </a:spcBef>
                      </a:pP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This</a:t>
                      </a:r>
                      <a:r>
                        <a:rPr sz="1500" b="1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Trap</a:t>
                      </a:r>
                      <a:r>
                        <a:rPr sz="1500" b="1" spc="-3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b="1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flag</a:t>
                      </a:r>
                      <a:r>
                        <a:rPr sz="1500" b="1" spc="-6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used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sz="1500" spc="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on-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chip</a:t>
                      </a:r>
                      <a:r>
                        <a:rPr sz="1500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debugging.</a:t>
                      </a:r>
                      <a:r>
                        <a:rPr sz="1500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When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sz="15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1,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-3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work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single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step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mode.</a:t>
                      </a:r>
                      <a:r>
                        <a:rPr sz="1500" spc="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After each</a:t>
                      </a:r>
                      <a:r>
                        <a:rPr sz="1500" spc="-3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instruction,</a:t>
                      </a:r>
                      <a:r>
                        <a:rPr sz="1500" spc="-7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one</a:t>
                      </a:r>
                      <a:r>
                        <a:rPr sz="1500" spc="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internal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interrupt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generated.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It</a:t>
                      </a:r>
                      <a:r>
                        <a:rPr sz="1500" spc="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helps</a:t>
                      </a:r>
                      <a:r>
                        <a:rPr sz="1500" spc="-4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500" spc="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execute</a:t>
                      </a:r>
                      <a:r>
                        <a:rPr sz="1500" spc="-1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2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some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program</a:t>
                      </a:r>
                      <a:r>
                        <a:rPr sz="1500" spc="-3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instruction</a:t>
                      </a:r>
                      <a:r>
                        <a:rPr sz="1500" spc="-5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instruction.T=0</a:t>
                      </a:r>
                      <a:r>
                        <a:rPr sz="1500" spc="-9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NO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1500" spc="-25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50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500" spc="-10" dirty="0">
                          <a:solidFill>
                            <a:srgbClr val="001F5F"/>
                          </a:solidFill>
                          <a:latin typeface="Cambria"/>
                          <a:cs typeface="Cambria"/>
                        </a:rPr>
                        <a:t> PERFORMED.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22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729" y="1999563"/>
            <a:ext cx="74803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1F487C"/>
                </a:solidFill>
                <a:latin typeface="Cambria"/>
                <a:cs typeface="Cambria"/>
              </a:rPr>
              <a:t>3.ARCHITECTURE</a:t>
            </a:r>
            <a:r>
              <a:rPr sz="2800" b="1" spc="-80" dirty="0">
                <a:solidFill>
                  <a:srgbClr val="1F487C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mbria"/>
                <a:cs typeface="Cambria"/>
              </a:rPr>
              <a:t>OF</a:t>
            </a:r>
            <a:r>
              <a:rPr sz="2800" b="1" spc="-50" dirty="0">
                <a:solidFill>
                  <a:srgbClr val="1F487C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mbria"/>
                <a:cs typeface="Cambria"/>
              </a:rPr>
              <a:t>8086</a:t>
            </a:r>
            <a:r>
              <a:rPr sz="2800" b="1" spc="-10" dirty="0">
                <a:solidFill>
                  <a:srgbClr val="1F487C"/>
                </a:solidFill>
                <a:latin typeface="Cambria"/>
                <a:cs typeface="Cambria"/>
              </a:rPr>
              <a:t> MICROPROCESSOR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39061" y="5069458"/>
            <a:ext cx="6233160" cy="15240"/>
          </a:xfrm>
          <a:custGeom>
            <a:avLst/>
            <a:gdLst/>
            <a:ahLst/>
            <a:cxnLst/>
            <a:rect l="l" t="t" r="r" b="b"/>
            <a:pathLst>
              <a:path w="6233159" h="15239">
                <a:moveTo>
                  <a:pt x="6233160" y="0"/>
                </a:moveTo>
                <a:lnTo>
                  <a:pt x="0" y="0"/>
                </a:lnTo>
                <a:lnTo>
                  <a:pt x="0" y="15241"/>
                </a:lnTo>
                <a:lnTo>
                  <a:pt x="6233160" y="15241"/>
                </a:lnTo>
                <a:lnTo>
                  <a:pt x="6233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7123" y="4831562"/>
            <a:ext cx="62566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ht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//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w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w</a:t>
            </a:r>
            <a:r>
              <a:rPr sz="1800" b="1" spc="-10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w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.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y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ou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t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ub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e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.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c</a:t>
            </a:r>
            <a:r>
              <a:rPr sz="1800" b="1" spc="-76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o</a:t>
            </a:r>
            <a:r>
              <a:rPr sz="1800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II</a:t>
            </a:r>
            <a:r>
              <a:rPr sz="1800" spc="-284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I</a:t>
            </a:r>
            <a:r>
              <a:rPr sz="1800" b="1" spc="-128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m</a:t>
            </a:r>
            <a:r>
              <a:rPr sz="1800" spc="-22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-</a:t>
            </a:r>
            <a:r>
              <a:rPr sz="1800" spc="-7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II</a:t>
            </a:r>
            <a:r>
              <a:rPr sz="1800" spc="-487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_</a:t>
            </a:r>
            <a:r>
              <a:rPr sz="1800" b="1" spc="-484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/</a:t>
            </a:r>
            <a:r>
              <a:rPr sz="1800" spc="-869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M</a:t>
            </a:r>
            <a:r>
              <a:rPr sz="1800" b="1" spc="-78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w</a:t>
            </a:r>
            <a:r>
              <a:rPr sz="1800" spc="-15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P</a:t>
            </a:r>
            <a:r>
              <a:rPr sz="1800" spc="-1364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M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a</a:t>
            </a:r>
            <a:r>
              <a:rPr sz="1800" b="1" spc="-60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t</a:t>
            </a:r>
            <a:r>
              <a:rPr sz="1800" spc="-142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C</a:t>
            </a:r>
            <a:r>
              <a:rPr sz="1800" b="1" spc="-68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c</a:t>
            </a:r>
            <a:r>
              <a:rPr sz="1800" spc="-15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_</a:t>
            </a:r>
            <a:r>
              <a:rPr sz="1800" spc="-1110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U</a:t>
            </a:r>
            <a:r>
              <a:rPr sz="1800" b="1" spc="-26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h</a:t>
            </a:r>
            <a:r>
              <a:rPr sz="1800" spc="-817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N</a:t>
            </a:r>
            <a:r>
              <a:rPr sz="1800" b="1" spc="-33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?</a:t>
            </a:r>
            <a:r>
              <a:rPr sz="1800" spc="-7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I</a:t>
            </a:r>
            <a:r>
              <a:rPr sz="1800" spc="-900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T</a:t>
            </a:r>
            <a:r>
              <a:rPr sz="1800" b="1" spc="-32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a</a:t>
            </a:r>
            <a:r>
              <a:rPr sz="1800" spc="-104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-</a:t>
            </a:r>
            <a:r>
              <a:rPr sz="1800" b="1" spc="-90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p</a:t>
            </a:r>
            <a:r>
              <a:rPr sz="1800" spc="-7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0</a:t>
            </a:r>
            <a:r>
              <a:rPr sz="1800" spc="-450" baseline="32407" dirty="0">
                <a:solidFill>
                  <a:srgbClr val="888888"/>
                </a:solidFill>
                <a:latin typeface="Calibri"/>
                <a:cs typeface="Calibri"/>
                <a:hlinkClick r:id="rId2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p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=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d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esk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op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&amp;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v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=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O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v</a:t>
            </a:r>
            <a:r>
              <a:rPr sz="1800" b="1" spc="15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L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R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B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SQ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  <a:hlinkClick r:id="rId2"/>
              </a:rPr>
              <a:t>0Ja0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00583"/>
            <a:ext cx="8366759" cy="4770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84141" y="2762503"/>
            <a:ext cx="627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A-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bus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71597" y="793190"/>
            <a:ext cx="158369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0">
              <a:lnSpc>
                <a:spcPts val="2080"/>
              </a:lnSpc>
              <a:spcBef>
                <a:spcPts val="100"/>
              </a:spcBef>
            </a:pPr>
            <a:r>
              <a:rPr b="1" spc="-25" dirty="0">
                <a:solidFill>
                  <a:srgbClr val="FF0000"/>
                </a:solidFill>
                <a:latin typeface="Cambria"/>
                <a:cs typeface="Cambria"/>
              </a:rPr>
              <a:t>C-bus</a:t>
            </a:r>
          </a:p>
          <a:p>
            <a:pPr marL="12700">
              <a:lnSpc>
                <a:spcPts val="2080"/>
              </a:lnSpc>
            </a:pPr>
            <a:r>
              <a:rPr dirty="0">
                <a:latin typeface="Calibri"/>
                <a:cs typeface="Calibri"/>
              </a:rPr>
              <a:t>Address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summer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60546" y="1591182"/>
            <a:ext cx="106553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Segment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registers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0417" y="2204720"/>
            <a:ext cx="11195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Instruction</a:t>
            </a:r>
            <a:r>
              <a:rPr sz="1100" b="1" spc="-6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pointer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3594" y="594106"/>
            <a:ext cx="10579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Instruction</a:t>
            </a:r>
            <a:r>
              <a:rPr sz="1100" b="1" spc="-6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queue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926" y="3779621"/>
            <a:ext cx="1427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Offset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81655" y="679742"/>
            <a:ext cx="1729739" cy="3534410"/>
            <a:chOff x="2581655" y="679742"/>
            <a:chExt cx="1729739" cy="35344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1655" y="3508247"/>
              <a:ext cx="461581" cy="7054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27375" y="3544823"/>
              <a:ext cx="363220" cy="594360"/>
            </a:xfrm>
            <a:custGeom>
              <a:avLst/>
              <a:gdLst/>
              <a:ahLst/>
              <a:cxnLst/>
              <a:rect l="l" t="t" r="r" b="b"/>
              <a:pathLst>
                <a:path w="363219" h="594360">
                  <a:moveTo>
                    <a:pt x="0" y="0"/>
                  </a:moveTo>
                  <a:lnTo>
                    <a:pt x="70610" y="2383"/>
                  </a:lnTo>
                  <a:lnTo>
                    <a:pt x="128254" y="8874"/>
                  </a:lnTo>
                  <a:lnTo>
                    <a:pt x="167110" y="18484"/>
                  </a:lnTo>
                  <a:lnTo>
                    <a:pt x="181356" y="30225"/>
                  </a:lnTo>
                  <a:lnTo>
                    <a:pt x="181356" y="266953"/>
                  </a:lnTo>
                  <a:lnTo>
                    <a:pt x="195601" y="278695"/>
                  </a:lnTo>
                  <a:lnTo>
                    <a:pt x="234457" y="288305"/>
                  </a:lnTo>
                  <a:lnTo>
                    <a:pt x="292101" y="294796"/>
                  </a:lnTo>
                  <a:lnTo>
                    <a:pt x="362712" y="297180"/>
                  </a:lnTo>
                  <a:lnTo>
                    <a:pt x="292101" y="299563"/>
                  </a:lnTo>
                  <a:lnTo>
                    <a:pt x="234457" y="306054"/>
                  </a:lnTo>
                  <a:lnTo>
                    <a:pt x="195601" y="315664"/>
                  </a:lnTo>
                  <a:lnTo>
                    <a:pt x="181356" y="327406"/>
                  </a:lnTo>
                  <a:lnTo>
                    <a:pt x="181356" y="564134"/>
                  </a:lnTo>
                  <a:lnTo>
                    <a:pt x="167110" y="575896"/>
                  </a:lnTo>
                  <a:lnTo>
                    <a:pt x="128254" y="585504"/>
                  </a:lnTo>
                  <a:lnTo>
                    <a:pt x="70610" y="591983"/>
                  </a:lnTo>
                  <a:lnTo>
                    <a:pt x="0" y="59436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5703" y="1514894"/>
              <a:ext cx="458571" cy="7054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11423" y="1551431"/>
              <a:ext cx="360045" cy="594360"/>
            </a:xfrm>
            <a:custGeom>
              <a:avLst/>
              <a:gdLst/>
              <a:ahLst/>
              <a:cxnLst/>
              <a:rect l="l" t="t" r="r" b="b"/>
              <a:pathLst>
                <a:path w="360045" h="594360">
                  <a:moveTo>
                    <a:pt x="0" y="0"/>
                  </a:moveTo>
                  <a:lnTo>
                    <a:pt x="69996" y="2361"/>
                  </a:lnTo>
                  <a:lnTo>
                    <a:pt x="127158" y="8794"/>
                  </a:lnTo>
                  <a:lnTo>
                    <a:pt x="165699" y="18323"/>
                  </a:lnTo>
                  <a:lnTo>
                    <a:pt x="179831" y="29971"/>
                  </a:lnTo>
                  <a:lnTo>
                    <a:pt x="179831" y="267207"/>
                  </a:lnTo>
                  <a:lnTo>
                    <a:pt x="193964" y="278856"/>
                  </a:lnTo>
                  <a:lnTo>
                    <a:pt x="232505" y="288385"/>
                  </a:lnTo>
                  <a:lnTo>
                    <a:pt x="289667" y="294818"/>
                  </a:lnTo>
                  <a:lnTo>
                    <a:pt x="359663" y="297179"/>
                  </a:lnTo>
                  <a:lnTo>
                    <a:pt x="289667" y="299541"/>
                  </a:lnTo>
                  <a:lnTo>
                    <a:pt x="232505" y="305974"/>
                  </a:lnTo>
                  <a:lnTo>
                    <a:pt x="193964" y="315503"/>
                  </a:lnTo>
                  <a:lnTo>
                    <a:pt x="179831" y="327151"/>
                  </a:lnTo>
                  <a:lnTo>
                    <a:pt x="179831" y="564387"/>
                  </a:lnTo>
                  <a:lnTo>
                    <a:pt x="165699" y="576036"/>
                  </a:lnTo>
                  <a:lnTo>
                    <a:pt x="127158" y="585565"/>
                  </a:lnTo>
                  <a:lnTo>
                    <a:pt x="69996" y="591998"/>
                  </a:lnTo>
                  <a:lnTo>
                    <a:pt x="0" y="594359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1943" y="679742"/>
              <a:ext cx="592670" cy="34578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06647" y="704722"/>
              <a:ext cx="396240" cy="172085"/>
            </a:xfrm>
            <a:custGeom>
              <a:avLst/>
              <a:gdLst/>
              <a:ahLst/>
              <a:cxnLst/>
              <a:rect l="l" t="t" r="r" b="b"/>
              <a:pathLst>
                <a:path w="396239" h="172084">
                  <a:moveTo>
                    <a:pt x="326368" y="138494"/>
                  </a:moveTo>
                  <a:lnTo>
                    <a:pt x="277367" y="147827"/>
                  </a:lnTo>
                  <a:lnTo>
                    <a:pt x="273050" y="154177"/>
                  </a:lnTo>
                  <a:lnTo>
                    <a:pt x="275589" y="167386"/>
                  </a:lnTo>
                  <a:lnTo>
                    <a:pt x="281939" y="171703"/>
                  </a:lnTo>
                  <a:lnTo>
                    <a:pt x="377644" y="153542"/>
                  </a:lnTo>
                  <a:lnTo>
                    <a:pt x="368935" y="153542"/>
                  </a:lnTo>
                  <a:lnTo>
                    <a:pt x="326368" y="138494"/>
                  </a:lnTo>
                  <a:close/>
                </a:path>
                <a:path w="396239" h="172084">
                  <a:moveTo>
                    <a:pt x="350246" y="133946"/>
                  </a:moveTo>
                  <a:lnTo>
                    <a:pt x="326368" y="138494"/>
                  </a:lnTo>
                  <a:lnTo>
                    <a:pt x="368935" y="153542"/>
                  </a:lnTo>
                  <a:lnTo>
                    <a:pt x="370147" y="150113"/>
                  </a:lnTo>
                  <a:lnTo>
                    <a:pt x="370237" y="149860"/>
                  </a:lnTo>
                  <a:lnTo>
                    <a:pt x="363727" y="149860"/>
                  </a:lnTo>
                  <a:lnTo>
                    <a:pt x="350246" y="133946"/>
                  </a:lnTo>
                  <a:close/>
                </a:path>
                <a:path w="396239" h="172084">
                  <a:moveTo>
                    <a:pt x="313181" y="61087"/>
                  </a:moveTo>
                  <a:lnTo>
                    <a:pt x="308101" y="65404"/>
                  </a:lnTo>
                  <a:lnTo>
                    <a:pt x="302894" y="69723"/>
                  </a:lnTo>
                  <a:lnTo>
                    <a:pt x="302260" y="77470"/>
                  </a:lnTo>
                  <a:lnTo>
                    <a:pt x="306704" y="82550"/>
                  </a:lnTo>
                  <a:lnTo>
                    <a:pt x="334663" y="115551"/>
                  </a:lnTo>
                  <a:lnTo>
                    <a:pt x="377063" y="130555"/>
                  </a:lnTo>
                  <a:lnTo>
                    <a:pt x="368935" y="153542"/>
                  </a:lnTo>
                  <a:lnTo>
                    <a:pt x="377644" y="153542"/>
                  </a:lnTo>
                  <a:lnTo>
                    <a:pt x="395731" y="150113"/>
                  </a:lnTo>
                  <a:lnTo>
                    <a:pt x="320928" y="61722"/>
                  </a:lnTo>
                  <a:lnTo>
                    <a:pt x="313181" y="61087"/>
                  </a:lnTo>
                  <a:close/>
                </a:path>
                <a:path w="396239" h="172084">
                  <a:moveTo>
                    <a:pt x="370713" y="130048"/>
                  </a:moveTo>
                  <a:lnTo>
                    <a:pt x="350246" y="133946"/>
                  </a:lnTo>
                  <a:lnTo>
                    <a:pt x="363727" y="149860"/>
                  </a:lnTo>
                  <a:lnTo>
                    <a:pt x="370713" y="130048"/>
                  </a:lnTo>
                  <a:close/>
                </a:path>
                <a:path w="396239" h="172084">
                  <a:moveTo>
                    <a:pt x="375627" y="130048"/>
                  </a:moveTo>
                  <a:lnTo>
                    <a:pt x="370713" y="130048"/>
                  </a:lnTo>
                  <a:lnTo>
                    <a:pt x="363727" y="149860"/>
                  </a:lnTo>
                  <a:lnTo>
                    <a:pt x="370237" y="149860"/>
                  </a:lnTo>
                  <a:lnTo>
                    <a:pt x="377063" y="130555"/>
                  </a:lnTo>
                  <a:lnTo>
                    <a:pt x="375627" y="130048"/>
                  </a:lnTo>
                  <a:close/>
                </a:path>
                <a:path w="396239" h="172084">
                  <a:moveTo>
                    <a:pt x="8127" y="0"/>
                  </a:moveTo>
                  <a:lnTo>
                    <a:pt x="0" y="23113"/>
                  </a:lnTo>
                  <a:lnTo>
                    <a:pt x="326368" y="138494"/>
                  </a:lnTo>
                  <a:lnTo>
                    <a:pt x="350246" y="133946"/>
                  </a:lnTo>
                  <a:lnTo>
                    <a:pt x="334663" y="115551"/>
                  </a:lnTo>
                  <a:lnTo>
                    <a:pt x="8127" y="0"/>
                  </a:lnTo>
                  <a:close/>
                </a:path>
                <a:path w="396239" h="172084">
                  <a:moveTo>
                    <a:pt x="334663" y="115551"/>
                  </a:moveTo>
                  <a:lnTo>
                    <a:pt x="350246" y="133946"/>
                  </a:lnTo>
                  <a:lnTo>
                    <a:pt x="370713" y="130048"/>
                  </a:lnTo>
                  <a:lnTo>
                    <a:pt x="375627" y="130048"/>
                  </a:lnTo>
                  <a:lnTo>
                    <a:pt x="334663" y="115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8559" y="2697518"/>
              <a:ext cx="592670" cy="34578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63263" y="2722498"/>
              <a:ext cx="396240" cy="172085"/>
            </a:xfrm>
            <a:custGeom>
              <a:avLst/>
              <a:gdLst/>
              <a:ahLst/>
              <a:cxnLst/>
              <a:rect l="l" t="t" r="r" b="b"/>
              <a:pathLst>
                <a:path w="396239" h="172085">
                  <a:moveTo>
                    <a:pt x="326368" y="138494"/>
                  </a:moveTo>
                  <a:lnTo>
                    <a:pt x="277368" y="147827"/>
                  </a:lnTo>
                  <a:lnTo>
                    <a:pt x="273050" y="154177"/>
                  </a:lnTo>
                  <a:lnTo>
                    <a:pt x="275589" y="167386"/>
                  </a:lnTo>
                  <a:lnTo>
                    <a:pt x="281939" y="171704"/>
                  </a:lnTo>
                  <a:lnTo>
                    <a:pt x="377644" y="153543"/>
                  </a:lnTo>
                  <a:lnTo>
                    <a:pt x="368935" y="153543"/>
                  </a:lnTo>
                  <a:lnTo>
                    <a:pt x="326368" y="138494"/>
                  </a:lnTo>
                  <a:close/>
                </a:path>
                <a:path w="396239" h="172085">
                  <a:moveTo>
                    <a:pt x="350246" y="133946"/>
                  </a:moveTo>
                  <a:lnTo>
                    <a:pt x="326368" y="138494"/>
                  </a:lnTo>
                  <a:lnTo>
                    <a:pt x="368935" y="153543"/>
                  </a:lnTo>
                  <a:lnTo>
                    <a:pt x="370147" y="150113"/>
                  </a:lnTo>
                  <a:lnTo>
                    <a:pt x="370237" y="149860"/>
                  </a:lnTo>
                  <a:lnTo>
                    <a:pt x="363727" y="149860"/>
                  </a:lnTo>
                  <a:lnTo>
                    <a:pt x="350246" y="133946"/>
                  </a:lnTo>
                  <a:close/>
                </a:path>
                <a:path w="396239" h="172085">
                  <a:moveTo>
                    <a:pt x="313182" y="61087"/>
                  </a:moveTo>
                  <a:lnTo>
                    <a:pt x="308101" y="65405"/>
                  </a:lnTo>
                  <a:lnTo>
                    <a:pt x="302895" y="69723"/>
                  </a:lnTo>
                  <a:lnTo>
                    <a:pt x="302260" y="77469"/>
                  </a:lnTo>
                  <a:lnTo>
                    <a:pt x="306705" y="82550"/>
                  </a:lnTo>
                  <a:lnTo>
                    <a:pt x="334663" y="115551"/>
                  </a:lnTo>
                  <a:lnTo>
                    <a:pt x="377063" y="130556"/>
                  </a:lnTo>
                  <a:lnTo>
                    <a:pt x="368935" y="153543"/>
                  </a:lnTo>
                  <a:lnTo>
                    <a:pt x="377644" y="153543"/>
                  </a:lnTo>
                  <a:lnTo>
                    <a:pt x="395732" y="150113"/>
                  </a:lnTo>
                  <a:lnTo>
                    <a:pt x="320928" y="61722"/>
                  </a:lnTo>
                  <a:lnTo>
                    <a:pt x="313182" y="61087"/>
                  </a:lnTo>
                  <a:close/>
                </a:path>
                <a:path w="396239" h="172085">
                  <a:moveTo>
                    <a:pt x="370713" y="130048"/>
                  </a:moveTo>
                  <a:lnTo>
                    <a:pt x="350246" y="133946"/>
                  </a:lnTo>
                  <a:lnTo>
                    <a:pt x="363727" y="149860"/>
                  </a:lnTo>
                  <a:lnTo>
                    <a:pt x="370713" y="130048"/>
                  </a:lnTo>
                  <a:close/>
                </a:path>
                <a:path w="396239" h="172085">
                  <a:moveTo>
                    <a:pt x="375627" y="130048"/>
                  </a:moveTo>
                  <a:lnTo>
                    <a:pt x="370713" y="130048"/>
                  </a:lnTo>
                  <a:lnTo>
                    <a:pt x="363727" y="149860"/>
                  </a:lnTo>
                  <a:lnTo>
                    <a:pt x="370237" y="149860"/>
                  </a:lnTo>
                  <a:lnTo>
                    <a:pt x="377063" y="130556"/>
                  </a:lnTo>
                  <a:lnTo>
                    <a:pt x="375627" y="130048"/>
                  </a:lnTo>
                  <a:close/>
                </a:path>
                <a:path w="396239" h="172085">
                  <a:moveTo>
                    <a:pt x="8127" y="0"/>
                  </a:moveTo>
                  <a:lnTo>
                    <a:pt x="0" y="23113"/>
                  </a:lnTo>
                  <a:lnTo>
                    <a:pt x="326368" y="138494"/>
                  </a:lnTo>
                  <a:lnTo>
                    <a:pt x="350246" y="133946"/>
                  </a:lnTo>
                  <a:lnTo>
                    <a:pt x="334663" y="115551"/>
                  </a:lnTo>
                  <a:lnTo>
                    <a:pt x="8127" y="0"/>
                  </a:lnTo>
                  <a:close/>
                </a:path>
                <a:path w="396239" h="172085">
                  <a:moveTo>
                    <a:pt x="334663" y="115551"/>
                  </a:moveTo>
                  <a:lnTo>
                    <a:pt x="350246" y="133946"/>
                  </a:lnTo>
                  <a:lnTo>
                    <a:pt x="370713" y="130048"/>
                  </a:lnTo>
                  <a:lnTo>
                    <a:pt x="375627" y="130048"/>
                  </a:lnTo>
                  <a:lnTo>
                    <a:pt x="334663" y="115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96995" y="4831562"/>
            <a:ext cx="135191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037" y="145364"/>
            <a:ext cx="8886190" cy="36855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60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16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i.e.,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10" dirty="0">
                <a:latin typeface="Cambria"/>
                <a:cs typeface="Cambria"/>
              </a:rPr>
              <a:t> operates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16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time.</a:t>
            </a:r>
            <a:endParaRPr sz="1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96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It is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capable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working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16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bits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information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one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cycle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 at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time.</a:t>
            </a:r>
            <a:endParaRPr sz="16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8086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MICROPROCESSOR</a:t>
            </a:r>
            <a:r>
              <a:rPr sz="1600" spc="2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had16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bit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20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bit</a:t>
            </a:r>
            <a:endParaRPr sz="16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Cambria"/>
                <a:cs typeface="Cambria"/>
              </a:rPr>
              <a:t>i.e.,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2^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20=1048576=1MB</a:t>
            </a:r>
            <a:endParaRPr sz="1600">
              <a:latin typeface="Cambria"/>
              <a:cs typeface="Cambria"/>
            </a:endParaRPr>
          </a:p>
          <a:p>
            <a:pPr marL="297815" marR="5080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8085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microprocessor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get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inside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then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to 	</a:t>
            </a:r>
            <a:r>
              <a:rPr sz="1600" dirty="0">
                <a:latin typeface="Cambria"/>
                <a:cs typeface="Cambria"/>
              </a:rPr>
              <a:t>execute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then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after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go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next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drawback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over-</a:t>
            </a:r>
            <a:r>
              <a:rPr sz="1600" dirty="0">
                <a:latin typeface="Cambria"/>
                <a:cs typeface="Cambria"/>
              </a:rPr>
              <a:t>come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in 	</a:t>
            </a:r>
            <a:r>
              <a:rPr sz="1600" dirty="0">
                <a:latin typeface="Cambria"/>
                <a:cs typeface="Cambria"/>
              </a:rPr>
              <a:t>8086</a:t>
            </a:r>
            <a:r>
              <a:rPr sz="1600" spc="-10" dirty="0">
                <a:latin typeface="Cambria"/>
                <a:cs typeface="Cambria"/>
              </a:rPr>
              <a:t> microprocessor</a:t>
            </a:r>
            <a:endParaRPr sz="1600">
              <a:latin typeface="Cambria"/>
              <a:cs typeface="Cambria"/>
            </a:endParaRPr>
          </a:p>
          <a:p>
            <a:pPr marL="297815" marR="5080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In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8086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microprocessor</a:t>
            </a:r>
            <a:r>
              <a:rPr sz="1600" dirty="0">
                <a:latin typeface="Cambria"/>
                <a:cs typeface="Cambria"/>
              </a:rPr>
              <a:t> fetch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get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inside</a:t>
            </a:r>
            <a:r>
              <a:rPr sz="1600" spc="3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while 	</a:t>
            </a:r>
            <a:r>
              <a:rPr sz="1600" dirty="0">
                <a:latin typeface="Cambria"/>
                <a:cs typeface="Cambria"/>
              </a:rPr>
              <a:t>executes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fetching</a:t>
            </a:r>
            <a:r>
              <a:rPr sz="1600" spc="4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next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side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side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done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using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BIU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&amp; 	</a:t>
            </a:r>
            <a:r>
              <a:rPr sz="1600" dirty="0">
                <a:latin typeface="Cambria"/>
                <a:cs typeface="Cambria"/>
              </a:rPr>
              <a:t>EU.</a:t>
            </a:r>
            <a:r>
              <a:rPr sz="1600" b="1" dirty="0">
                <a:latin typeface="Cambria"/>
                <a:cs typeface="Cambria"/>
              </a:rPr>
              <a:t>In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any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processor</a:t>
            </a:r>
            <a:r>
              <a:rPr sz="1600" b="1" spc="-7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25" dirty="0">
                <a:latin typeface="Cambria"/>
                <a:cs typeface="Cambria"/>
              </a:rPr>
              <a:t>do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40932" y="3855529"/>
            <a:ext cx="2703195" cy="671195"/>
            <a:chOff x="2240932" y="3855529"/>
            <a:chExt cx="2703195" cy="671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932" y="4121836"/>
              <a:ext cx="1126982" cy="1762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67457" y="4131805"/>
              <a:ext cx="1080770" cy="116839"/>
            </a:xfrm>
            <a:custGeom>
              <a:avLst/>
              <a:gdLst/>
              <a:ahLst/>
              <a:cxnLst/>
              <a:rect l="l" t="t" r="r" b="b"/>
              <a:pathLst>
                <a:path w="1080770" h="116839">
                  <a:moveTo>
                    <a:pt x="1010951" y="71104"/>
                  </a:moveTo>
                  <a:lnTo>
                    <a:pt x="967486" y="95453"/>
                  </a:lnTo>
                  <a:lnTo>
                    <a:pt x="965327" y="102882"/>
                  </a:lnTo>
                  <a:lnTo>
                    <a:pt x="971931" y="114642"/>
                  </a:lnTo>
                  <a:lnTo>
                    <a:pt x="979297" y="116738"/>
                  </a:lnTo>
                  <a:lnTo>
                    <a:pt x="1059401" y="71907"/>
                  </a:lnTo>
                  <a:lnTo>
                    <a:pt x="1056005" y="71907"/>
                  </a:lnTo>
                  <a:lnTo>
                    <a:pt x="1010951" y="71104"/>
                  </a:lnTo>
                  <a:close/>
                </a:path>
                <a:path w="1080770" h="116839">
                  <a:moveTo>
                    <a:pt x="1032045" y="59297"/>
                  </a:moveTo>
                  <a:lnTo>
                    <a:pt x="1010951" y="71104"/>
                  </a:lnTo>
                  <a:lnTo>
                    <a:pt x="1056005" y="71907"/>
                  </a:lnTo>
                  <a:lnTo>
                    <a:pt x="1056041" y="70142"/>
                  </a:lnTo>
                  <a:lnTo>
                    <a:pt x="1049908" y="70142"/>
                  </a:lnTo>
                  <a:lnTo>
                    <a:pt x="1032045" y="59297"/>
                  </a:lnTo>
                  <a:close/>
                </a:path>
                <a:path w="1080770" h="116839">
                  <a:moveTo>
                    <a:pt x="981456" y="0"/>
                  </a:moveTo>
                  <a:lnTo>
                    <a:pt x="973963" y="1841"/>
                  </a:lnTo>
                  <a:lnTo>
                    <a:pt x="970407" y="7594"/>
                  </a:lnTo>
                  <a:lnTo>
                    <a:pt x="966978" y="13347"/>
                  </a:lnTo>
                  <a:lnTo>
                    <a:pt x="968756" y="20840"/>
                  </a:lnTo>
                  <a:lnTo>
                    <a:pt x="1011345" y="46731"/>
                  </a:lnTo>
                  <a:lnTo>
                    <a:pt x="1056513" y="47536"/>
                  </a:lnTo>
                  <a:lnTo>
                    <a:pt x="1056041" y="70142"/>
                  </a:lnTo>
                  <a:lnTo>
                    <a:pt x="1056005" y="71907"/>
                  </a:lnTo>
                  <a:lnTo>
                    <a:pt x="1059401" y="71907"/>
                  </a:lnTo>
                  <a:lnTo>
                    <a:pt x="1080389" y="60147"/>
                  </a:lnTo>
                  <a:lnTo>
                    <a:pt x="981456" y="0"/>
                  </a:lnTo>
                  <a:close/>
                </a:path>
                <a:path w="1080770" h="116839">
                  <a:moveTo>
                    <a:pt x="508" y="28714"/>
                  </a:moveTo>
                  <a:lnTo>
                    <a:pt x="132" y="46731"/>
                  </a:lnTo>
                  <a:lnTo>
                    <a:pt x="115" y="47536"/>
                  </a:lnTo>
                  <a:lnTo>
                    <a:pt x="0" y="53098"/>
                  </a:lnTo>
                  <a:lnTo>
                    <a:pt x="1010951" y="71104"/>
                  </a:lnTo>
                  <a:lnTo>
                    <a:pt x="1032045" y="59297"/>
                  </a:lnTo>
                  <a:lnTo>
                    <a:pt x="1011345" y="46731"/>
                  </a:lnTo>
                  <a:lnTo>
                    <a:pt x="508" y="28714"/>
                  </a:lnTo>
                  <a:close/>
                </a:path>
                <a:path w="1080770" h="116839">
                  <a:moveTo>
                    <a:pt x="1050290" y="49085"/>
                  </a:moveTo>
                  <a:lnTo>
                    <a:pt x="1032045" y="59297"/>
                  </a:lnTo>
                  <a:lnTo>
                    <a:pt x="1049908" y="70142"/>
                  </a:lnTo>
                  <a:lnTo>
                    <a:pt x="1050089" y="60147"/>
                  </a:lnTo>
                  <a:lnTo>
                    <a:pt x="1050105" y="59297"/>
                  </a:lnTo>
                  <a:lnTo>
                    <a:pt x="1050217" y="53098"/>
                  </a:lnTo>
                  <a:lnTo>
                    <a:pt x="1050290" y="49085"/>
                  </a:lnTo>
                  <a:close/>
                </a:path>
                <a:path w="1080770" h="116839">
                  <a:moveTo>
                    <a:pt x="1056480" y="49085"/>
                  </a:moveTo>
                  <a:lnTo>
                    <a:pt x="1050290" y="49085"/>
                  </a:lnTo>
                  <a:lnTo>
                    <a:pt x="1049908" y="70142"/>
                  </a:lnTo>
                  <a:lnTo>
                    <a:pt x="1056041" y="70142"/>
                  </a:lnTo>
                  <a:lnTo>
                    <a:pt x="1056397" y="53098"/>
                  </a:lnTo>
                  <a:lnTo>
                    <a:pt x="1056480" y="49085"/>
                  </a:lnTo>
                  <a:close/>
                </a:path>
                <a:path w="1080770" h="116839">
                  <a:moveTo>
                    <a:pt x="1011345" y="46731"/>
                  </a:moveTo>
                  <a:lnTo>
                    <a:pt x="1032045" y="59297"/>
                  </a:lnTo>
                  <a:lnTo>
                    <a:pt x="1050290" y="49085"/>
                  </a:lnTo>
                  <a:lnTo>
                    <a:pt x="1056480" y="49085"/>
                  </a:lnTo>
                  <a:lnTo>
                    <a:pt x="1056513" y="47536"/>
                  </a:lnTo>
                  <a:lnTo>
                    <a:pt x="1011345" y="4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46703" y="3867911"/>
              <a:ext cx="1584960" cy="646430"/>
            </a:xfrm>
            <a:custGeom>
              <a:avLst/>
              <a:gdLst/>
              <a:ahLst/>
              <a:cxnLst/>
              <a:rect l="l" t="t" r="r" b="b"/>
              <a:pathLst>
                <a:path w="1584960" h="646429">
                  <a:moveTo>
                    <a:pt x="158496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1584960" y="646176"/>
                  </a:lnTo>
                  <a:lnTo>
                    <a:pt x="1584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46703" y="3867911"/>
              <a:ext cx="1584960" cy="646430"/>
            </a:xfrm>
            <a:custGeom>
              <a:avLst/>
              <a:gdLst/>
              <a:ahLst/>
              <a:cxnLst/>
              <a:rect l="l" t="t" r="r" b="b"/>
              <a:pathLst>
                <a:path w="1584960" h="646429">
                  <a:moveTo>
                    <a:pt x="0" y="646176"/>
                  </a:moveTo>
                  <a:lnTo>
                    <a:pt x="1584960" y="646176"/>
                  </a:lnTo>
                  <a:lnTo>
                    <a:pt x="158496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29659" y="3888130"/>
            <a:ext cx="10236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Decode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instruction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85944" y="3867911"/>
            <a:ext cx="3069590" cy="646430"/>
            <a:chOff x="4885944" y="3867911"/>
            <a:chExt cx="3069590" cy="6464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944" y="4053839"/>
              <a:ext cx="1132128" cy="3091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31664" y="4132630"/>
              <a:ext cx="936625" cy="116839"/>
            </a:xfrm>
            <a:custGeom>
              <a:avLst/>
              <a:gdLst/>
              <a:ahLst/>
              <a:cxnLst/>
              <a:rect l="l" t="t" r="r" b="b"/>
              <a:pathLst>
                <a:path w="936625" h="116839">
                  <a:moveTo>
                    <a:pt x="887715" y="58369"/>
                  </a:moveTo>
                  <a:lnTo>
                    <a:pt x="829563" y="92290"/>
                  </a:lnTo>
                  <a:lnTo>
                    <a:pt x="823849" y="95681"/>
                  </a:lnTo>
                  <a:lnTo>
                    <a:pt x="821816" y="103149"/>
                  </a:lnTo>
                  <a:lnTo>
                    <a:pt x="828675" y="114782"/>
                  </a:lnTo>
                  <a:lnTo>
                    <a:pt x="836040" y="116738"/>
                  </a:lnTo>
                  <a:lnTo>
                    <a:pt x="915219" y="70561"/>
                  </a:lnTo>
                  <a:lnTo>
                    <a:pt x="911987" y="70561"/>
                  </a:lnTo>
                  <a:lnTo>
                    <a:pt x="911987" y="68897"/>
                  </a:lnTo>
                  <a:lnTo>
                    <a:pt x="905763" y="68897"/>
                  </a:lnTo>
                  <a:lnTo>
                    <a:pt x="887715" y="58369"/>
                  </a:lnTo>
                  <a:close/>
                </a:path>
                <a:path w="936625" h="116839">
                  <a:moveTo>
                    <a:pt x="866814" y="46177"/>
                  </a:moveTo>
                  <a:lnTo>
                    <a:pt x="0" y="46177"/>
                  </a:lnTo>
                  <a:lnTo>
                    <a:pt x="0" y="70561"/>
                  </a:lnTo>
                  <a:lnTo>
                    <a:pt x="866814" y="70561"/>
                  </a:lnTo>
                  <a:lnTo>
                    <a:pt x="887715" y="58369"/>
                  </a:lnTo>
                  <a:lnTo>
                    <a:pt x="866814" y="46177"/>
                  </a:lnTo>
                  <a:close/>
                </a:path>
                <a:path w="936625" h="116839">
                  <a:moveTo>
                    <a:pt x="915219" y="46177"/>
                  </a:moveTo>
                  <a:lnTo>
                    <a:pt x="911987" y="46177"/>
                  </a:lnTo>
                  <a:lnTo>
                    <a:pt x="911987" y="70561"/>
                  </a:lnTo>
                  <a:lnTo>
                    <a:pt x="915219" y="70561"/>
                  </a:lnTo>
                  <a:lnTo>
                    <a:pt x="936116" y="58369"/>
                  </a:lnTo>
                  <a:lnTo>
                    <a:pt x="915219" y="46177"/>
                  </a:lnTo>
                  <a:close/>
                </a:path>
                <a:path w="936625" h="116839">
                  <a:moveTo>
                    <a:pt x="905763" y="47840"/>
                  </a:moveTo>
                  <a:lnTo>
                    <a:pt x="887715" y="58369"/>
                  </a:lnTo>
                  <a:lnTo>
                    <a:pt x="905763" y="68897"/>
                  </a:lnTo>
                  <a:lnTo>
                    <a:pt x="905763" y="47840"/>
                  </a:lnTo>
                  <a:close/>
                </a:path>
                <a:path w="936625" h="116839">
                  <a:moveTo>
                    <a:pt x="911987" y="47840"/>
                  </a:moveTo>
                  <a:lnTo>
                    <a:pt x="905763" y="47840"/>
                  </a:lnTo>
                  <a:lnTo>
                    <a:pt x="905763" y="68897"/>
                  </a:lnTo>
                  <a:lnTo>
                    <a:pt x="911987" y="68897"/>
                  </a:lnTo>
                  <a:lnTo>
                    <a:pt x="911987" y="47840"/>
                  </a:lnTo>
                  <a:close/>
                </a:path>
                <a:path w="936625" h="116839">
                  <a:moveTo>
                    <a:pt x="836040" y="0"/>
                  </a:moveTo>
                  <a:lnTo>
                    <a:pt x="828675" y="1955"/>
                  </a:lnTo>
                  <a:lnTo>
                    <a:pt x="821816" y="13589"/>
                  </a:lnTo>
                  <a:lnTo>
                    <a:pt x="823849" y="21056"/>
                  </a:lnTo>
                  <a:lnTo>
                    <a:pt x="829563" y="24447"/>
                  </a:lnTo>
                  <a:lnTo>
                    <a:pt x="887715" y="58369"/>
                  </a:lnTo>
                  <a:lnTo>
                    <a:pt x="905763" y="47840"/>
                  </a:lnTo>
                  <a:lnTo>
                    <a:pt x="911987" y="47840"/>
                  </a:lnTo>
                  <a:lnTo>
                    <a:pt x="911987" y="46177"/>
                  </a:lnTo>
                  <a:lnTo>
                    <a:pt x="915219" y="46177"/>
                  </a:lnTo>
                  <a:lnTo>
                    <a:pt x="836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67400" y="3867911"/>
              <a:ext cx="2087880" cy="646430"/>
            </a:xfrm>
            <a:custGeom>
              <a:avLst/>
              <a:gdLst/>
              <a:ahLst/>
              <a:cxnLst/>
              <a:rect l="l" t="t" r="r" b="b"/>
              <a:pathLst>
                <a:path w="2087879" h="646429">
                  <a:moveTo>
                    <a:pt x="2087879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2087879" y="646176"/>
                  </a:lnTo>
                  <a:lnTo>
                    <a:pt x="2087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67400" y="3867911"/>
            <a:ext cx="2087880" cy="646430"/>
          </a:xfrm>
          <a:prstGeom prst="rect">
            <a:avLst/>
          </a:prstGeom>
          <a:ln w="24384">
            <a:solidFill>
              <a:srgbClr val="4F81BC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59"/>
              </a:spcBef>
            </a:pP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635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decoded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2168" y="3849623"/>
            <a:ext cx="1685925" cy="646430"/>
          </a:xfrm>
          <a:custGeom>
            <a:avLst/>
            <a:gdLst/>
            <a:ahLst/>
            <a:cxnLst/>
            <a:rect l="l" t="t" r="r" b="b"/>
            <a:pathLst>
              <a:path w="1685925" h="646429">
                <a:moveTo>
                  <a:pt x="1685544" y="0"/>
                </a:moveTo>
                <a:lnTo>
                  <a:pt x="0" y="0"/>
                </a:lnTo>
                <a:lnTo>
                  <a:pt x="0" y="646176"/>
                </a:lnTo>
                <a:lnTo>
                  <a:pt x="1685544" y="646176"/>
                </a:lnTo>
                <a:lnTo>
                  <a:pt x="16855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2168" y="3849623"/>
            <a:ext cx="1685925" cy="646430"/>
          </a:xfrm>
          <a:prstGeom prst="rect">
            <a:avLst/>
          </a:prstGeom>
          <a:ln w="24384">
            <a:solidFill>
              <a:srgbClr val="4F81BC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4610" algn="ctr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/>
                <a:cs typeface="Calibri"/>
              </a:rPr>
              <a:t>fetch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instruction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504" y="278764"/>
            <a:ext cx="7657465" cy="12611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Who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needs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calculate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physical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297815" marR="5080" indent="-285750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When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ever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EU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executes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time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BIU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wants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fetch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next 	</a:t>
            </a:r>
            <a:r>
              <a:rPr sz="1800" dirty="0">
                <a:latin typeface="Cambria"/>
                <a:cs typeface="Cambria"/>
              </a:rPr>
              <a:t>instruction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that’s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BIU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need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calculate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physical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504" y="1650949"/>
            <a:ext cx="2057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Wingdings"/>
                <a:cs typeface="Wingdings"/>
              </a:rPr>
              <a:t>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3046" y="1776222"/>
            <a:ext cx="257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8086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MICROPROCESSOR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01111" y="2133941"/>
            <a:ext cx="4346575" cy="1840864"/>
            <a:chOff x="2801111" y="2133941"/>
            <a:chExt cx="4346575" cy="184086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3252" y="2133941"/>
              <a:ext cx="176287" cy="5943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15332" y="2148839"/>
              <a:ext cx="116839" cy="540385"/>
            </a:xfrm>
            <a:custGeom>
              <a:avLst/>
              <a:gdLst/>
              <a:ahLst/>
              <a:cxnLst/>
              <a:rect l="l" t="t" r="r" b="b"/>
              <a:pathLst>
                <a:path w="116839" h="540385">
                  <a:moveTo>
                    <a:pt x="13588" y="425831"/>
                  </a:moveTo>
                  <a:lnTo>
                    <a:pt x="2031" y="432561"/>
                  </a:lnTo>
                  <a:lnTo>
                    <a:pt x="0" y="440054"/>
                  </a:lnTo>
                  <a:lnTo>
                    <a:pt x="58419" y="540131"/>
                  </a:lnTo>
                  <a:lnTo>
                    <a:pt x="72575" y="515873"/>
                  </a:lnTo>
                  <a:lnTo>
                    <a:pt x="46227" y="515873"/>
                  </a:lnTo>
                  <a:lnTo>
                    <a:pt x="46227" y="470807"/>
                  </a:lnTo>
                  <a:lnTo>
                    <a:pt x="24510" y="433577"/>
                  </a:lnTo>
                  <a:lnTo>
                    <a:pt x="21081" y="427735"/>
                  </a:lnTo>
                  <a:lnTo>
                    <a:pt x="13588" y="425831"/>
                  </a:lnTo>
                  <a:close/>
                </a:path>
                <a:path w="116839" h="540385">
                  <a:moveTo>
                    <a:pt x="46227" y="470807"/>
                  </a:moveTo>
                  <a:lnTo>
                    <a:pt x="46227" y="515873"/>
                  </a:lnTo>
                  <a:lnTo>
                    <a:pt x="70612" y="515873"/>
                  </a:lnTo>
                  <a:lnTo>
                    <a:pt x="70612" y="509777"/>
                  </a:lnTo>
                  <a:lnTo>
                    <a:pt x="47878" y="509777"/>
                  </a:lnTo>
                  <a:lnTo>
                    <a:pt x="58419" y="491707"/>
                  </a:lnTo>
                  <a:lnTo>
                    <a:pt x="46227" y="470807"/>
                  </a:lnTo>
                  <a:close/>
                </a:path>
                <a:path w="116839" h="540385">
                  <a:moveTo>
                    <a:pt x="103250" y="425831"/>
                  </a:moveTo>
                  <a:lnTo>
                    <a:pt x="95757" y="427735"/>
                  </a:lnTo>
                  <a:lnTo>
                    <a:pt x="92328" y="433577"/>
                  </a:lnTo>
                  <a:lnTo>
                    <a:pt x="70612" y="470807"/>
                  </a:lnTo>
                  <a:lnTo>
                    <a:pt x="70612" y="515873"/>
                  </a:lnTo>
                  <a:lnTo>
                    <a:pt x="72575" y="515873"/>
                  </a:lnTo>
                  <a:lnTo>
                    <a:pt x="116839" y="440054"/>
                  </a:lnTo>
                  <a:lnTo>
                    <a:pt x="114807" y="432561"/>
                  </a:lnTo>
                  <a:lnTo>
                    <a:pt x="103250" y="425831"/>
                  </a:lnTo>
                  <a:close/>
                </a:path>
                <a:path w="116839" h="540385">
                  <a:moveTo>
                    <a:pt x="58419" y="491707"/>
                  </a:moveTo>
                  <a:lnTo>
                    <a:pt x="47878" y="509777"/>
                  </a:lnTo>
                  <a:lnTo>
                    <a:pt x="68960" y="509777"/>
                  </a:lnTo>
                  <a:lnTo>
                    <a:pt x="58419" y="491707"/>
                  </a:lnTo>
                  <a:close/>
                </a:path>
                <a:path w="116839" h="540385">
                  <a:moveTo>
                    <a:pt x="70612" y="470807"/>
                  </a:moveTo>
                  <a:lnTo>
                    <a:pt x="58419" y="491707"/>
                  </a:lnTo>
                  <a:lnTo>
                    <a:pt x="68960" y="509777"/>
                  </a:lnTo>
                  <a:lnTo>
                    <a:pt x="70612" y="509777"/>
                  </a:lnTo>
                  <a:lnTo>
                    <a:pt x="70612" y="470807"/>
                  </a:lnTo>
                  <a:close/>
                </a:path>
                <a:path w="116839" h="540385">
                  <a:moveTo>
                    <a:pt x="70612" y="0"/>
                  </a:moveTo>
                  <a:lnTo>
                    <a:pt x="46227" y="0"/>
                  </a:lnTo>
                  <a:lnTo>
                    <a:pt x="46227" y="470807"/>
                  </a:lnTo>
                  <a:lnTo>
                    <a:pt x="58419" y="491707"/>
                  </a:lnTo>
                  <a:lnTo>
                    <a:pt x="70611" y="470807"/>
                  </a:lnTo>
                  <a:lnTo>
                    <a:pt x="70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3303" y="2731007"/>
              <a:ext cx="4322445" cy="295910"/>
            </a:xfrm>
            <a:custGeom>
              <a:avLst/>
              <a:gdLst/>
              <a:ahLst/>
              <a:cxnLst/>
              <a:rect l="l" t="t" r="r" b="b"/>
              <a:pathLst>
                <a:path w="4322445" h="295910">
                  <a:moveTo>
                    <a:pt x="4322064" y="0"/>
                  </a:moveTo>
                  <a:lnTo>
                    <a:pt x="0" y="0"/>
                  </a:lnTo>
                  <a:lnTo>
                    <a:pt x="0" y="192151"/>
                  </a:lnTo>
                  <a:lnTo>
                    <a:pt x="2124074" y="192151"/>
                  </a:lnTo>
                  <a:lnTo>
                    <a:pt x="2124074" y="221742"/>
                  </a:lnTo>
                  <a:lnTo>
                    <a:pt x="2087118" y="221742"/>
                  </a:lnTo>
                  <a:lnTo>
                    <a:pt x="2161032" y="295656"/>
                  </a:lnTo>
                  <a:lnTo>
                    <a:pt x="2234946" y="221742"/>
                  </a:lnTo>
                  <a:lnTo>
                    <a:pt x="2197988" y="221742"/>
                  </a:lnTo>
                  <a:lnTo>
                    <a:pt x="2197988" y="192151"/>
                  </a:lnTo>
                  <a:lnTo>
                    <a:pt x="4322064" y="192151"/>
                  </a:lnTo>
                  <a:lnTo>
                    <a:pt x="4322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3303" y="2731007"/>
              <a:ext cx="4322445" cy="295910"/>
            </a:xfrm>
            <a:custGeom>
              <a:avLst/>
              <a:gdLst/>
              <a:ahLst/>
              <a:cxnLst/>
              <a:rect l="l" t="t" r="r" b="b"/>
              <a:pathLst>
                <a:path w="4322445" h="295910">
                  <a:moveTo>
                    <a:pt x="0" y="0"/>
                  </a:moveTo>
                  <a:lnTo>
                    <a:pt x="4322064" y="0"/>
                  </a:lnTo>
                  <a:lnTo>
                    <a:pt x="4322064" y="192151"/>
                  </a:lnTo>
                  <a:lnTo>
                    <a:pt x="2197988" y="192151"/>
                  </a:lnTo>
                  <a:lnTo>
                    <a:pt x="2197988" y="221742"/>
                  </a:lnTo>
                  <a:lnTo>
                    <a:pt x="2234946" y="221742"/>
                  </a:lnTo>
                  <a:lnTo>
                    <a:pt x="2161032" y="295656"/>
                  </a:lnTo>
                  <a:lnTo>
                    <a:pt x="2087118" y="221742"/>
                  </a:lnTo>
                  <a:lnTo>
                    <a:pt x="2124074" y="221742"/>
                  </a:lnTo>
                  <a:lnTo>
                    <a:pt x="2124074" y="192151"/>
                  </a:lnTo>
                  <a:lnTo>
                    <a:pt x="0" y="192151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7511" y="2755353"/>
              <a:ext cx="998016" cy="1629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9957" y="2768853"/>
              <a:ext cx="965708" cy="1327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56559" y="2880359"/>
              <a:ext cx="289560" cy="1082040"/>
            </a:xfrm>
            <a:custGeom>
              <a:avLst/>
              <a:gdLst/>
              <a:ahLst/>
              <a:cxnLst/>
              <a:rect l="l" t="t" r="r" b="b"/>
              <a:pathLst>
                <a:path w="289560" h="1082039">
                  <a:moveTo>
                    <a:pt x="217169" y="0"/>
                  </a:moveTo>
                  <a:lnTo>
                    <a:pt x="72389" y="0"/>
                  </a:lnTo>
                  <a:lnTo>
                    <a:pt x="72389" y="937260"/>
                  </a:lnTo>
                  <a:lnTo>
                    <a:pt x="0" y="937260"/>
                  </a:lnTo>
                  <a:lnTo>
                    <a:pt x="144779" y="1082039"/>
                  </a:lnTo>
                  <a:lnTo>
                    <a:pt x="289559" y="937260"/>
                  </a:lnTo>
                  <a:lnTo>
                    <a:pt x="217169" y="937260"/>
                  </a:lnTo>
                  <a:lnTo>
                    <a:pt x="21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56559" y="2880359"/>
              <a:ext cx="289560" cy="1082040"/>
            </a:xfrm>
            <a:custGeom>
              <a:avLst/>
              <a:gdLst/>
              <a:ahLst/>
              <a:cxnLst/>
              <a:rect l="l" t="t" r="r" b="b"/>
              <a:pathLst>
                <a:path w="289560" h="1082039">
                  <a:moveTo>
                    <a:pt x="0" y="937260"/>
                  </a:moveTo>
                  <a:lnTo>
                    <a:pt x="72389" y="937260"/>
                  </a:lnTo>
                  <a:lnTo>
                    <a:pt x="72389" y="0"/>
                  </a:lnTo>
                  <a:lnTo>
                    <a:pt x="217169" y="0"/>
                  </a:lnTo>
                  <a:lnTo>
                    <a:pt x="217169" y="937260"/>
                  </a:lnTo>
                  <a:lnTo>
                    <a:pt x="289559" y="937260"/>
                  </a:lnTo>
                  <a:lnTo>
                    <a:pt x="144779" y="1082039"/>
                  </a:lnTo>
                  <a:lnTo>
                    <a:pt x="0" y="93726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02552" y="2877311"/>
              <a:ext cx="287020" cy="1082040"/>
            </a:xfrm>
            <a:custGeom>
              <a:avLst/>
              <a:gdLst/>
              <a:ahLst/>
              <a:cxnLst/>
              <a:rect l="l" t="t" r="r" b="b"/>
              <a:pathLst>
                <a:path w="287020" h="1082039">
                  <a:moveTo>
                    <a:pt x="214883" y="0"/>
                  </a:moveTo>
                  <a:lnTo>
                    <a:pt x="71627" y="0"/>
                  </a:lnTo>
                  <a:lnTo>
                    <a:pt x="71627" y="938784"/>
                  </a:lnTo>
                  <a:lnTo>
                    <a:pt x="0" y="938784"/>
                  </a:lnTo>
                  <a:lnTo>
                    <a:pt x="143255" y="1082040"/>
                  </a:lnTo>
                  <a:lnTo>
                    <a:pt x="286512" y="938784"/>
                  </a:lnTo>
                  <a:lnTo>
                    <a:pt x="214883" y="938784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02552" y="2877311"/>
              <a:ext cx="287020" cy="1082040"/>
            </a:xfrm>
            <a:custGeom>
              <a:avLst/>
              <a:gdLst/>
              <a:ahLst/>
              <a:cxnLst/>
              <a:rect l="l" t="t" r="r" b="b"/>
              <a:pathLst>
                <a:path w="287020" h="1082039">
                  <a:moveTo>
                    <a:pt x="0" y="938784"/>
                  </a:moveTo>
                  <a:lnTo>
                    <a:pt x="71627" y="938784"/>
                  </a:lnTo>
                  <a:lnTo>
                    <a:pt x="71627" y="0"/>
                  </a:lnTo>
                  <a:lnTo>
                    <a:pt x="214883" y="0"/>
                  </a:lnTo>
                  <a:lnTo>
                    <a:pt x="214883" y="938784"/>
                  </a:lnTo>
                  <a:lnTo>
                    <a:pt x="286512" y="938784"/>
                  </a:lnTo>
                  <a:lnTo>
                    <a:pt x="143255" y="1082040"/>
                  </a:lnTo>
                  <a:lnTo>
                    <a:pt x="0" y="938784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47341" y="4054246"/>
            <a:ext cx="219964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BUS</a:t>
            </a:r>
            <a:r>
              <a:rPr sz="1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Cambria"/>
                <a:cs typeface="Cambria"/>
              </a:rPr>
              <a:t>INTERFACE</a:t>
            </a:r>
            <a:r>
              <a:rPr sz="14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mbria"/>
                <a:cs typeface="Cambria"/>
              </a:rPr>
              <a:t>UNIT(BIU)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64960" y="4109415"/>
            <a:ext cx="18014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Cambria"/>
                <a:cs typeface="Cambria"/>
              </a:rPr>
              <a:t>EXECUTION</a:t>
            </a:r>
            <a:r>
              <a:rPr sz="1400" b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mbria"/>
                <a:cs typeface="Cambria"/>
              </a:rPr>
              <a:t>UNIT(EU)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5" y="21335"/>
            <a:ext cx="8857488" cy="359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4188" y="493013"/>
            <a:ext cx="8483600" cy="4239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BIU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fetch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memory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20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BIU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calculate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Physical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Address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20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2000" dirty="0">
                <a:latin typeface="Cambria"/>
                <a:cs typeface="Cambria"/>
              </a:rPr>
              <a:t>BIU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manage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Queue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20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8450" algn="l"/>
                <a:tab pos="1006475" algn="l"/>
                <a:tab pos="1734820" algn="l"/>
                <a:tab pos="3064510" algn="l"/>
                <a:tab pos="4043045" algn="l"/>
                <a:tab pos="4329430" algn="l"/>
                <a:tab pos="5339080" algn="l"/>
                <a:tab pos="6073775" algn="l"/>
                <a:tab pos="7055484" algn="l"/>
                <a:tab pos="7549515" algn="l"/>
              </a:tabLst>
            </a:pPr>
            <a:r>
              <a:rPr sz="2000" spc="-10" dirty="0">
                <a:latin typeface="Cambria"/>
                <a:cs typeface="Cambria"/>
              </a:rPr>
              <a:t>Here,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0" dirty="0">
                <a:latin typeface="Cambria"/>
                <a:cs typeface="Cambria"/>
              </a:rPr>
              <a:t>every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address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changes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offset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address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not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segment</a:t>
            </a:r>
            <a:endParaRPr sz="20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2000" spc="-10" dirty="0">
                <a:latin typeface="Cambria"/>
                <a:cs typeface="Cambria"/>
              </a:rPr>
              <a:t>address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Here,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Code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Segment(CS)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GIVES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STARTING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ADDRESS</a:t>
            </a:r>
            <a:endParaRPr sz="2000">
              <a:latin typeface="Cambria"/>
              <a:cs typeface="Cambria"/>
            </a:endParaRPr>
          </a:p>
          <a:p>
            <a:pPr marL="297815" marR="5080" indent="-285750">
              <a:lnSpc>
                <a:spcPct val="150100"/>
              </a:lnSpc>
              <a:spcBef>
                <a:spcPts val="1964"/>
              </a:spcBef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Here,</a:t>
            </a:r>
            <a:r>
              <a:rPr sz="2000" spc="3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</a:t>
            </a:r>
            <a:r>
              <a:rPr sz="2000" spc="3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Pointer(IP)</a:t>
            </a:r>
            <a:r>
              <a:rPr sz="2000" spc="3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always</a:t>
            </a:r>
            <a:r>
              <a:rPr sz="2000" spc="3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goes</a:t>
            </a:r>
            <a:r>
              <a:rPr sz="2000" spc="3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3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increases</a:t>
            </a:r>
            <a:r>
              <a:rPr sz="2000" spc="3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give</a:t>
            </a:r>
            <a:r>
              <a:rPr sz="2000" spc="3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</a:t>
            </a:r>
            <a:r>
              <a:rPr sz="2000" spc="3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i.e., 	</a:t>
            </a:r>
            <a:r>
              <a:rPr sz="2000" dirty="0">
                <a:latin typeface="Cambria"/>
                <a:cs typeface="Cambria"/>
              </a:rPr>
              <a:t>offset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next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5950" y="335991"/>
            <a:ext cx="315595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divided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into 4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parts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82461" y="823924"/>
            <a:ext cx="16967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Cambria"/>
                <a:cs typeface="Cambria"/>
              </a:rPr>
              <a:t>called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Segments.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95950" y="1312291"/>
            <a:ext cx="26009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Segments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presented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2461" y="1800225"/>
            <a:ext cx="7645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Cambria"/>
                <a:cs typeface="Cambria"/>
              </a:rPr>
              <a:t>memory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5950" y="2288285"/>
            <a:ext cx="31115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Segment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presented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2461" y="2776219"/>
            <a:ext cx="29381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in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they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contain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address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2461" y="3264153"/>
            <a:ext cx="16478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of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all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segments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5950" y="3752189"/>
            <a:ext cx="30886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dirty="0">
                <a:latin typeface="Cambria"/>
                <a:cs typeface="Cambria"/>
              </a:rPr>
              <a:t>Processor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calculate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real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address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2461" y="4240174"/>
            <a:ext cx="17024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or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physical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address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09009" y="291210"/>
            <a:ext cx="170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Contains</a:t>
            </a:r>
            <a:r>
              <a:rPr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program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806952" y="1569758"/>
            <a:ext cx="422275" cy="422275"/>
            <a:chOff x="3806952" y="1569758"/>
            <a:chExt cx="422275" cy="4222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6952" y="1569758"/>
              <a:ext cx="421982" cy="42198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3180" y="1706879"/>
              <a:ext cx="224662" cy="22466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745738" y="1279398"/>
            <a:ext cx="169926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Contains</a:t>
            </a:r>
            <a:r>
              <a:rPr sz="1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stack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i.e.,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functions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allocated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6952" y="3182137"/>
            <a:ext cx="715010" cy="1022985"/>
            <a:chOff x="3806952" y="3182137"/>
            <a:chExt cx="715010" cy="102298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6952" y="3675887"/>
              <a:ext cx="486003" cy="5286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52545" y="3813047"/>
              <a:ext cx="288925" cy="332105"/>
            </a:xfrm>
            <a:custGeom>
              <a:avLst/>
              <a:gdLst/>
              <a:ahLst/>
              <a:cxnLst/>
              <a:rect l="l" t="t" r="r" b="b"/>
              <a:pathLst>
                <a:path w="288925" h="332104">
                  <a:moveTo>
                    <a:pt x="257276" y="36638"/>
                  </a:moveTo>
                  <a:lnTo>
                    <a:pt x="234401" y="44472"/>
                  </a:lnTo>
                  <a:lnTo>
                    <a:pt x="0" y="316064"/>
                  </a:lnTo>
                  <a:lnTo>
                    <a:pt x="18541" y="332003"/>
                  </a:lnTo>
                  <a:lnTo>
                    <a:pt x="252734" y="60578"/>
                  </a:lnTo>
                  <a:lnTo>
                    <a:pt x="252852" y="60442"/>
                  </a:lnTo>
                  <a:lnTo>
                    <a:pt x="257276" y="36638"/>
                  </a:lnTo>
                  <a:close/>
                </a:path>
                <a:path w="288925" h="332104">
                  <a:moveTo>
                    <a:pt x="287012" y="10287"/>
                  </a:moveTo>
                  <a:lnTo>
                    <a:pt x="263905" y="10287"/>
                  </a:lnTo>
                  <a:lnTo>
                    <a:pt x="282320" y="26288"/>
                  </a:lnTo>
                  <a:lnTo>
                    <a:pt x="252852" y="60442"/>
                  </a:lnTo>
                  <a:lnTo>
                    <a:pt x="244982" y="102781"/>
                  </a:lnTo>
                  <a:lnTo>
                    <a:pt x="243839" y="109397"/>
                  </a:lnTo>
                  <a:lnTo>
                    <a:pt x="248157" y="115760"/>
                  </a:lnTo>
                  <a:lnTo>
                    <a:pt x="261365" y="118224"/>
                  </a:lnTo>
                  <a:lnTo>
                    <a:pt x="267715" y="113855"/>
                  </a:lnTo>
                  <a:lnTo>
                    <a:pt x="268985" y="107238"/>
                  </a:lnTo>
                  <a:lnTo>
                    <a:pt x="287012" y="10287"/>
                  </a:lnTo>
                  <a:close/>
                </a:path>
                <a:path w="288925" h="332104">
                  <a:moveTo>
                    <a:pt x="288925" y="0"/>
                  </a:moveTo>
                  <a:lnTo>
                    <a:pt x="185800" y="35432"/>
                  </a:lnTo>
                  <a:lnTo>
                    <a:pt x="179324" y="37591"/>
                  </a:lnTo>
                  <a:lnTo>
                    <a:pt x="176029" y="44472"/>
                  </a:lnTo>
                  <a:lnTo>
                    <a:pt x="178180" y="50926"/>
                  </a:lnTo>
                  <a:lnTo>
                    <a:pt x="180339" y="57276"/>
                  </a:lnTo>
                  <a:lnTo>
                    <a:pt x="187325" y="60578"/>
                  </a:lnTo>
                  <a:lnTo>
                    <a:pt x="234401" y="44472"/>
                  </a:lnTo>
                  <a:lnTo>
                    <a:pt x="263905" y="10287"/>
                  </a:lnTo>
                  <a:lnTo>
                    <a:pt x="287012" y="10287"/>
                  </a:lnTo>
                  <a:lnTo>
                    <a:pt x="288925" y="0"/>
                  </a:lnTo>
                  <a:close/>
                </a:path>
                <a:path w="288925" h="332104">
                  <a:moveTo>
                    <a:pt x="270482" y="16001"/>
                  </a:moveTo>
                  <a:lnTo>
                    <a:pt x="261112" y="16001"/>
                  </a:lnTo>
                  <a:lnTo>
                    <a:pt x="277113" y="29844"/>
                  </a:lnTo>
                  <a:lnTo>
                    <a:pt x="257276" y="36638"/>
                  </a:lnTo>
                  <a:lnTo>
                    <a:pt x="252852" y="60442"/>
                  </a:lnTo>
                  <a:lnTo>
                    <a:pt x="282320" y="26288"/>
                  </a:lnTo>
                  <a:lnTo>
                    <a:pt x="270482" y="16001"/>
                  </a:lnTo>
                  <a:close/>
                </a:path>
                <a:path w="288925" h="332104">
                  <a:moveTo>
                    <a:pt x="263905" y="10287"/>
                  </a:moveTo>
                  <a:lnTo>
                    <a:pt x="234401" y="44472"/>
                  </a:lnTo>
                  <a:lnTo>
                    <a:pt x="257276" y="36638"/>
                  </a:lnTo>
                  <a:lnTo>
                    <a:pt x="261112" y="16001"/>
                  </a:lnTo>
                  <a:lnTo>
                    <a:pt x="270482" y="16001"/>
                  </a:lnTo>
                  <a:lnTo>
                    <a:pt x="263905" y="10287"/>
                  </a:lnTo>
                  <a:close/>
                </a:path>
                <a:path w="288925" h="332104">
                  <a:moveTo>
                    <a:pt x="261112" y="16001"/>
                  </a:moveTo>
                  <a:lnTo>
                    <a:pt x="257276" y="36638"/>
                  </a:lnTo>
                  <a:lnTo>
                    <a:pt x="277113" y="29844"/>
                  </a:lnTo>
                  <a:lnTo>
                    <a:pt x="261112" y="16001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6680" y="3182137"/>
              <a:ext cx="604837" cy="4768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61638" y="3208527"/>
              <a:ext cx="407670" cy="280670"/>
            </a:xfrm>
            <a:custGeom>
              <a:avLst/>
              <a:gdLst/>
              <a:ahLst/>
              <a:cxnLst/>
              <a:rect l="l" t="t" r="r" b="b"/>
              <a:pathLst>
                <a:path w="407670" h="280670">
                  <a:moveTo>
                    <a:pt x="293370" y="248284"/>
                  </a:moveTo>
                  <a:lnTo>
                    <a:pt x="287527" y="253491"/>
                  </a:lnTo>
                  <a:lnTo>
                    <a:pt x="287147" y="260095"/>
                  </a:lnTo>
                  <a:lnTo>
                    <a:pt x="286638" y="266826"/>
                  </a:lnTo>
                  <a:lnTo>
                    <a:pt x="291719" y="272669"/>
                  </a:lnTo>
                  <a:lnTo>
                    <a:pt x="407415" y="280162"/>
                  </a:lnTo>
                  <a:lnTo>
                    <a:pt x="405818" y="276859"/>
                  </a:lnTo>
                  <a:lnTo>
                    <a:pt x="380491" y="276859"/>
                  </a:lnTo>
                  <a:lnTo>
                    <a:pt x="342995" y="251578"/>
                  </a:lnTo>
                  <a:lnTo>
                    <a:pt x="300100" y="248793"/>
                  </a:lnTo>
                  <a:lnTo>
                    <a:pt x="293370" y="248284"/>
                  </a:lnTo>
                  <a:close/>
                </a:path>
                <a:path w="407670" h="280670">
                  <a:moveTo>
                    <a:pt x="342995" y="251578"/>
                  </a:moveTo>
                  <a:lnTo>
                    <a:pt x="380491" y="276859"/>
                  </a:lnTo>
                  <a:lnTo>
                    <a:pt x="383719" y="272033"/>
                  </a:lnTo>
                  <a:lnTo>
                    <a:pt x="376300" y="272033"/>
                  </a:lnTo>
                  <a:lnTo>
                    <a:pt x="367190" y="253149"/>
                  </a:lnTo>
                  <a:lnTo>
                    <a:pt x="342995" y="251578"/>
                  </a:lnTo>
                  <a:close/>
                </a:path>
                <a:path w="407670" h="280670">
                  <a:moveTo>
                    <a:pt x="349758" y="173354"/>
                  </a:moveTo>
                  <a:lnTo>
                    <a:pt x="337565" y="179196"/>
                  </a:lnTo>
                  <a:lnTo>
                    <a:pt x="335025" y="186435"/>
                  </a:lnTo>
                  <a:lnTo>
                    <a:pt x="337947" y="192531"/>
                  </a:lnTo>
                  <a:lnTo>
                    <a:pt x="356645" y="231291"/>
                  </a:lnTo>
                  <a:lnTo>
                    <a:pt x="394081" y="256539"/>
                  </a:lnTo>
                  <a:lnTo>
                    <a:pt x="380491" y="276859"/>
                  </a:lnTo>
                  <a:lnTo>
                    <a:pt x="405818" y="276859"/>
                  </a:lnTo>
                  <a:lnTo>
                    <a:pt x="359917" y="181990"/>
                  </a:lnTo>
                  <a:lnTo>
                    <a:pt x="356997" y="175894"/>
                  </a:lnTo>
                  <a:lnTo>
                    <a:pt x="349758" y="173354"/>
                  </a:lnTo>
                  <a:close/>
                </a:path>
                <a:path w="407670" h="280670">
                  <a:moveTo>
                    <a:pt x="367190" y="253149"/>
                  </a:moveTo>
                  <a:lnTo>
                    <a:pt x="376300" y="272033"/>
                  </a:lnTo>
                  <a:lnTo>
                    <a:pt x="388112" y="254507"/>
                  </a:lnTo>
                  <a:lnTo>
                    <a:pt x="367190" y="253149"/>
                  </a:lnTo>
                  <a:close/>
                </a:path>
                <a:path w="407670" h="280670">
                  <a:moveTo>
                    <a:pt x="356645" y="231291"/>
                  </a:moveTo>
                  <a:lnTo>
                    <a:pt x="367190" y="253149"/>
                  </a:lnTo>
                  <a:lnTo>
                    <a:pt x="388112" y="254507"/>
                  </a:lnTo>
                  <a:lnTo>
                    <a:pt x="376300" y="272033"/>
                  </a:lnTo>
                  <a:lnTo>
                    <a:pt x="383719" y="272033"/>
                  </a:lnTo>
                  <a:lnTo>
                    <a:pt x="394081" y="256539"/>
                  </a:lnTo>
                  <a:lnTo>
                    <a:pt x="356645" y="231291"/>
                  </a:lnTo>
                  <a:close/>
                </a:path>
                <a:path w="407670" h="280670">
                  <a:moveTo>
                    <a:pt x="13715" y="0"/>
                  </a:moveTo>
                  <a:lnTo>
                    <a:pt x="0" y="20319"/>
                  </a:lnTo>
                  <a:lnTo>
                    <a:pt x="342995" y="251578"/>
                  </a:lnTo>
                  <a:lnTo>
                    <a:pt x="367190" y="253149"/>
                  </a:lnTo>
                  <a:lnTo>
                    <a:pt x="356645" y="231291"/>
                  </a:lnTo>
                  <a:lnTo>
                    <a:pt x="1371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04005" y="3509898"/>
            <a:ext cx="16002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random</a:t>
            </a:r>
            <a:r>
              <a:rPr sz="1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404" y="224789"/>
            <a:ext cx="8266430" cy="47599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36550" indent="-285750" algn="just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Why</a:t>
            </a:r>
            <a:r>
              <a:rPr sz="1800" b="1" spc="-5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we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calculate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Physical</a:t>
            </a:r>
            <a:r>
              <a:rPr sz="1800" b="1" spc="-5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address</a:t>
            </a:r>
            <a:r>
              <a:rPr sz="1800" b="1" spc="-6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335915" marR="17780" indent="-285750" algn="just">
              <a:lnSpc>
                <a:spcPct val="150100"/>
              </a:lnSpc>
              <a:buFont typeface="Wingdings"/>
              <a:buChar char=""/>
              <a:tabLst>
                <a:tab pos="337185" algn="l"/>
              </a:tabLst>
            </a:pPr>
            <a:r>
              <a:rPr sz="1800" dirty="0">
                <a:latin typeface="Cambria"/>
                <a:cs typeface="Cambria"/>
              </a:rPr>
              <a:t>For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example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you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every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location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your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mobile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phone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laptop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very 	</a:t>
            </a:r>
            <a:r>
              <a:rPr sz="1800" dirty="0">
                <a:latin typeface="Cambria"/>
                <a:cs typeface="Cambria"/>
              </a:rPr>
              <a:t>typical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because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like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folder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inside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file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virtual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25" dirty="0">
                <a:latin typeface="Cambria"/>
                <a:cs typeface="Cambria"/>
              </a:rPr>
              <a:t> is 	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real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address.</a:t>
            </a:r>
            <a:endParaRPr sz="1800">
              <a:latin typeface="Cambria"/>
              <a:cs typeface="Cambria"/>
            </a:endParaRPr>
          </a:p>
          <a:p>
            <a:pPr marL="336550" indent="-285750" algn="just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dirty="0">
                <a:latin typeface="Cambria"/>
                <a:cs typeface="Cambria"/>
              </a:rPr>
              <a:t>Every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location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has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own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physical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address.</a:t>
            </a:r>
            <a:endParaRPr sz="1800">
              <a:latin typeface="Cambria"/>
              <a:cs typeface="Cambria"/>
            </a:endParaRPr>
          </a:p>
          <a:p>
            <a:pPr marL="336550" indent="-28575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spc="-65" dirty="0">
                <a:latin typeface="Cambria"/>
                <a:cs typeface="Cambria"/>
              </a:rPr>
              <a:t>To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calculate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Physical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following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formula</a:t>
            </a:r>
            <a:endParaRPr sz="1800">
              <a:latin typeface="Cambria"/>
              <a:cs typeface="Cambria"/>
            </a:endParaRPr>
          </a:p>
          <a:p>
            <a:pPr marL="3371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37185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ADDRESS=SEGMENT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 REGISTER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ADDRESS*10H+OFFSET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endParaRPr sz="18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latin typeface="Cambria"/>
                <a:cs typeface="Cambria"/>
              </a:rPr>
              <a:t>Assume:</a:t>
            </a:r>
            <a:endParaRPr sz="1800">
              <a:latin typeface="Cambria"/>
              <a:cs typeface="Cambria"/>
            </a:endParaRPr>
          </a:p>
          <a:p>
            <a:pPr marL="336550" indent="-285750">
              <a:lnSpc>
                <a:spcPct val="100000"/>
              </a:lnSpc>
              <a:spcBef>
                <a:spcPts val="1739"/>
              </a:spcBef>
              <a:buFont typeface="Wingdings"/>
              <a:buChar char=""/>
              <a:tabLst>
                <a:tab pos="336550" algn="l"/>
              </a:tabLst>
            </a:pP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SEGMENT</a:t>
            </a:r>
            <a:r>
              <a:rPr sz="16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REGISTER</a:t>
            </a:r>
            <a:r>
              <a:rPr sz="16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ADDRESS=1000H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336550" indent="-285750">
              <a:lnSpc>
                <a:spcPct val="100000"/>
              </a:lnSpc>
              <a:buFont typeface="Wingdings"/>
              <a:buChar char=""/>
              <a:tabLst>
                <a:tab pos="336550" algn="l"/>
              </a:tabLst>
            </a:pP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OFFSET</a:t>
            </a:r>
            <a:r>
              <a:rPr sz="16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ADDRESS=12345H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336550" indent="-285750">
              <a:lnSpc>
                <a:spcPct val="100000"/>
              </a:lnSpc>
              <a:buFont typeface="Wingdings"/>
              <a:buChar char=""/>
              <a:tabLst>
                <a:tab pos="336550" algn="l"/>
              </a:tabLst>
            </a:pP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SO,PHYSICAL</a:t>
            </a:r>
            <a:r>
              <a:rPr sz="1600" b="1" spc="2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A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DDR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E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SS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=1000</a:t>
            </a:r>
            <a:r>
              <a:rPr sz="1600" b="1" spc="-15" dirty="0">
                <a:solidFill>
                  <a:srgbClr val="6F2F9F"/>
                </a:solidFill>
                <a:latin typeface="Cambria"/>
                <a:cs typeface="Cambria"/>
              </a:rPr>
              <a:t>H*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10</a:t>
            </a:r>
            <a:r>
              <a:rPr sz="1600" b="1" spc="-760" dirty="0">
                <a:solidFill>
                  <a:srgbClr val="6F2F9F"/>
                </a:solidFill>
                <a:latin typeface="Cambria"/>
                <a:cs typeface="Cambria"/>
              </a:rPr>
              <a:t>H</a:t>
            </a:r>
            <a:r>
              <a:rPr sz="1800" baseline="-9259" dirty="0">
                <a:solidFill>
                  <a:srgbClr val="888888"/>
                </a:solidFill>
                <a:latin typeface="Calibri"/>
                <a:cs typeface="Calibri"/>
              </a:rPr>
              <a:t>II</a:t>
            </a:r>
            <a:r>
              <a:rPr sz="1800" spc="-284" baseline="-925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600" b="1" spc="-765" dirty="0">
                <a:solidFill>
                  <a:srgbClr val="6F2F9F"/>
                </a:solidFill>
                <a:latin typeface="Cambria"/>
                <a:cs typeface="Cambria"/>
              </a:rPr>
              <a:t>+</a:t>
            </a:r>
            <a:r>
              <a:rPr sz="1800" spc="-22" baseline="-9259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7" baseline="-925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330" baseline="-925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600" b="1" spc="-750" dirty="0">
                <a:solidFill>
                  <a:srgbClr val="6F2F9F"/>
                </a:solidFill>
                <a:latin typeface="Cambria"/>
                <a:cs typeface="Cambria"/>
              </a:rPr>
              <a:t>1</a:t>
            </a:r>
            <a:r>
              <a:rPr sz="1800" spc="-15" baseline="-9259" dirty="0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800" spc="-1380" baseline="-9259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600" b="1" spc="-55" dirty="0">
                <a:solidFill>
                  <a:srgbClr val="6F2F9F"/>
                </a:solidFill>
                <a:latin typeface="Cambria"/>
                <a:cs typeface="Cambria"/>
              </a:rPr>
              <a:t>2</a:t>
            </a:r>
            <a:r>
              <a:rPr sz="1800" spc="-892" baseline="-9259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600" b="1" spc="-390" dirty="0">
                <a:solidFill>
                  <a:srgbClr val="6F2F9F"/>
                </a:solidFill>
                <a:latin typeface="Cambria"/>
                <a:cs typeface="Cambria"/>
              </a:rPr>
              <a:t>3</a:t>
            </a:r>
            <a:r>
              <a:rPr sz="1800" spc="-1019" baseline="-9259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600" b="1" spc="-295" dirty="0">
                <a:solidFill>
                  <a:srgbClr val="6F2F9F"/>
                </a:solidFill>
                <a:latin typeface="Cambria"/>
                <a:cs typeface="Cambria"/>
              </a:rPr>
              <a:t>4</a:t>
            </a:r>
            <a:r>
              <a:rPr sz="1800" spc="-547" baseline="-9259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600" b="1" spc="-815" dirty="0">
                <a:solidFill>
                  <a:srgbClr val="6F2F9F"/>
                </a:solidFill>
                <a:latin typeface="Cambria"/>
                <a:cs typeface="Cambria"/>
              </a:rPr>
              <a:t>H</a:t>
            </a:r>
            <a:r>
              <a:rPr sz="1800" spc="-15" baseline="-9259" dirty="0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800" spc="-900" baseline="-9259" dirty="0">
                <a:solidFill>
                  <a:srgbClr val="888888"/>
                </a:solidFill>
                <a:latin typeface="Calibri"/>
                <a:cs typeface="Calibri"/>
              </a:rPr>
              <a:t>U</a:t>
            </a:r>
            <a:r>
              <a:rPr sz="1600" b="1" spc="-385" dirty="0">
                <a:solidFill>
                  <a:srgbClr val="6F2F9F"/>
                </a:solidFill>
                <a:latin typeface="Cambria"/>
                <a:cs typeface="Cambria"/>
              </a:rPr>
              <a:t>=</a:t>
            </a:r>
            <a:r>
              <a:rPr sz="1800" spc="-615" baseline="-9259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600" b="1" spc="-580" dirty="0">
                <a:solidFill>
                  <a:srgbClr val="6F2F9F"/>
                </a:solidFill>
                <a:latin typeface="Cambria"/>
                <a:cs typeface="Cambria"/>
              </a:rPr>
              <a:t>1</a:t>
            </a:r>
            <a:r>
              <a:rPr sz="1800" spc="-7" baseline="-9259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547" baseline="-9259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600" b="1" spc="-620" dirty="0">
                <a:solidFill>
                  <a:srgbClr val="6F2F9F"/>
                </a:solidFill>
                <a:latin typeface="Cambria"/>
                <a:cs typeface="Cambria"/>
              </a:rPr>
              <a:t>2</a:t>
            </a:r>
            <a:r>
              <a:rPr sz="1800" spc="-30" baseline="-9259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315" baseline="-9259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600" b="1" spc="-450" dirty="0">
                <a:solidFill>
                  <a:srgbClr val="6F2F9F"/>
                </a:solidFill>
                <a:latin typeface="Cambria"/>
                <a:cs typeface="Cambria"/>
              </a:rPr>
              <a:t>3</a:t>
            </a:r>
            <a:r>
              <a:rPr sz="1800" spc="187" baseline="-9259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600" b="1" spc="160" dirty="0">
                <a:solidFill>
                  <a:srgbClr val="6F2F9F"/>
                </a:solidFill>
                <a:latin typeface="Cambria"/>
                <a:cs typeface="Cambria"/>
              </a:rPr>
              <a:t>4</a:t>
            </a:r>
            <a:r>
              <a:rPr sz="1600" b="1" spc="135" dirty="0">
                <a:solidFill>
                  <a:srgbClr val="6F2F9F"/>
                </a:solidFill>
                <a:latin typeface="Cambria"/>
                <a:cs typeface="Cambria"/>
              </a:rPr>
              <a:t>5</a:t>
            </a:r>
            <a:r>
              <a:rPr sz="1600" b="1" spc="155" dirty="0">
                <a:solidFill>
                  <a:srgbClr val="6F2F9F"/>
                </a:solidFill>
                <a:latin typeface="Cambria"/>
                <a:cs typeface="Cambria"/>
              </a:rPr>
              <a:t>H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437" y="177451"/>
            <a:ext cx="8327390" cy="39604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Cambria"/>
                <a:cs typeface="Cambria"/>
              </a:rPr>
              <a:t>Both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CS,IP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next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instructions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through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bus.</a:t>
            </a:r>
            <a:endParaRPr sz="1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965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Buses</a:t>
            </a:r>
            <a:r>
              <a:rPr sz="16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are</a:t>
            </a:r>
            <a:r>
              <a:rPr sz="16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mbria"/>
                <a:cs typeface="Cambria"/>
              </a:rPr>
              <a:t>three</a:t>
            </a:r>
            <a:r>
              <a:rPr sz="16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mbria"/>
                <a:cs typeface="Cambria"/>
              </a:rPr>
              <a:t>types:</a:t>
            </a:r>
            <a:endParaRPr sz="1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b="1" spc="-10" dirty="0">
                <a:latin typeface="Cambria"/>
                <a:cs typeface="Cambria"/>
              </a:rPr>
              <a:t>Address</a:t>
            </a:r>
            <a:r>
              <a:rPr sz="1600" b="1" spc="-7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bus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gave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code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bus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gave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read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signal</a:t>
            </a:r>
            <a:r>
              <a:rPr sz="1600" spc="3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10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from</a:t>
            </a:r>
            <a:endParaRPr sz="16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through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Data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Bus.</a:t>
            </a:r>
            <a:endParaRPr sz="1600">
              <a:latin typeface="Cambria"/>
              <a:cs typeface="Cambria"/>
            </a:endParaRPr>
          </a:p>
          <a:p>
            <a:pPr marL="299085" marR="5080" indent="-287020">
              <a:lnSpc>
                <a:spcPts val="3840"/>
              </a:lnSpc>
              <a:spcBef>
                <a:spcPts val="21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Cambria"/>
                <a:cs typeface="Cambria"/>
              </a:rPr>
              <a:t>BIU </a:t>
            </a:r>
            <a:r>
              <a:rPr sz="1600" b="1" spc="-10" dirty="0">
                <a:latin typeface="Cambria"/>
                <a:cs typeface="Cambria"/>
              </a:rPr>
              <a:t>Fetching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instructions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in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advance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is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called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as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pre-</a:t>
            </a:r>
            <a:r>
              <a:rPr sz="1600" b="1" spc="-10" dirty="0">
                <a:latin typeface="Cambria"/>
                <a:cs typeface="Cambria"/>
              </a:rPr>
              <a:t>fetching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from</a:t>
            </a:r>
            <a:r>
              <a:rPr sz="1600" b="1" spc="-1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memory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comes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into </a:t>
            </a:r>
            <a:r>
              <a:rPr sz="1600" b="1" spc="-10" dirty="0">
                <a:latin typeface="Cambria"/>
                <a:cs typeface="Cambria"/>
              </a:rPr>
              <a:t>Instruction </a:t>
            </a:r>
            <a:r>
              <a:rPr sz="1600" b="1" dirty="0">
                <a:latin typeface="Cambria"/>
                <a:cs typeface="Cambria"/>
              </a:rPr>
              <a:t>Queue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through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data</a:t>
            </a:r>
            <a:r>
              <a:rPr sz="1600" b="1" spc="1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bus.</a:t>
            </a:r>
            <a:endParaRPr sz="16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148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spc="-10" dirty="0">
                <a:latin typeface="Cambria"/>
                <a:cs typeface="Cambria"/>
              </a:rPr>
              <a:t>Instruction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Queue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it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woks</a:t>
            </a:r>
            <a:r>
              <a:rPr sz="1600" b="1" spc="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on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First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In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First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Out(FIFO).</a:t>
            </a:r>
            <a:endParaRPr sz="1600">
              <a:latin typeface="Cambria"/>
              <a:cs typeface="Cambria"/>
            </a:endParaRPr>
          </a:p>
          <a:p>
            <a:pPr marL="299085" marR="640715" indent="-287020">
              <a:lnSpc>
                <a:spcPct val="192700"/>
              </a:lnSpc>
              <a:spcBef>
                <a:spcPts val="8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latin typeface="Cambria"/>
                <a:cs typeface="Cambria"/>
              </a:rPr>
              <a:t>So, In</a:t>
            </a:r>
            <a:r>
              <a:rPr sz="1600" b="1" spc="1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instruction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queue</a:t>
            </a:r>
            <a:r>
              <a:rPr sz="1600" b="1" spc="-6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,</a:t>
            </a:r>
            <a:r>
              <a:rPr sz="1600" b="1" spc="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the</a:t>
            </a:r>
            <a:r>
              <a:rPr sz="1600" b="1" spc="-10" dirty="0">
                <a:latin typeface="Cambria"/>
                <a:cs typeface="Cambria"/>
              </a:rPr>
              <a:t> instructions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are </a:t>
            </a:r>
            <a:r>
              <a:rPr sz="1800" b="1" spc="-25" dirty="0">
                <a:latin typeface="Cambria"/>
                <a:cs typeface="Cambria"/>
              </a:rPr>
              <a:t>move</a:t>
            </a:r>
            <a:r>
              <a:rPr sz="1800" b="1" spc="-8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to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Execution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Unit</a:t>
            </a:r>
            <a:r>
              <a:rPr sz="1600" b="1" spc="1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these instructions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are</a:t>
            </a:r>
            <a:r>
              <a:rPr sz="1600" b="1" spc="-10" dirty="0">
                <a:latin typeface="Cambria"/>
                <a:cs typeface="Cambria"/>
              </a:rPr>
              <a:t> executed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continuous.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9959" y="271271"/>
            <a:ext cx="1560576" cy="22128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19873" y="108584"/>
            <a:ext cx="1906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Cambria"/>
                <a:cs typeface="Cambria"/>
              </a:rPr>
              <a:t>Instruction</a:t>
            </a:r>
            <a:r>
              <a:rPr b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mbria"/>
                <a:cs typeface="Cambria"/>
              </a:rPr>
              <a:t>queue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437" y="30768"/>
            <a:ext cx="8267700" cy="44399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INSTRUCTION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QUEUE:</a:t>
            </a:r>
            <a:endParaRPr sz="1800">
              <a:latin typeface="Cambria"/>
              <a:cs typeface="Cambria"/>
            </a:endParaRPr>
          </a:p>
          <a:p>
            <a:pPr marL="586740" indent="-286385">
              <a:lnSpc>
                <a:spcPct val="100000"/>
              </a:lnSpc>
              <a:spcBef>
                <a:spcPts val="590"/>
              </a:spcBef>
              <a:buFont typeface="Wingdings"/>
              <a:buChar char=""/>
              <a:tabLst>
                <a:tab pos="586740" algn="l"/>
              </a:tabLst>
            </a:pPr>
            <a:r>
              <a:rPr sz="1600" dirty="0">
                <a:latin typeface="Cambria"/>
                <a:cs typeface="Cambria"/>
              </a:rPr>
              <a:t>In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instruction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queue</a:t>
            </a:r>
            <a:r>
              <a:rPr sz="1600" dirty="0">
                <a:latin typeface="Cambria"/>
                <a:cs typeface="Cambria"/>
              </a:rPr>
              <a:t>,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3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6-</a:t>
            </a:r>
            <a:r>
              <a:rPr sz="1600" dirty="0">
                <a:latin typeface="Cambria"/>
                <a:cs typeface="Cambria"/>
              </a:rPr>
              <a:t>byte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queue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20" dirty="0">
                <a:latin typeface="Cambria"/>
                <a:cs typeface="Cambria"/>
              </a:rPr>
              <a:t> used</a:t>
            </a:r>
            <a:endParaRPr sz="1600">
              <a:latin typeface="Cambria"/>
              <a:cs typeface="Cambria"/>
            </a:endParaRPr>
          </a:p>
          <a:p>
            <a:pPr marL="58737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store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fetching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from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memory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through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bus</a:t>
            </a:r>
            <a:endParaRPr sz="1600">
              <a:latin typeface="Cambria"/>
              <a:cs typeface="Cambria"/>
            </a:endParaRPr>
          </a:p>
          <a:p>
            <a:pPr marL="587375" marR="2161540" indent="-287020">
              <a:lnSpc>
                <a:spcPct val="150100"/>
              </a:lnSpc>
              <a:buFont typeface="Wingdings"/>
              <a:buChar char=""/>
              <a:tabLst>
                <a:tab pos="587375" algn="l"/>
              </a:tabLst>
            </a:pPr>
            <a:r>
              <a:rPr sz="1600" dirty="0">
                <a:latin typeface="Cambria"/>
                <a:cs typeface="Cambria"/>
              </a:rPr>
              <a:t>Number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queue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06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but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each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not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a </a:t>
            </a:r>
            <a:r>
              <a:rPr sz="1600" dirty="0">
                <a:latin typeface="Cambria"/>
                <a:cs typeface="Cambria"/>
              </a:rPr>
              <a:t>single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byte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all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10" dirty="0">
                <a:latin typeface="Cambria"/>
                <a:cs typeface="Cambria"/>
              </a:rPr>
              <a:t> instructions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not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having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same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and </a:t>
            </a:r>
            <a:r>
              <a:rPr sz="1600" dirty="0">
                <a:latin typeface="Cambria"/>
                <a:cs typeface="Cambria"/>
              </a:rPr>
              <a:t>maximum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6-Bytes.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600">
              <a:latin typeface="Cambria"/>
              <a:cs typeface="Cambria"/>
            </a:endParaRPr>
          </a:p>
          <a:p>
            <a:pPr marL="514984" indent="-286385">
              <a:lnSpc>
                <a:spcPct val="100000"/>
              </a:lnSpc>
              <a:buFont typeface="Wingdings"/>
              <a:buChar char=""/>
              <a:tabLst>
                <a:tab pos="514984" algn="l"/>
              </a:tabLst>
            </a:pPr>
            <a:r>
              <a:rPr sz="1800" dirty="0">
                <a:latin typeface="Cambria"/>
                <a:cs typeface="Cambria"/>
              </a:rPr>
              <a:t>Suppose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executed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.so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empty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queue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BIU</a:t>
            </a:r>
            <a:endParaRPr sz="1800">
              <a:latin typeface="Cambria"/>
              <a:cs typeface="Cambria"/>
            </a:endParaRPr>
          </a:p>
          <a:p>
            <a:pPr marL="514984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Cambria"/>
                <a:cs typeface="Cambria"/>
              </a:rPr>
              <a:t>not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anything.</a:t>
            </a:r>
            <a:endParaRPr sz="1800">
              <a:latin typeface="Cambria"/>
              <a:cs typeface="Cambria"/>
            </a:endParaRPr>
          </a:p>
          <a:p>
            <a:pPr marL="513715" marR="64769" indent="-285750">
              <a:lnSpc>
                <a:spcPct val="150100"/>
              </a:lnSpc>
              <a:buFont typeface="Wingdings"/>
              <a:buChar char=""/>
              <a:tabLst>
                <a:tab pos="514984" algn="l"/>
              </a:tabLst>
            </a:pPr>
            <a:r>
              <a:rPr sz="1800" dirty="0">
                <a:latin typeface="Cambria"/>
                <a:cs typeface="Cambria"/>
              </a:rPr>
              <a:t>Now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empty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BIU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fetches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filled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or 	</a:t>
            </a:r>
            <a:r>
              <a:rPr sz="1800" dirty="0">
                <a:latin typeface="Cambria"/>
                <a:cs typeface="Cambria"/>
              </a:rPr>
              <a:t>pre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fetching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through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bus.</a:t>
            </a:r>
            <a:endParaRPr sz="1800">
              <a:latin typeface="Cambria"/>
              <a:cs typeface="Cambria"/>
            </a:endParaRPr>
          </a:p>
          <a:p>
            <a:pPr marL="514984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514984" algn="l"/>
              </a:tabLst>
            </a:pPr>
            <a:r>
              <a:rPr sz="1800" dirty="0">
                <a:latin typeface="Cambria"/>
                <a:cs typeface="Cambria"/>
              </a:rPr>
              <a:t>Reason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microprocessor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16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processor.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26" y="88391"/>
            <a:ext cx="8253660" cy="3901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416" y="844295"/>
            <a:ext cx="6193536" cy="13716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82751" y="2950463"/>
            <a:ext cx="1179830" cy="399415"/>
          </a:xfrm>
          <a:custGeom>
            <a:avLst/>
            <a:gdLst/>
            <a:ahLst/>
            <a:cxnLst/>
            <a:rect l="l" t="t" r="r" b="b"/>
            <a:pathLst>
              <a:path w="1179830" h="399414">
                <a:moveTo>
                  <a:pt x="0" y="399288"/>
                </a:moveTo>
                <a:lnTo>
                  <a:pt x="1179576" y="399288"/>
                </a:lnTo>
                <a:lnTo>
                  <a:pt x="1179576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24384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711" y="2969513"/>
            <a:ext cx="10083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MEMORY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16607" y="2950463"/>
            <a:ext cx="3100070" cy="399415"/>
            <a:chOff x="1816607" y="2950463"/>
            <a:chExt cx="3100070" cy="3994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6607" y="3014484"/>
              <a:ext cx="818172" cy="3061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1565" y="3085337"/>
              <a:ext cx="621665" cy="116839"/>
            </a:xfrm>
            <a:custGeom>
              <a:avLst/>
              <a:gdLst/>
              <a:ahLst/>
              <a:cxnLst/>
              <a:rect l="l" t="t" r="r" b="b"/>
              <a:pathLst>
                <a:path w="621664" h="116839">
                  <a:moveTo>
                    <a:pt x="551561" y="72451"/>
                  </a:moveTo>
                  <a:lnTo>
                    <a:pt x="512952" y="91693"/>
                  </a:lnTo>
                  <a:lnTo>
                    <a:pt x="506856" y="94615"/>
                  </a:lnTo>
                  <a:lnTo>
                    <a:pt x="504444" y="101981"/>
                  </a:lnTo>
                  <a:lnTo>
                    <a:pt x="507364" y="107950"/>
                  </a:lnTo>
                  <a:lnTo>
                    <a:pt x="510413" y="114046"/>
                  </a:lnTo>
                  <a:lnTo>
                    <a:pt x="517778" y="116459"/>
                  </a:lnTo>
                  <a:lnTo>
                    <a:pt x="600246" y="75437"/>
                  </a:lnTo>
                  <a:lnTo>
                    <a:pt x="596519" y="75437"/>
                  </a:lnTo>
                  <a:lnTo>
                    <a:pt x="551561" y="72451"/>
                  </a:lnTo>
                  <a:close/>
                </a:path>
                <a:path w="621664" h="116839">
                  <a:moveTo>
                    <a:pt x="573181" y="61676"/>
                  </a:moveTo>
                  <a:lnTo>
                    <a:pt x="551561" y="72451"/>
                  </a:lnTo>
                  <a:lnTo>
                    <a:pt x="596519" y="75437"/>
                  </a:lnTo>
                  <a:lnTo>
                    <a:pt x="596656" y="73406"/>
                  </a:lnTo>
                  <a:lnTo>
                    <a:pt x="590550" y="73406"/>
                  </a:lnTo>
                  <a:lnTo>
                    <a:pt x="573181" y="61676"/>
                  </a:lnTo>
                  <a:close/>
                </a:path>
                <a:path w="621664" h="116839">
                  <a:moveTo>
                    <a:pt x="525526" y="0"/>
                  </a:moveTo>
                  <a:lnTo>
                    <a:pt x="517906" y="1524"/>
                  </a:lnTo>
                  <a:lnTo>
                    <a:pt x="514095" y="6985"/>
                  </a:lnTo>
                  <a:lnTo>
                    <a:pt x="510413" y="12573"/>
                  </a:lnTo>
                  <a:lnTo>
                    <a:pt x="511809" y="20193"/>
                  </a:lnTo>
                  <a:lnTo>
                    <a:pt x="553012" y="48055"/>
                  </a:lnTo>
                  <a:lnTo>
                    <a:pt x="598169" y="51054"/>
                  </a:lnTo>
                  <a:lnTo>
                    <a:pt x="596519" y="75437"/>
                  </a:lnTo>
                  <a:lnTo>
                    <a:pt x="600246" y="75437"/>
                  </a:lnTo>
                  <a:lnTo>
                    <a:pt x="621410" y="64897"/>
                  </a:lnTo>
                  <a:lnTo>
                    <a:pt x="525526" y="0"/>
                  </a:lnTo>
                  <a:close/>
                </a:path>
                <a:path w="621664" h="116839">
                  <a:moveTo>
                    <a:pt x="591946" y="52324"/>
                  </a:moveTo>
                  <a:lnTo>
                    <a:pt x="573181" y="61676"/>
                  </a:lnTo>
                  <a:lnTo>
                    <a:pt x="590550" y="73406"/>
                  </a:lnTo>
                  <a:lnTo>
                    <a:pt x="591946" y="52324"/>
                  </a:lnTo>
                  <a:close/>
                </a:path>
                <a:path w="621664" h="116839">
                  <a:moveTo>
                    <a:pt x="598084" y="52324"/>
                  </a:moveTo>
                  <a:lnTo>
                    <a:pt x="591946" y="52324"/>
                  </a:lnTo>
                  <a:lnTo>
                    <a:pt x="590613" y="72451"/>
                  </a:lnTo>
                  <a:lnTo>
                    <a:pt x="590550" y="73406"/>
                  </a:lnTo>
                  <a:lnTo>
                    <a:pt x="596656" y="73406"/>
                  </a:lnTo>
                  <a:lnTo>
                    <a:pt x="598084" y="52324"/>
                  </a:lnTo>
                  <a:close/>
                </a:path>
                <a:path w="621664" h="116839">
                  <a:moveTo>
                    <a:pt x="1523" y="11430"/>
                  </a:moveTo>
                  <a:lnTo>
                    <a:pt x="0" y="35813"/>
                  </a:lnTo>
                  <a:lnTo>
                    <a:pt x="551561" y="72451"/>
                  </a:lnTo>
                  <a:lnTo>
                    <a:pt x="573181" y="61676"/>
                  </a:lnTo>
                  <a:lnTo>
                    <a:pt x="553012" y="48055"/>
                  </a:lnTo>
                  <a:lnTo>
                    <a:pt x="1523" y="11430"/>
                  </a:lnTo>
                  <a:close/>
                </a:path>
                <a:path w="621664" h="116839">
                  <a:moveTo>
                    <a:pt x="553012" y="48055"/>
                  </a:moveTo>
                  <a:lnTo>
                    <a:pt x="573181" y="61676"/>
                  </a:lnTo>
                  <a:lnTo>
                    <a:pt x="591946" y="52324"/>
                  </a:lnTo>
                  <a:lnTo>
                    <a:pt x="598084" y="52324"/>
                  </a:lnTo>
                  <a:lnTo>
                    <a:pt x="598169" y="51054"/>
                  </a:lnTo>
                  <a:lnTo>
                    <a:pt x="553012" y="480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84119" y="2950463"/>
              <a:ext cx="2432685" cy="399415"/>
            </a:xfrm>
            <a:custGeom>
              <a:avLst/>
              <a:gdLst/>
              <a:ahLst/>
              <a:cxnLst/>
              <a:rect l="l" t="t" r="r" b="b"/>
              <a:pathLst>
                <a:path w="2432685" h="399414">
                  <a:moveTo>
                    <a:pt x="2432304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432304" y="399288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84120" y="2950463"/>
            <a:ext cx="2432685" cy="399415"/>
          </a:xfrm>
          <a:prstGeom prst="rect">
            <a:avLst/>
          </a:prstGeom>
          <a:ln w="24383">
            <a:solidFill>
              <a:srgbClr val="C0504D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QUEUE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5944" y="2913697"/>
            <a:ext cx="2828925" cy="424180"/>
            <a:chOff x="4885944" y="2913697"/>
            <a:chExt cx="2828925" cy="42418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944" y="2990100"/>
              <a:ext cx="772502" cy="3061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30902" y="3060191"/>
              <a:ext cx="577215" cy="116839"/>
            </a:xfrm>
            <a:custGeom>
              <a:avLst/>
              <a:gdLst/>
              <a:ahLst/>
              <a:cxnLst/>
              <a:rect l="l" t="t" r="r" b="b"/>
              <a:pathLst>
                <a:path w="577214" h="116839">
                  <a:moveTo>
                    <a:pt x="506807" y="72509"/>
                  </a:moveTo>
                  <a:lnTo>
                    <a:pt x="468375" y="91693"/>
                  </a:lnTo>
                  <a:lnTo>
                    <a:pt x="462407" y="94742"/>
                  </a:lnTo>
                  <a:lnTo>
                    <a:pt x="459867" y="102107"/>
                  </a:lnTo>
                  <a:lnTo>
                    <a:pt x="462914" y="108076"/>
                  </a:lnTo>
                  <a:lnTo>
                    <a:pt x="465963" y="114173"/>
                  </a:lnTo>
                  <a:lnTo>
                    <a:pt x="473201" y="116586"/>
                  </a:lnTo>
                  <a:lnTo>
                    <a:pt x="555498" y="75437"/>
                  </a:lnTo>
                  <a:lnTo>
                    <a:pt x="551942" y="75437"/>
                  </a:lnTo>
                  <a:lnTo>
                    <a:pt x="506807" y="72509"/>
                  </a:lnTo>
                  <a:close/>
                </a:path>
                <a:path w="577214" h="116839">
                  <a:moveTo>
                    <a:pt x="528646" y="61607"/>
                  </a:moveTo>
                  <a:lnTo>
                    <a:pt x="506807" y="72509"/>
                  </a:lnTo>
                  <a:lnTo>
                    <a:pt x="551942" y="75437"/>
                  </a:lnTo>
                  <a:lnTo>
                    <a:pt x="552076" y="73279"/>
                  </a:lnTo>
                  <a:lnTo>
                    <a:pt x="545973" y="73279"/>
                  </a:lnTo>
                  <a:lnTo>
                    <a:pt x="528646" y="61607"/>
                  </a:lnTo>
                  <a:close/>
                </a:path>
                <a:path w="577214" h="116839">
                  <a:moveTo>
                    <a:pt x="480822" y="0"/>
                  </a:moveTo>
                  <a:lnTo>
                    <a:pt x="473201" y="1524"/>
                  </a:lnTo>
                  <a:lnTo>
                    <a:pt x="469519" y="7112"/>
                  </a:lnTo>
                  <a:lnTo>
                    <a:pt x="465709" y="12700"/>
                  </a:lnTo>
                  <a:lnTo>
                    <a:pt x="467233" y="20319"/>
                  </a:lnTo>
                  <a:lnTo>
                    <a:pt x="472821" y="24002"/>
                  </a:lnTo>
                  <a:lnTo>
                    <a:pt x="508663" y="48146"/>
                  </a:lnTo>
                  <a:lnTo>
                    <a:pt x="553465" y="51054"/>
                  </a:lnTo>
                  <a:lnTo>
                    <a:pt x="551942" y="75437"/>
                  </a:lnTo>
                  <a:lnTo>
                    <a:pt x="555498" y="75437"/>
                  </a:lnTo>
                  <a:lnTo>
                    <a:pt x="576834" y="64769"/>
                  </a:lnTo>
                  <a:lnTo>
                    <a:pt x="480822" y="0"/>
                  </a:lnTo>
                  <a:close/>
                </a:path>
                <a:path w="577214" h="116839">
                  <a:moveTo>
                    <a:pt x="547243" y="52324"/>
                  </a:moveTo>
                  <a:lnTo>
                    <a:pt x="528646" y="61607"/>
                  </a:lnTo>
                  <a:lnTo>
                    <a:pt x="545973" y="73279"/>
                  </a:lnTo>
                  <a:lnTo>
                    <a:pt x="547243" y="52324"/>
                  </a:lnTo>
                  <a:close/>
                </a:path>
                <a:path w="577214" h="116839">
                  <a:moveTo>
                    <a:pt x="553386" y="52324"/>
                  </a:moveTo>
                  <a:lnTo>
                    <a:pt x="547243" y="52324"/>
                  </a:lnTo>
                  <a:lnTo>
                    <a:pt x="546019" y="72509"/>
                  </a:lnTo>
                  <a:lnTo>
                    <a:pt x="545973" y="73279"/>
                  </a:lnTo>
                  <a:lnTo>
                    <a:pt x="552076" y="73279"/>
                  </a:lnTo>
                  <a:lnTo>
                    <a:pt x="553386" y="52324"/>
                  </a:lnTo>
                  <a:close/>
                </a:path>
                <a:path w="577214" h="116839">
                  <a:moveTo>
                    <a:pt x="1524" y="15239"/>
                  </a:moveTo>
                  <a:lnTo>
                    <a:pt x="0" y="39624"/>
                  </a:lnTo>
                  <a:lnTo>
                    <a:pt x="506807" y="72509"/>
                  </a:lnTo>
                  <a:lnTo>
                    <a:pt x="528646" y="61607"/>
                  </a:lnTo>
                  <a:lnTo>
                    <a:pt x="508663" y="48146"/>
                  </a:lnTo>
                  <a:lnTo>
                    <a:pt x="1524" y="15239"/>
                  </a:lnTo>
                  <a:close/>
                </a:path>
                <a:path w="577214" h="116839">
                  <a:moveTo>
                    <a:pt x="508663" y="48146"/>
                  </a:moveTo>
                  <a:lnTo>
                    <a:pt x="528646" y="61607"/>
                  </a:lnTo>
                  <a:lnTo>
                    <a:pt x="547243" y="52324"/>
                  </a:lnTo>
                  <a:lnTo>
                    <a:pt x="553386" y="52324"/>
                  </a:lnTo>
                  <a:lnTo>
                    <a:pt x="553465" y="51054"/>
                  </a:lnTo>
                  <a:lnTo>
                    <a:pt x="508663" y="48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07736" y="2926079"/>
              <a:ext cx="2194560" cy="399415"/>
            </a:xfrm>
            <a:custGeom>
              <a:avLst/>
              <a:gdLst/>
              <a:ahLst/>
              <a:cxnLst/>
              <a:rect l="l" t="t" r="r" b="b"/>
              <a:pathLst>
                <a:path w="2194559" h="399414">
                  <a:moveTo>
                    <a:pt x="219456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194560" y="399288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07736" y="2926079"/>
              <a:ext cx="2194560" cy="399415"/>
            </a:xfrm>
            <a:custGeom>
              <a:avLst/>
              <a:gdLst/>
              <a:ahLst/>
              <a:cxnLst/>
              <a:rect l="l" t="t" r="r" b="b"/>
              <a:pathLst>
                <a:path w="2194559" h="399414">
                  <a:moveTo>
                    <a:pt x="0" y="399288"/>
                  </a:moveTo>
                  <a:lnTo>
                    <a:pt x="2194560" y="399288"/>
                  </a:lnTo>
                  <a:lnTo>
                    <a:pt x="2194560" y="0"/>
                  </a:lnTo>
                  <a:lnTo>
                    <a:pt x="0" y="0"/>
                  </a:lnTo>
                  <a:lnTo>
                    <a:pt x="0" y="399288"/>
                  </a:lnTo>
                  <a:close/>
                </a:path>
              </a:pathLst>
            </a:custGeom>
            <a:ln w="24383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88889" y="2945383"/>
            <a:ext cx="200342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CONTROL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38215" y="3249218"/>
            <a:ext cx="2654935" cy="802005"/>
            <a:chOff x="5538215" y="3249218"/>
            <a:chExt cx="2654935" cy="80200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04431" y="3249218"/>
              <a:ext cx="306184" cy="5743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01459" y="3273551"/>
              <a:ext cx="116839" cy="378460"/>
            </a:xfrm>
            <a:custGeom>
              <a:avLst/>
              <a:gdLst/>
              <a:ahLst/>
              <a:cxnLst/>
              <a:rect l="l" t="t" r="r" b="b"/>
              <a:pathLst>
                <a:path w="116840" h="378460">
                  <a:moveTo>
                    <a:pt x="13589" y="263779"/>
                  </a:moveTo>
                  <a:lnTo>
                    <a:pt x="7874" y="267208"/>
                  </a:lnTo>
                  <a:lnTo>
                    <a:pt x="2032" y="270510"/>
                  </a:lnTo>
                  <a:lnTo>
                    <a:pt x="0" y="278003"/>
                  </a:lnTo>
                  <a:lnTo>
                    <a:pt x="58420" y="378079"/>
                  </a:lnTo>
                  <a:lnTo>
                    <a:pt x="72501" y="353949"/>
                  </a:lnTo>
                  <a:lnTo>
                    <a:pt x="46228" y="353949"/>
                  </a:lnTo>
                  <a:lnTo>
                    <a:pt x="46228" y="308755"/>
                  </a:lnTo>
                  <a:lnTo>
                    <a:pt x="24511" y="271526"/>
                  </a:lnTo>
                  <a:lnTo>
                    <a:pt x="21082" y="265684"/>
                  </a:lnTo>
                  <a:lnTo>
                    <a:pt x="13589" y="263779"/>
                  </a:lnTo>
                  <a:close/>
                </a:path>
                <a:path w="116840" h="378460">
                  <a:moveTo>
                    <a:pt x="46228" y="308755"/>
                  </a:moveTo>
                  <a:lnTo>
                    <a:pt x="46228" y="353949"/>
                  </a:lnTo>
                  <a:lnTo>
                    <a:pt x="70612" y="353949"/>
                  </a:lnTo>
                  <a:lnTo>
                    <a:pt x="70612" y="347726"/>
                  </a:lnTo>
                  <a:lnTo>
                    <a:pt x="47879" y="347726"/>
                  </a:lnTo>
                  <a:lnTo>
                    <a:pt x="58420" y="329655"/>
                  </a:lnTo>
                  <a:lnTo>
                    <a:pt x="46228" y="308755"/>
                  </a:lnTo>
                  <a:close/>
                </a:path>
                <a:path w="116840" h="378460">
                  <a:moveTo>
                    <a:pt x="103250" y="263779"/>
                  </a:moveTo>
                  <a:lnTo>
                    <a:pt x="95758" y="265684"/>
                  </a:lnTo>
                  <a:lnTo>
                    <a:pt x="92329" y="271526"/>
                  </a:lnTo>
                  <a:lnTo>
                    <a:pt x="70612" y="308755"/>
                  </a:lnTo>
                  <a:lnTo>
                    <a:pt x="70612" y="353949"/>
                  </a:lnTo>
                  <a:lnTo>
                    <a:pt x="72501" y="353949"/>
                  </a:lnTo>
                  <a:lnTo>
                    <a:pt x="116840" y="278003"/>
                  </a:lnTo>
                  <a:lnTo>
                    <a:pt x="114808" y="270510"/>
                  </a:lnTo>
                  <a:lnTo>
                    <a:pt x="108966" y="267208"/>
                  </a:lnTo>
                  <a:lnTo>
                    <a:pt x="103250" y="263779"/>
                  </a:lnTo>
                  <a:close/>
                </a:path>
                <a:path w="116840" h="378460">
                  <a:moveTo>
                    <a:pt x="58420" y="329655"/>
                  </a:moveTo>
                  <a:lnTo>
                    <a:pt x="47879" y="347726"/>
                  </a:lnTo>
                  <a:lnTo>
                    <a:pt x="68961" y="347726"/>
                  </a:lnTo>
                  <a:lnTo>
                    <a:pt x="58420" y="329655"/>
                  </a:lnTo>
                  <a:close/>
                </a:path>
                <a:path w="116840" h="378460">
                  <a:moveTo>
                    <a:pt x="70612" y="308755"/>
                  </a:moveTo>
                  <a:lnTo>
                    <a:pt x="58420" y="329655"/>
                  </a:lnTo>
                  <a:lnTo>
                    <a:pt x="68961" y="347726"/>
                  </a:lnTo>
                  <a:lnTo>
                    <a:pt x="70612" y="347726"/>
                  </a:lnTo>
                  <a:lnTo>
                    <a:pt x="70612" y="308755"/>
                  </a:lnTo>
                  <a:close/>
                </a:path>
                <a:path w="116840" h="378460">
                  <a:moveTo>
                    <a:pt x="70612" y="0"/>
                  </a:moveTo>
                  <a:lnTo>
                    <a:pt x="46228" y="0"/>
                  </a:lnTo>
                  <a:lnTo>
                    <a:pt x="46228" y="308755"/>
                  </a:lnTo>
                  <a:lnTo>
                    <a:pt x="58420" y="329655"/>
                  </a:lnTo>
                  <a:lnTo>
                    <a:pt x="70612" y="308755"/>
                  </a:lnTo>
                  <a:lnTo>
                    <a:pt x="70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215" y="3651503"/>
              <a:ext cx="2654935" cy="399415"/>
            </a:xfrm>
            <a:custGeom>
              <a:avLst/>
              <a:gdLst/>
              <a:ahLst/>
              <a:cxnLst/>
              <a:rect l="l" t="t" r="r" b="b"/>
              <a:pathLst>
                <a:path w="2654934" h="399414">
                  <a:moveTo>
                    <a:pt x="2654808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654808" y="399288"/>
                  </a:lnTo>
                  <a:lnTo>
                    <a:pt x="2654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38215" y="3651503"/>
            <a:ext cx="2654935" cy="399415"/>
          </a:xfrm>
          <a:prstGeom prst="rect">
            <a:avLst/>
          </a:prstGeom>
          <a:ln w="24384">
            <a:solidFill>
              <a:srgbClr val="C0504D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sz="2000" spc="-10" dirty="0">
                <a:latin typeface="Calibri"/>
                <a:cs typeface="Calibri"/>
              </a:rPr>
              <a:t>EXCUTION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TAKES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PLACE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57441" y="3317240"/>
            <a:ext cx="17830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DECODE</a:t>
            </a:r>
            <a:r>
              <a:rPr sz="16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16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libri"/>
                <a:cs typeface="Calibri"/>
              </a:rPr>
              <a:t>OPCODE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609" y="510615"/>
            <a:ext cx="1316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18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example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609" y="1334515"/>
            <a:ext cx="299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MOV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AL,BL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here,BL comes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4609" y="2158110"/>
            <a:ext cx="2837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MOV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AL,10H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10H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8057" y="1634007"/>
            <a:ext cx="80645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OPCODE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379" y="3524199"/>
            <a:ext cx="8640445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001F5F"/>
                </a:solidFill>
                <a:latin typeface="Calibri"/>
                <a:cs typeface="Calibri"/>
              </a:rPr>
              <a:t>DECODE/OPCODE:</a:t>
            </a:r>
            <a:r>
              <a:rPr sz="16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6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6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6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6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convert</a:t>
            </a:r>
            <a:r>
              <a:rPr sz="16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1F5F"/>
                </a:solidFill>
                <a:latin typeface="Calibri"/>
                <a:cs typeface="Calibri"/>
              </a:rPr>
              <a:t>ASSEMBLY</a:t>
            </a:r>
            <a:r>
              <a:rPr sz="16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16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6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BINARY</a:t>
            </a:r>
            <a:r>
              <a:rPr sz="16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libri"/>
                <a:cs typeface="Calibri"/>
              </a:rPr>
              <a:t>LANGUAGE.</a:t>
            </a:r>
            <a:r>
              <a:rPr sz="1600" b="1" spc="2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1F5F"/>
                </a:solidFill>
                <a:latin typeface="Calibri"/>
                <a:cs typeface="Calibri"/>
              </a:rPr>
              <a:t>Microprocessor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600" spc="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600" spc="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middle</a:t>
            </a:r>
            <a:r>
              <a:rPr sz="1600" spc="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level</a:t>
            </a:r>
            <a:r>
              <a:rPr sz="1600" spc="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1600" spc="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i.e.,</a:t>
            </a:r>
            <a:r>
              <a:rPr sz="1600" spc="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ASSEMBLY</a:t>
            </a:r>
            <a:r>
              <a:rPr sz="1600" spc="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1600" spc="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but</a:t>
            </a:r>
            <a:r>
              <a:rPr sz="1600" spc="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processor</a:t>
            </a:r>
            <a:r>
              <a:rPr sz="1600" spc="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couldn’t</a:t>
            </a:r>
            <a:r>
              <a:rPr sz="1600" spc="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understand</a:t>
            </a:r>
            <a:r>
              <a:rPr sz="1600" spc="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600" spc="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because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knows</a:t>
            </a:r>
            <a:r>
              <a:rPr sz="16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machine</a:t>
            </a:r>
            <a:r>
              <a:rPr sz="16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1600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/binary</a:t>
            </a:r>
            <a:r>
              <a:rPr sz="16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16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6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0’s</a:t>
            </a:r>
            <a:r>
              <a:rPr sz="16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1’s</a:t>
            </a:r>
            <a:r>
              <a:rPr sz="16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40207"/>
            <a:ext cx="2202179" cy="26066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58533" y="485343"/>
            <a:ext cx="834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OPCODE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1188" y="2390978"/>
            <a:ext cx="974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OPERAND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62827" y="1596897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OPCODE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151" y="2516992"/>
            <a:ext cx="450342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18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18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INCLUDED</a:t>
            </a: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OPCODE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18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SPECIFIES</a:t>
            </a:r>
            <a:r>
              <a:rPr sz="18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REGISTERS</a:t>
            </a:r>
            <a:r>
              <a:rPr sz="18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OPERATION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54609" y="159511"/>
            <a:ext cx="2421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CONTROL</a:t>
            </a:r>
            <a:r>
              <a:rPr b="1" spc="3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SYSTEM/UNIT: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466343"/>
            <a:ext cx="4824984" cy="30784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1338" y="1854835"/>
            <a:ext cx="21215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5417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34H</a:t>
            </a:r>
            <a:r>
              <a:rPr sz="2000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4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AL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12H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72983" y="563943"/>
            <a:ext cx="413384" cy="309245"/>
            <a:chOff x="7872983" y="563943"/>
            <a:chExt cx="413384" cy="3092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2983" y="563943"/>
              <a:ext cx="412826" cy="3091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8431" y="642619"/>
              <a:ext cx="216026" cy="1168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909559" y="993711"/>
            <a:ext cx="413384" cy="309245"/>
            <a:chOff x="7909559" y="993711"/>
            <a:chExt cx="413384" cy="3092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9559" y="993711"/>
              <a:ext cx="412826" cy="3091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5007" y="1072387"/>
              <a:ext cx="216026" cy="11683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638543" y="1892871"/>
            <a:ext cx="413384" cy="309245"/>
            <a:chOff x="6638543" y="1892871"/>
            <a:chExt cx="413384" cy="30924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8543" y="1892871"/>
              <a:ext cx="412826" cy="3091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3991" y="1971547"/>
              <a:ext cx="216026" cy="11683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854952" y="1463103"/>
            <a:ext cx="413384" cy="309245"/>
            <a:chOff x="6854952" y="1463103"/>
            <a:chExt cx="413384" cy="30924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4952" y="1463103"/>
              <a:ext cx="412826" cy="3091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0400" y="1541779"/>
              <a:ext cx="216026" cy="11684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084445" y="116001"/>
            <a:ext cx="3676015" cy="161036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440"/>
              </a:spcBef>
            </a:pPr>
            <a:r>
              <a:rPr sz="1800" b="1" spc="-10" dirty="0"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75"/>
              </a:spcBef>
              <a:buFont typeface="Wingdings"/>
              <a:buChar char=""/>
              <a:tabLst>
                <a:tab pos="299085" algn="l"/>
                <a:tab pos="318706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0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AL,34H</a:t>
            </a:r>
            <a:r>
              <a:rPr sz="2000" spc="3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means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AL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34H</a:t>
            </a:r>
            <a:endParaRPr sz="20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299085" algn="l"/>
                <a:tab pos="320738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0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AH,12H</a:t>
            </a:r>
            <a:r>
              <a:rPr sz="2000" spc="3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means</a:t>
            </a:r>
            <a:r>
              <a:rPr sz="20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AH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12H</a:t>
            </a:r>
            <a:endParaRPr sz="20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0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AX,1234H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means</a:t>
            </a:r>
            <a:r>
              <a:rPr sz="200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AH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96585" y="1996820"/>
            <a:ext cx="1160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EXAMPLE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1: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96585" y="2270836"/>
            <a:ext cx="297688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  <a:tab pos="2611120" algn="l"/>
              </a:tabLst>
            </a:pPr>
            <a:r>
              <a:rPr sz="1800" b="1" dirty="0">
                <a:latin typeface="Calibri"/>
                <a:cs typeface="Calibri"/>
              </a:rPr>
              <a:t>MOV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BL,CL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means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BL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Wingdings"/>
              <a:buChar char=""/>
              <a:tabLst>
                <a:tab pos="299085" algn="l"/>
                <a:tab pos="2696845" algn="l"/>
              </a:tabLst>
            </a:pPr>
            <a:r>
              <a:rPr sz="1800" b="1" dirty="0">
                <a:latin typeface="Calibri"/>
                <a:cs typeface="Calibri"/>
              </a:rPr>
              <a:t>MOV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BH,CH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means</a:t>
            </a:r>
            <a:r>
              <a:rPr sz="1800" b="1" spc="-25" dirty="0">
                <a:latin typeface="Calibri"/>
                <a:cs typeface="Calibri"/>
              </a:rPr>
              <a:t> BH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CH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Wingdings"/>
              <a:buChar char=""/>
              <a:tabLst>
                <a:tab pos="299085" algn="l"/>
                <a:tab pos="2644775" algn="l"/>
              </a:tabLst>
            </a:pPr>
            <a:r>
              <a:rPr sz="1800" b="1" dirty="0">
                <a:latin typeface="Calibri"/>
                <a:cs typeface="Calibri"/>
              </a:rPr>
              <a:t>MOV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CX,AX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means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CX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AX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63968" y="2292159"/>
            <a:ext cx="413384" cy="309245"/>
            <a:chOff x="7363968" y="2292159"/>
            <a:chExt cx="413384" cy="3092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3968" y="2292159"/>
              <a:ext cx="412826" cy="3091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9416" y="2370836"/>
              <a:ext cx="216026" cy="11683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485888" y="2865183"/>
            <a:ext cx="413384" cy="309245"/>
            <a:chOff x="7485888" y="2865183"/>
            <a:chExt cx="413384" cy="30924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5888" y="2865183"/>
              <a:ext cx="412826" cy="30918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41336" y="2943859"/>
              <a:ext cx="216027" cy="11683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443216" y="3407727"/>
            <a:ext cx="413384" cy="309245"/>
            <a:chOff x="7443216" y="3407727"/>
            <a:chExt cx="413384" cy="30924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3216" y="3407727"/>
              <a:ext cx="412826" cy="30918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8664" y="3486403"/>
              <a:ext cx="216026" cy="11683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02437" y="3714699"/>
            <a:ext cx="103631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16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6F2F9F"/>
                </a:solidFill>
                <a:latin typeface="Calibri"/>
                <a:cs typeface="Calibri"/>
              </a:rPr>
              <a:t>2: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2437" y="3959028"/>
            <a:ext cx="1407795" cy="11245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5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MOV</a:t>
            </a:r>
            <a:r>
              <a:rPr sz="16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libri"/>
                <a:cs typeface="Calibri"/>
              </a:rPr>
              <a:t>BL,04H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MOV</a:t>
            </a:r>
            <a:r>
              <a:rPr sz="16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libri"/>
                <a:cs typeface="Calibri"/>
              </a:rPr>
              <a:t>CL,O5H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8450" algn="l"/>
              </a:tabLst>
            </a:pPr>
            <a:r>
              <a:rPr sz="1600" b="1" dirty="0">
                <a:solidFill>
                  <a:srgbClr val="6F2F9F"/>
                </a:solidFill>
                <a:latin typeface="Calibri"/>
                <a:cs typeface="Calibri"/>
              </a:rPr>
              <a:t>ADD</a:t>
            </a:r>
            <a:r>
              <a:rPr sz="16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F2F9F"/>
                </a:solidFill>
                <a:latin typeface="Calibri"/>
                <a:cs typeface="Calibri"/>
              </a:rPr>
              <a:t>BL,CL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37944" y="4045361"/>
            <a:ext cx="870585" cy="1089025"/>
            <a:chOff x="1837944" y="4045361"/>
            <a:chExt cx="870585" cy="1089025"/>
          </a:xfrm>
        </p:grpSpPr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4197" y="4045361"/>
              <a:ext cx="421137" cy="9665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981200" y="4062983"/>
              <a:ext cx="360045" cy="883919"/>
            </a:xfrm>
            <a:custGeom>
              <a:avLst/>
              <a:gdLst/>
              <a:ahLst/>
              <a:cxnLst/>
              <a:rect l="l" t="t" r="r" b="b"/>
              <a:pathLst>
                <a:path w="360044" h="883920">
                  <a:moveTo>
                    <a:pt x="0" y="0"/>
                  </a:moveTo>
                  <a:lnTo>
                    <a:pt x="69996" y="2356"/>
                  </a:lnTo>
                  <a:lnTo>
                    <a:pt x="127158" y="8780"/>
                  </a:lnTo>
                  <a:lnTo>
                    <a:pt x="165699" y="18307"/>
                  </a:lnTo>
                  <a:lnTo>
                    <a:pt x="179831" y="29971"/>
                  </a:lnTo>
                  <a:lnTo>
                    <a:pt x="179831" y="411987"/>
                  </a:lnTo>
                  <a:lnTo>
                    <a:pt x="193964" y="423652"/>
                  </a:lnTo>
                  <a:lnTo>
                    <a:pt x="232505" y="433179"/>
                  </a:lnTo>
                  <a:lnTo>
                    <a:pt x="289667" y="439603"/>
                  </a:lnTo>
                  <a:lnTo>
                    <a:pt x="359663" y="441959"/>
                  </a:lnTo>
                  <a:lnTo>
                    <a:pt x="289667" y="444316"/>
                  </a:lnTo>
                  <a:lnTo>
                    <a:pt x="232505" y="450740"/>
                  </a:lnTo>
                  <a:lnTo>
                    <a:pt x="193964" y="460267"/>
                  </a:lnTo>
                  <a:lnTo>
                    <a:pt x="179831" y="471931"/>
                  </a:lnTo>
                  <a:lnTo>
                    <a:pt x="179831" y="853947"/>
                  </a:lnTo>
                  <a:lnTo>
                    <a:pt x="165699" y="865612"/>
                  </a:lnTo>
                  <a:lnTo>
                    <a:pt x="127158" y="875139"/>
                  </a:lnTo>
                  <a:lnTo>
                    <a:pt x="69996" y="881563"/>
                  </a:lnTo>
                  <a:lnTo>
                    <a:pt x="0" y="883919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7944" y="4693922"/>
              <a:ext cx="870026" cy="44027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883664" y="4793464"/>
              <a:ext cx="608330" cy="177800"/>
            </a:xfrm>
            <a:custGeom>
              <a:avLst/>
              <a:gdLst/>
              <a:ahLst/>
              <a:cxnLst/>
              <a:rect l="l" t="t" r="r" b="b"/>
              <a:pathLst>
                <a:path w="608330" h="177800">
                  <a:moveTo>
                    <a:pt x="494380" y="111759"/>
                  </a:moveTo>
                  <a:lnTo>
                    <a:pt x="436499" y="139862"/>
                  </a:lnTo>
                  <a:lnTo>
                    <a:pt x="430212" y="144635"/>
                  </a:lnTo>
                  <a:lnTo>
                    <a:pt x="426402" y="151206"/>
                  </a:lnTo>
                  <a:lnTo>
                    <a:pt x="425354" y="158725"/>
                  </a:lnTo>
                  <a:lnTo>
                    <a:pt x="427355" y="166342"/>
                  </a:lnTo>
                  <a:lnTo>
                    <a:pt x="432089" y="172598"/>
                  </a:lnTo>
                  <a:lnTo>
                    <a:pt x="438658" y="176408"/>
                  </a:lnTo>
                  <a:lnTo>
                    <a:pt x="446178" y="177477"/>
                  </a:lnTo>
                  <a:lnTo>
                    <a:pt x="453771" y="175511"/>
                  </a:lnTo>
                  <a:lnTo>
                    <a:pt x="573663" y="117320"/>
                  </a:lnTo>
                  <a:lnTo>
                    <a:pt x="567436" y="117320"/>
                  </a:lnTo>
                  <a:lnTo>
                    <a:pt x="494380" y="111759"/>
                  </a:lnTo>
                  <a:close/>
                </a:path>
                <a:path w="608330" h="177800">
                  <a:moveTo>
                    <a:pt x="529719" y="94600"/>
                  </a:moveTo>
                  <a:lnTo>
                    <a:pt x="494380" y="111759"/>
                  </a:lnTo>
                  <a:lnTo>
                    <a:pt x="567436" y="117320"/>
                  </a:lnTo>
                  <a:lnTo>
                    <a:pt x="567701" y="113878"/>
                  </a:lnTo>
                  <a:lnTo>
                    <a:pt x="557657" y="113878"/>
                  </a:lnTo>
                  <a:lnTo>
                    <a:pt x="529719" y="94600"/>
                  </a:lnTo>
                  <a:close/>
                </a:path>
                <a:path w="608330" h="177800">
                  <a:moveTo>
                    <a:pt x="459726" y="0"/>
                  </a:moveTo>
                  <a:lnTo>
                    <a:pt x="451895" y="0"/>
                  </a:lnTo>
                  <a:lnTo>
                    <a:pt x="445029" y="2689"/>
                  </a:lnTo>
                  <a:lnTo>
                    <a:pt x="439419" y="8151"/>
                  </a:lnTo>
                  <a:lnTo>
                    <a:pt x="436300" y="15382"/>
                  </a:lnTo>
                  <a:lnTo>
                    <a:pt x="436181" y="22978"/>
                  </a:lnTo>
                  <a:lnTo>
                    <a:pt x="438919" y="30050"/>
                  </a:lnTo>
                  <a:lnTo>
                    <a:pt x="444373" y="35710"/>
                  </a:lnTo>
                  <a:lnTo>
                    <a:pt x="497314" y="72240"/>
                  </a:lnTo>
                  <a:lnTo>
                    <a:pt x="570484" y="77810"/>
                  </a:lnTo>
                  <a:lnTo>
                    <a:pt x="567436" y="117320"/>
                  </a:lnTo>
                  <a:lnTo>
                    <a:pt x="573663" y="117320"/>
                  </a:lnTo>
                  <a:lnTo>
                    <a:pt x="608203" y="100556"/>
                  </a:lnTo>
                  <a:lnTo>
                    <a:pt x="466979" y="3096"/>
                  </a:lnTo>
                  <a:lnTo>
                    <a:pt x="459726" y="0"/>
                  </a:lnTo>
                  <a:close/>
                </a:path>
                <a:path w="608330" h="177800">
                  <a:moveTo>
                    <a:pt x="560324" y="79740"/>
                  </a:moveTo>
                  <a:lnTo>
                    <a:pt x="529719" y="94600"/>
                  </a:lnTo>
                  <a:lnTo>
                    <a:pt x="557657" y="113878"/>
                  </a:lnTo>
                  <a:lnTo>
                    <a:pt x="560324" y="79740"/>
                  </a:lnTo>
                  <a:close/>
                </a:path>
                <a:path w="608330" h="177800">
                  <a:moveTo>
                    <a:pt x="570335" y="79740"/>
                  </a:moveTo>
                  <a:lnTo>
                    <a:pt x="560324" y="79740"/>
                  </a:lnTo>
                  <a:lnTo>
                    <a:pt x="557657" y="113878"/>
                  </a:lnTo>
                  <a:lnTo>
                    <a:pt x="567701" y="113878"/>
                  </a:lnTo>
                  <a:lnTo>
                    <a:pt x="570335" y="79740"/>
                  </a:lnTo>
                  <a:close/>
                </a:path>
                <a:path w="608330" h="177800">
                  <a:moveTo>
                    <a:pt x="3048" y="34617"/>
                  </a:moveTo>
                  <a:lnTo>
                    <a:pt x="0" y="74127"/>
                  </a:lnTo>
                  <a:lnTo>
                    <a:pt x="494380" y="111759"/>
                  </a:lnTo>
                  <a:lnTo>
                    <a:pt x="529719" y="94600"/>
                  </a:lnTo>
                  <a:lnTo>
                    <a:pt x="497314" y="72240"/>
                  </a:lnTo>
                  <a:lnTo>
                    <a:pt x="3048" y="34617"/>
                  </a:lnTo>
                  <a:close/>
                </a:path>
                <a:path w="608330" h="177800">
                  <a:moveTo>
                    <a:pt x="497314" y="72240"/>
                  </a:moveTo>
                  <a:lnTo>
                    <a:pt x="529719" y="94600"/>
                  </a:lnTo>
                  <a:lnTo>
                    <a:pt x="560324" y="79740"/>
                  </a:lnTo>
                  <a:lnTo>
                    <a:pt x="570335" y="79740"/>
                  </a:lnTo>
                  <a:lnTo>
                    <a:pt x="570484" y="77810"/>
                  </a:lnTo>
                  <a:lnTo>
                    <a:pt x="497314" y="7224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571114" y="4121911"/>
            <a:ext cx="5703570" cy="907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5"/>
              </a:spcBef>
            </a:pPr>
            <a:r>
              <a:rPr sz="1600" b="1">
                <a:solidFill>
                  <a:srgbClr val="00AF50"/>
                </a:solidFill>
                <a:latin typeface="Calibri"/>
                <a:cs typeface="Calibri"/>
              </a:rPr>
              <a:t>INFORM</a:t>
            </a:r>
            <a:r>
              <a:rPr sz="1600" b="1" spc="25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1600" b="1" spc="204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00AF50"/>
                </a:solidFill>
                <a:latin typeface="Calibri"/>
                <a:cs typeface="Calibri"/>
              </a:rPr>
              <a:t>GENERAL</a:t>
            </a:r>
            <a:r>
              <a:rPr sz="1600" b="1" spc="21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00AF50"/>
                </a:solidFill>
                <a:latin typeface="Calibri"/>
                <a:cs typeface="Calibri"/>
              </a:rPr>
              <a:t>PURPOSE</a:t>
            </a:r>
            <a:endParaRPr sz="16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</a:pPr>
            <a:r>
              <a:rPr sz="1600" b="1" spc="-10">
                <a:solidFill>
                  <a:srgbClr val="00AF50"/>
                </a:solidFill>
                <a:latin typeface="Calibri"/>
                <a:cs typeface="Calibri"/>
              </a:rPr>
              <a:t>REGISTERS</a:t>
            </a:r>
            <a:r>
              <a:rPr sz="1600" b="1" spc="-75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00AF50"/>
                </a:solidFill>
                <a:latin typeface="Calibri"/>
                <a:cs typeface="Calibri"/>
              </a:rPr>
              <a:t>BY</a:t>
            </a:r>
            <a:r>
              <a:rPr sz="1600" b="1" spc="-4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00AF50"/>
                </a:solidFill>
                <a:latin typeface="Calibri"/>
                <a:cs typeface="Calibri"/>
              </a:rPr>
              <a:t>CONTROL</a:t>
            </a:r>
            <a:r>
              <a:rPr sz="1600" b="1" spc="-15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00AF50"/>
                </a:solidFill>
                <a:latin typeface="Calibri"/>
                <a:cs typeface="Calibri"/>
              </a:rPr>
              <a:t>SYSTEM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00">
                <a:latin typeface="Calibri"/>
                <a:cs typeface="Calibri"/>
              </a:rPr>
              <a:t>ALU</a:t>
            </a:r>
            <a:r>
              <a:rPr sz="1800" spc="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 USED </a:t>
            </a:r>
            <a:r>
              <a:rPr sz="1800" spc="-45">
                <a:latin typeface="Calibri"/>
                <a:cs typeface="Calibri"/>
              </a:rPr>
              <a:t>T</a:t>
            </a:r>
            <a:r>
              <a:rPr sz="1800" spc="-975">
                <a:latin typeface="Calibri"/>
                <a:cs typeface="Calibri"/>
              </a:rPr>
              <a:t>O</a:t>
            </a:r>
            <a:r>
              <a:rPr sz="1800" baseline="4629">
                <a:solidFill>
                  <a:srgbClr val="888888"/>
                </a:solidFill>
                <a:latin typeface="Calibri"/>
                <a:cs typeface="Calibri"/>
              </a:rPr>
              <a:t>III</a:t>
            </a:r>
            <a:r>
              <a:rPr sz="1800" spc="-22" baseline="4629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375" baseline="4629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695">
                <a:latin typeface="Calibri"/>
                <a:cs typeface="Calibri"/>
              </a:rPr>
              <a:t>P</a:t>
            </a:r>
            <a:r>
              <a:rPr sz="1800" spc="-7" baseline="4629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367" baseline="4629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800" spc="-665">
                <a:latin typeface="Calibri"/>
                <a:cs typeface="Calibri"/>
              </a:rPr>
              <a:t>E</a:t>
            </a:r>
            <a:r>
              <a:rPr sz="1800" spc="-562" baseline="4629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800" spc="-625">
                <a:latin typeface="Calibri"/>
                <a:cs typeface="Calibri"/>
              </a:rPr>
              <a:t>R</a:t>
            </a:r>
            <a:r>
              <a:rPr sz="1800" spc="-30" baseline="4629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800" spc="-835">
                <a:latin typeface="Calibri"/>
                <a:cs typeface="Calibri"/>
              </a:rPr>
              <a:t>F</a:t>
            </a:r>
            <a:r>
              <a:rPr sz="1800" spc="-382" baseline="4629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800" spc="-960">
                <a:latin typeface="Calibri"/>
                <a:cs typeface="Calibri"/>
              </a:rPr>
              <a:t>O</a:t>
            </a:r>
            <a:r>
              <a:rPr sz="1800" spc="-7" baseline="4629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800" spc="-465" baseline="4629">
                <a:solidFill>
                  <a:srgbClr val="888888"/>
                </a:solidFill>
                <a:latin typeface="Calibri"/>
                <a:cs typeface="Calibri"/>
              </a:rPr>
              <a:t>_</a:t>
            </a:r>
            <a:r>
              <a:rPr sz="1800" spc="-695">
                <a:latin typeface="Calibri"/>
                <a:cs typeface="Calibri"/>
              </a:rPr>
              <a:t>R</a:t>
            </a:r>
            <a:r>
              <a:rPr sz="1800" spc="-150" baseline="4629">
                <a:solidFill>
                  <a:srgbClr val="888888"/>
                </a:solidFill>
                <a:latin typeface="Calibri"/>
                <a:cs typeface="Calibri"/>
              </a:rPr>
              <a:t>U</a:t>
            </a:r>
            <a:r>
              <a:rPr sz="1800" spc="-1470">
                <a:latin typeface="Calibri"/>
                <a:cs typeface="Calibri"/>
              </a:rPr>
              <a:t>M</a:t>
            </a:r>
            <a:r>
              <a:rPr sz="1800" spc="-37" baseline="4629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800" spc="-7" baseline="4629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800" spc="-15" baseline="4629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307" baseline="4629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1800" spc="-865">
                <a:latin typeface="Calibri"/>
                <a:cs typeface="Calibri"/>
              </a:rPr>
              <a:t>A</a:t>
            </a:r>
            <a:r>
              <a:rPr sz="1800" spc="-30" baseline="4629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r>
              <a:rPr sz="1800" spc="-562" baseline="4629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sz="1800">
                <a:latin typeface="Calibri"/>
                <a:cs typeface="Calibri"/>
              </a:rPr>
              <a:t>R</a:t>
            </a:r>
            <a:r>
              <a:rPr sz="1800" spc="-10">
                <a:latin typeface="Calibri"/>
                <a:cs typeface="Calibri"/>
              </a:rPr>
              <a:t>I</a:t>
            </a:r>
            <a:r>
              <a:rPr sz="1800" spc="5">
                <a:latin typeface="Calibri"/>
                <a:cs typeface="Calibri"/>
              </a:rPr>
              <a:t>T</a:t>
            </a:r>
            <a:r>
              <a:rPr sz="1800">
                <a:latin typeface="Calibri"/>
                <a:cs typeface="Calibri"/>
              </a:rPr>
              <a:t>HET</a:t>
            </a:r>
            <a:r>
              <a:rPr sz="1800" spc="-10">
                <a:latin typeface="Calibri"/>
                <a:cs typeface="Calibri"/>
              </a:rPr>
              <a:t>I</a:t>
            </a:r>
            <a:r>
              <a:rPr sz="1800" spc="-5">
                <a:latin typeface="Calibri"/>
                <a:cs typeface="Calibri"/>
              </a:rPr>
              <a:t>C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LOGIC</a:t>
            </a:r>
            <a:r>
              <a:rPr sz="1800" spc="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OPERATION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86334" y="98551"/>
            <a:ext cx="3297554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GENERAL</a:t>
            </a:r>
            <a:r>
              <a:rPr sz="20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PURPOSE</a:t>
            </a:r>
            <a:r>
              <a:rPr sz="20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REGISTERS: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124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mbria"/>
                <a:cs typeface="Cambria"/>
              </a:rPr>
              <a:t>OPERAND</a:t>
            </a:r>
            <a:r>
              <a:rPr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001F5F"/>
                </a:solidFill>
                <a:latin typeface="Cambria"/>
                <a:cs typeface="Cambria"/>
              </a:rPr>
              <a:t>REGISTERS</a:t>
            </a:r>
            <a:r>
              <a:rPr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b="1" spc="-50" dirty="0">
                <a:solidFill>
                  <a:srgbClr val="001F5F"/>
                </a:solidFill>
                <a:latin typeface="Cambria"/>
                <a:cs typeface="Cambria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1068400"/>
            <a:ext cx="7656830" cy="359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b="1" dirty="0">
                <a:latin typeface="Cambria"/>
                <a:cs typeface="Cambria"/>
              </a:rPr>
              <a:t>It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is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temporary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register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it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stores</a:t>
            </a:r>
            <a:r>
              <a:rPr sz="1800" b="1" spc="3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temporary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values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by</a:t>
            </a:r>
            <a:r>
              <a:rPr sz="1800" b="1" spc="-10" dirty="0">
                <a:latin typeface="Cambria"/>
                <a:cs typeface="Cambria"/>
              </a:rPr>
              <a:t> processor.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Example: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64135">
              <a:lnSpc>
                <a:spcPct val="100000"/>
              </a:lnSpc>
            </a:pPr>
            <a:r>
              <a:rPr sz="1800" b="1" dirty="0">
                <a:latin typeface="Cambria"/>
                <a:cs typeface="Cambria"/>
              </a:rPr>
              <a:t>XCHG</a:t>
            </a:r>
            <a:r>
              <a:rPr sz="1800" b="1" spc="-9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BX,CX</a:t>
            </a:r>
            <a:endParaRPr sz="1800">
              <a:latin typeface="Cambria"/>
              <a:cs typeface="Cambria"/>
            </a:endParaRPr>
          </a:p>
          <a:p>
            <a:pPr marL="12700" marR="5080" indent="51435">
              <a:lnSpc>
                <a:spcPct val="200100"/>
              </a:lnSpc>
            </a:pPr>
            <a:r>
              <a:rPr sz="1800" b="1" dirty="0">
                <a:latin typeface="Cambria"/>
                <a:cs typeface="Cambria"/>
              </a:rPr>
              <a:t>here,</a:t>
            </a:r>
            <a:r>
              <a:rPr sz="1800" b="1" spc="-9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exchange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two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values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by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using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temporary</a:t>
            </a:r>
            <a:r>
              <a:rPr sz="1800" b="1" spc="-9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value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that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is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stored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into </a:t>
            </a:r>
            <a:r>
              <a:rPr sz="1800" b="1" dirty="0">
                <a:latin typeface="Cambria"/>
                <a:cs typeface="Cambria"/>
              </a:rPr>
              <a:t>operand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register.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FLAGS: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Cambria"/>
                <a:cs typeface="Cambria"/>
              </a:rPr>
              <a:t>Each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flag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gives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status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6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current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register.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96995" y="4831562"/>
            <a:ext cx="135191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III-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II_MPMC_UNIT-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2029205"/>
            <a:ext cx="71551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6.PIN</a:t>
            </a:r>
            <a:r>
              <a:rPr sz="2800" b="1" spc="-7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DIAGRAM</a:t>
            </a:r>
            <a:r>
              <a:rPr sz="2800" b="1" spc="-5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OF</a:t>
            </a:r>
            <a:r>
              <a:rPr sz="2800" b="1" spc="-6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mbria"/>
                <a:cs typeface="Cambria"/>
              </a:rPr>
              <a:t>8086</a:t>
            </a:r>
            <a:r>
              <a:rPr sz="2800" b="1" spc="-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mbria"/>
                <a:cs typeface="Cambria"/>
              </a:rPr>
              <a:t>MICROPROCESSOR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567" y="0"/>
            <a:ext cx="6702552" cy="51450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96995" y="4831562"/>
            <a:ext cx="135191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III-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II_MPMC_UNIT-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0"/>
            <a:ext cx="2231136" cy="5046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5433" y="76240"/>
            <a:ext cx="6809631" cy="4888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96995" y="4831562"/>
            <a:ext cx="135191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III-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II_MPMC_UNIT-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081270"/>
            <a:chOff x="0" y="0"/>
            <a:chExt cx="914400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78735" cy="50810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8735" y="47546"/>
              <a:ext cx="7065263" cy="47926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2907"/>
            <a:ext cx="9083675" cy="4925695"/>
            <a:chOff x="0" y="142907"/>
            <a:chExt cx="9083675" cy="49256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2907"/>
              <a:ext cx="1953767" cy="49255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3767" y="265175"/>
              <a:ext cx="7129297" cy="44302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02535" cy="51450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2535" y="518159"/>
              <a:ext cx="7141463" cy="44256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896995" y="4831562"/>
            <a:ext cx="135191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III-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II_MPMC_UNIT-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96995" y="4831562"/>
            <a:ext cx="135191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01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607" y="108584"/>
            <a:ext cx="4996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MINIMUM</a:t>
            </a:r>
            <a:r>
              <a:rPr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MODE(MN):</a:t>
            </a:r>
            <a:r>
              <a:rPr b="1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1" dirty="0">
                <a:solidFill>
                  <a:srgbClr val="FF0000"/>
                </a:solidFill>
                <a:latin typeface="Cambria"/>
                <a:cs typeface="Cambria"/>
              </a:rPr>
              <a:t>ACTIVE</a:t>
            </a:r>
            <a:r>
              <a:rPr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1" dirty="0">
                <a:solidFill>
                  <a:srgbClr val="FF0000"/>
                </a:solidFill>
                <a:latin typeface="Cambria"/>
                <a:cs typeface="Cambria"/>
              </a:rPr>
              <a:t>HIGH</a:t>
            </a:r>
            <a:r>
              <a:rPr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mbria"/>
                <a:cs typeface="Cambria"/>
              </a:rPr>
              <a:t>SIGNAL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334" y="599693"/>
            <a:ext cx="6079490" cy="4060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5" dirty="0">
                <a:solidFill>
                  <a:srgbClr val="FF0000"/>
                </a:solidFill>
                <a:latin typeface="Cambria"/>
                <a:cs typeface="Cambria"/>
              </a:rPr>
              <a:t>DT/R’: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TRANSMITT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/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14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RECEIVED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SIGNAL</a:t>
            </a:r>
            <a:endParaRPr sz="18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2085"/>
              </a:spcBef>
              <a:buFont typeface="Wingdings"/>
              <a:buChar char=""/>
              <a:tabLst>
                <a:tab pos="356870" algn="l"/>
              </a:tabLst>
            </a:pP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DT=1</a:t>
            </a:r>
            <a:r>
              <a:rPr sz="1600" b="1" spc="-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600" b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1F5F"/>
                </a:solidFill>
                <a:latin typeface="Cambria"/>
                <a:cs typeface="Cambria"/>
              </a:rPr>
              <a:t>HIGH-</a:t>
            </a:r>
            <a:r>
              <a:rPr sz="1600" b="1" spc="-85" dirty="0">
                <a:solidFill>
                  <a:srgbClr val="001F5F"/>
                </a:solidFill>
                <a:latin typeface="Cambria"/>
                <a:cs typeface="Cambria"/>
              </a:rPr>
              <a:t>DATA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600" b="1" spc="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01F5F"/>
                </a:solidFill>
                <a:latin typeface="Cambria"/>
                <a:cs typeface="Cambria"/>
              </a:rPr>
              <a:t>TRASMITTED</a:t>
            </a:r>
            <a:r>
              <a:rPr sz="16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25" dirty="0">
                <a:solidFill>
                  <a:srgbClr val="001F5F"/>
                </a:solidFill>
                <a:latin typeface="Cambria"/>
                <a:cs typeface="Cambria"/>
              </a:rPr>
              <a:t>OUT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1F5F"/>
              </a:buClr>
              <a:buFont typeface="Wingdings"/>
              <a:buChar char=""/>
            </a:pPr>
            <a:endParaRPr sz="16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"/>
              <a:tabLst>
                <a:tab pos="356870" algn="l"/>
              </a:tabLst>
            </a:pP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R’=1</a:t>
            </a:r>
            <a:r>
              <a:rPr sz="1600" b="1" spc="-7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6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HIGH</a:t>
            </a:r>
            <a:r>
              <a:rPr sz="16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85" dirty="0">
                <a:solidFill>
                  <a:srgbClr val="001F5F"/>
                </a:solidFill>
                <a:latin typeface="Cambria"/>
                <a:cs typeface="Cambria"/>
              </a:rPr>
              <a:t>DATA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600" b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01F5F"/>
                </a:solidFill>
                <a:latin typeface="Cambria"/>
                <a:cs typeface="Cambria"/>
              </a:rPr>
              <a:t>RECEIVED</a:t>
            </a:r>
            <a:r>
              <a:rPr sz="16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600" b="1" spc="-25" dirty="0">
                <a:solidFill>
                  <a:srgbClr val="001F5F"/>
                </a:solidFill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  <a:p>
            <a:pPr marL="12700" marR="2376805">
              <a:lnSpc>
                <a:spcPts val="4320"/>
              </a:lnSpc>
              <a:spcBef>
                <a:spcPts val="425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M/IO’:MEMORY/INPUT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OUTPUT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M=1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HIGH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MEMORY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 IS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ACCESSED</a:t>
            </a:r>
            <a:endParaRPr sz="1800">
              <a:latin typeface="Cambria"/>
              <a:cs typeface="Cambria"/>
            </a:endParaRPr>
          </a:p>
          <a:p>
            <a:pPr marL="12700" marR="1262380">
              <a:lnSpc>
                <a:spcPts val="4320"/>
              </a:lnSpc>
              <a:spcBef>
                <a:spcPts val="5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IO’=1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HIGH</a:t>
            </a:r>
            <a:r>
              <a:rPr sz="1800" b="1" spc="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INPUT</a:t>
            </a:r>
            <a:r>
              <a:rPr sz="18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OUTPUTS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ARE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ACCESSED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WR’:WRITE</a:t>
            </a:r>
            <a:r>
              <a:rPr sz="18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SIGNAL,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INPUT</a:t>
            </a:r>
            <a:r>
              <a:rPr sz="18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SIGNAL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</a:t>
            </a:r>
            <a:r>
              <a:rPr sz="1800" b="1" spc="-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ACTIVE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LOW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SIGNAL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AND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WRITE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14" dirty="0">
                <a:solidFill>
                  <a:srgbClr val="001F5F"/>
                </a:solidFill>
                <a:latin typeface="Cambria"/>
                <a:cs typeface="Cambria"/>
              </a:rPr>
              <a:t>DATA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IN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MEMORY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310337"/>
            <a:ext cx="7978775" cy="331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HLDA:HOLD</a:t>
            </a:r>
            <a:r>
              <a:rPr sz="24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ACKNOWLEDGE</a:t>
            </a:r>
            <a:r>
              <a:rPr sz="24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SIGNAL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  <a:tabLst>
                <a:tab pos="3387725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ISSUED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AFTER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RECEIVING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SIGNAL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HOLD:</a:t>
            </a:r>
            <a:r>
              <a:rPr sz="2400" dirty="0">
                <a:latin typeface="Cambria"/>
                <a:cs typeface="Cambria"/>
              </a:rPr>
              <a:t>WHEN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MICROPROCESSOR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RECIEVES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SIGNAL,IT </a:t>
            </a:r>
            <a:r>
              <a:rPr sz="2400" dirty="0">
                <a:latin typeface="Cambria"/>
                <a:cs typeface="Cambria"/>
              </a:rPr>
              <a:t>ISSUES</a:t>
            </a:r>
            <a:r>
              <a:rPr sz="2400" spc="-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HLDA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SIGNAL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DMA(DIRECT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MEMORY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ACCESS) CONTROLLER.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321" rIns="0" bIns="0" rtlCol="0">
            <a:spAutoFit/>
          </a:bodyPr>
          <a:lstStyle/>
          <a:p>
            <a:pPr marL="26168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MAXIMUM</a:t>
            </a:r>
            <a:r>
              <a:rPr sz="2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MODE(MX’):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048334"/>
            <a:ext cx="8606155" cy="36868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Font typeface="Wingdings"/>
              <a:buChar char=""/>
              <a:tabLst>
                <a:tab pos="299085" algn="l"/>
              </a:tabLst>
            </a:pP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16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6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ACTIVE</a:t>
            </a:r>
            <a:r>
              <a:rPr sz="16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LOW</a:t>
            </a:r>
            <a:r>
              <a:rPr sz="16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SIGNAL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spc="-25" dirty="0">
                <a:solidFill>
                  <a:srgbClr val="FF0000"/>
                </a:solidFill>
                <a:latin typeface="Cambria"/>
                <a:cs typeface="Cambria"/>
              </a:rPr>
              <a:t>QS0,QS1:</a:t>
            </a:r>
            <a:r>
              <a:rPr sz="1600" spc="-25" dirty="0">
                <a:latin typeface="Cambria"/>
                <a:cs typeface="Cambria"/>
              </a:rPr>
              <a:t>STATUS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INSTRUCTION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QUEUE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spc="-40" dirty="0">
                <a:solidFill>
                  <a:srgbClr val="FF0000"/>
                </a:solidFill>
                <a:latin typeface="Cambria"/>
                <a:cs typeface="Cambria"/>
              </a:rPr>
              <a:t>S0’,S1’,S2’:</a:t>
            </a:r>
            <a:r>
              <a:rPr sz="1600" spc="-40" dirty="0">
                <a:latin typeface="Cambria"/>
                <a:cs typeface="Cambria"/>
              </a:rPr>
              <a:t>STATUS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SIGNALS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INDICATE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OPERATION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BEING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DONE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 THE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MICROPROCESSOR.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LOCK’=</a:t>
            </a:r>
            <a:r>
              <a:rPr sz="1600" spc="-10" dirty="0">
                <a:latin typeface="Cambria"/>
                <a:cs typeface="Cambria"/>
              </a:rPr>
              <a:t>LOCK</a:t>
            </a:r>
            <a:r>
              <a:rPr sz="1600" spc="-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PIN,IT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 ACTIVE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LOW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SIGNAL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RQ’/GT0’</a:t>
            </a:r>
            <a:r>
              <a:rPr sz="16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&amp;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 RQ’/GT1’:</a:t>
            </a:r>
            <a:r>
              <a:rPr sz="1600" spc="-10" dirty="0">
                <a:latin typeface="Cambria"/>
                <a:cs typeface="Cambria"/>
              </a:rPr>
              <a:t>REQUEST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/GRAND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PINS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600" dirty="0">
                <a:latin typeface="Cambria"/>
                <a:cs typeface="Cambria"/>
              </a:rPr>
              <a:t>OTHER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PROCESSORS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REQUEST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CPU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AFTER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RECEIVING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REQUEST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CPU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ACKNOWLEDGE SIGNAL.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RD’:</a:t>
            </a:r>
            <a:r>
              <a:rPr sz="1600" dirty="0">
                <a:latin typeface="Cambria"/>
                <a:cs typeface="Cambria"/>
              </a:rPr>
              <a:t>READ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SIGNAL-</a:t>
            </a:r>
            <a:r>
              <a:rPr sz="1600" dirty="0">
                <a:latin typeface="Cambria"/>
                <a:cs typeface="Cambria"/>
              </a:rPr>
              <a:t>OUTPUT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SIGNAL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053" y="112425"/>
            <a:ext cx="4855959" cy="474661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555" y="428955"/>
            <a:ext cx="79051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339" y="1361897"/>
            <a:ext cx="7538720" cy="131959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10"/>
              </a:spcBef>
            </a:pP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MINIMUM</a:t>
            </a:r>
            <a:r>
              <a:rPr sz="2800" b="1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MAXIMUM</a:t>
            </a:r>
            <a:r>
              <a:rPr sz="2800" b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MODE</a:t>
            </a:r>
            <a:r>
              <a:rPr sz="2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5C9B-588A-6DBD-B114-AFB50B4C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2062CA9-9EF0-054C-0F1C-D7FA33E4F5E4}"/>
              </a:ext>
            </a:extLst>
          </p:cNvPr>
          <p:cNvSpPr txBox="1"/>
          <p:nvPr/>
        </p:nvSpPr>
        <p:spPr>
          <a:xfrm>
            <a:off x="441756" y="6321776"/>
            <a:ext cx="1764664" cy="2940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Cambria"/>
                <a:cs typeface="Cambria"/>
              </a:rPr>
              <a:t>private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837B0FA-8234-2F1E-65E2-A61C22DC4D83}"/>
              </a:ext>
            </a:extLst>
          </p:cNvPr>
          <p:cNvSpPr txBox="1"/>
          <p:nvPr/>
        </p:nvSpPr>
        <p:spPr>
          <a:xfrm>
            <a:off x="154939" y="-2077"/>
            <a:ext cx="8917305" cy="62014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8086 has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8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operating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Modes:</a:t>
            </a:r>
            <a:endParaRPr sz="1800">
              <a:latin typeface="Cambria"/>
              <a:cs typeface="Cambria"/>
            </a:endParaRPr>
          </a:p>
          <a:p>
            <a:pPr marL="412115" indent="-399415">
              <a:lnSpc>
                <a:spcPct val="100000"/>
              </a:lnSpc>
              <a:spcBef>
                <a:spcPts val="1080"/>
              </a:spcBef>
              <a:buAutoNum type="romanUcPeriod"/>
              <a:tabLst>
                <a:tab pos="412115" algn="l"/>
              </a:tabLst>
            </a:pP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</a:t>
            </a:r>
            <a:endParaRPr sz="1800">
              <a:latin typeface="Cambria"/>
              <a:cs typeface="Cambria"/>
            </a:endParaRPr>
          </a:p>
          <a:p>
            <a:pPr marL="412115" indent="-399415">
              <a:lnSpc>
                <a:spcPct val="100000"/>
              </a:lnSpc>
              <a:spcBef>
                <a:spcPts val="1080"/>
              </a:spcBef>
              <a:buAutoNum type="romanUcPeriod"/>
              <a:tabLst>
                <a:tab pos="412115" algn="l"/>
              </a:tabLst>
            </a:pPr>
            <a:r>
              <a:rPr sz="1800" dirty="0">
                <a:latin typeface="Cambria"/>
                <a:cs typeface="Cambria"/>
              </a:rPr>
              <a:t>Maximum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Minimum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mode:</a:t>
            </a:r>
            <a:endParaRPr sz="180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only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system</a:t>
            </a:r>
            <a:r>
              <a:rPr sz="1800" dirty="0">
                <a:latin typeface="Cambria"/>
                <a:cs typeface="Cambria"/>
              </a:rPr>
              <a:t> .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system.</a:t>
            </a:r>
            <a:endParaRPr sz="1800">
              <a:latin typeface="Cambria"/>
              <a:cs typeface="Cambria"/>
            </a:endParaRPr>
          </a:p>
          <a:p>
            <a:pPr marL="299085" lvl="1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8086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operated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MN/MX’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pin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logic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1.</a:t>
            </a:r>
            <a:endParaRPr sz="180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itself.</a:t>
            </a:r>
            <a:endParaRPr sz="1800">
              <a:latin typeface="Cambria"/>
              <a:cs typeface="Cambria"/>
            </a:endParaRPr>
          </a:p>
          <a:p>
            <a:pPr marL="6413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Maximum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mode:</a:t>
            </a:r>
            <a:endParaRPr sz="1800">
              <a:latin typeface="Cambria"/>
              <a:cs typeface="Cambria"/>
            </a:endParaRPr>
          </a:p>
          <a:p>
            <a:pPr marL="298450" lvl="1" indent="-285750" algn="just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(8087/8089).</a:t>
            </a:r>
            <a:endParaRPr sz="1800">
              <a:latin typeface="Cambria"/>
              <a:cs typeface="Cambria"/>
            </a:endParaRPr>
          </a:p>
          <a:p>
            <a:pPr marL="297815" marR="5080" lvl="1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8086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max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basically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implementation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allocation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global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resources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 	</a:t>
            </a:r>
            <a:r>
              <a:rPr sz="1800" dirty="0">
                <a:latin typeface="Cambria"/>
                <a:cs typeface="Cambria"/>
              </a:rPr>
              <a:t>passing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coprocessor(i.e.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second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system),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because 	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access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same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instant.</a:t>
            </a:r>
            <a:endParaRPr sz="1800">
              <a:latin typeface="Cambria"/>
              <a:cs typeface="Cambria"/>
            </a:endParaRPr>
          </a:p>
          <a:p>
            <a:pPr marL="298450" lvl="1" indent="-285750" algn="just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All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execute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their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own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program.</a:t>
            </a:r>
            <a:endParaRPr sz="1800">
              <a:latin typeface="Cambria"/>
              <a:cs typeface="Cambria"/>
            </a:endParaRPr>
          </a:p>
          <a:p>
            <a:pPr marL="299085" lvl="1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common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global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resources.</a:t>
            </a:r>
            <a:endParaRPr sz="180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resources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allocated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particular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3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known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local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or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46223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A82A-D9CD-68CF-0979-9557E054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91B341-C427-2B79-965A-152F6D362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2743200"/>
            <a:ext cx="7019925" cy="460375"/>
          </a:xfrm>
          <a:prstGeom prst="rect">
            <a:avLst/>
          </a:prstGeom>
          <a:solidFill>
            <a:srgbClr val="C3D59B"/>
          </a:solidFill>
        </p:spPr>
        <p:txBody>
          <a:bodyPr vert="horz" wrap="square" lIns="0" tIns="38100" rIns="0" bIns="0" rtlCol="0">
            <a:spAutoFit/>
          </a:bodyPr>
          <a:lstStyle/>
          <a:p>
            <a:pPr marL="75565" algn="ctr">
              <a:lnSpc>
                <a:spcPct val="100000"/>
              </a:lnSpc>
              <a:spcBef>
                <a:spcPts val="300"/>
              </a:spcBef>
            </a:pP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MINIMUM</a:t>
            </a:r>
            <a:r>
              <a:rPr sz="2400" b="1" spc="-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MODE</a:t>
            </a:r>
            <a:r>
              <a:rPr sz="2400" b="1" spc="-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C00000"/>
                </a:solidFill>
                <a:latin typeface="Cambria"/>
                <a:cs typeface="Cambria"/>
              </a:rPr>
              <a:t>OPERATION</a:t>
            </a:r>
            <a:r>
              <a:rPr sz="24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400" b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mbria"/>
                <a:cs typeface="Cambria"/>
              </a:rPr>
              <a:t>8086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45261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3EC4-34F1-7AAE-B8CE-4D9A735E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A9D0C9-C2C8-3F46-9F2E-6605FD6ADFC2}"/>
              </a:ext>
            </a:extLst>
          </p:cNvPr>
          <p:cNvSpPr txBox="1"/>
          <p:nvPr/>
        </p:nvSpPr>
        <p:spPr>
          <a:xfrm>
            <a:off x="460044" y="444753"/>
            <a:ext cx="8458200" cy="578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microprocessor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MN/MX’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1.</a:t>
            </a:r>
            <a:endParaRPr sz="1800">
              <a:latin typeface="Cambria"/>
              <a:cs typeface="Cambria"/>
            </a:endParaRPr>
          </a:p>
          <a:p>
            <a:pPr marL="297815" marR="8255" indent="-285750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mode,8086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only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provides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	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needed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I/O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interfacing.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Here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circuit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simple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but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does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support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multiprocessing.</a:t>
            </a:r>
            <a:endParaRPr sz="1800">
              <a:latin typeface="Cambria"/>
              <a:cs typeface="Cambria"/>
            </a:endParaRPr>
          </a:p>
          <a:p>
            <a:pPr marL="299085" marR="5080" indent="-287020">
              <a:lnSpc>
                <a:spcPts val="4320"/>
              </a:lnSpc>
              <a:spcBef>
                <a:spcPts val="50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components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10" dirty="0">
                <a:latin typeface="Cambria"/>
                <a:cs typeface="Cambria"/>
              </a:rPr>
              <a:t> transceivers,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latches,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8284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clock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generator, </a:t>
            </a:r>
            <a:r>
              <a:rPr sz="1800" spc="-10" dirty="0">
                <a:latin typeface="Cambria"/>
                <a:cs typeface="Cambria"/>
              </a:rPr>
              <a:t>74138 </a:t>
            </a:r>
            <a:r>
              <a:rPr sz="1800" spc="-20" dirty="0">
                <a:latin typeface="Cambria"/>
                <a:cs typeface="Cambria"/>
              </a:rPr>
              <a:t>decoder,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i/o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also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present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system.</a:t>
            </a: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166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long.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access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2^20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memory</a:t>
            </a:r>
            <a:endParaRPr sz="1800">
              <a:latin typeface="Cambria"/>
              <a:cs typeface="Cambria"/>
            </a:endParaRPr>
          </a:p>
          <a:p>
            <a:pPr marL="299085" marR="5715" algn="just">
              <a:lnSpc>
                <a:spcPct val="200100"/>
              </a:lnSpc>
            </a:pPr>
            <a:r>
              <a:rPr sz="1800" dirty="0">
                <a:latin typeface="Cambria"/>
                <a:cs typeface="Cambria"/>
              </a:rPr>
              <a:t>i.e.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1MB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.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bits,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16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bits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A0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A15(or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16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lines)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multiplexed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 </a:t>
            </a:r>
            <a:r>
              <a:rPr sz="1800" dirty="0">
                <a:latin typeface="Cambria"/>
                <a:cs typeface="Cambria"/>
              </a:rPr>
              <a:t>bus.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multiplexing,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means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act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lines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during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first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state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machine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cycle</a:t>
            </a:r>
            <a:r>
              <a:rPr sz="1800" spc="4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4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rest,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act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48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lines.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A16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A19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spc="-25" dirty="0">
                <a:latin typeface="Cambria"/>
                <a:cs typeface="Cambria"/>
              </a:rPr>
              <a:t>are </a:t>
            </a:r>
            <a:r>
              <a:rPr sz="1800" spc="-10" dirty="0">
                <a:latin typeface="Cambria"/>
                <a:cs typeface="Cambria"/>
              </a:rPr>
              <a:t>multiplexed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S3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S6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BHE’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multiplexed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S7.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35070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F7F7-A2DB-3923-5739-7362746D2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14016A2-2118-DAEC-198B-4F34B6132773}"/>
              </a:ext>
            </a:extLst>
          </p:cNvPr>
          <p:cNvSpPr txBox="1"/>
          <p:nvPr/>
        </p:nvSpPr>
        <p:spPr>
          <a:xfrm>
            <a:off x="460044" y="6265983"/>
            <a:ext cx="5333365" cy="30104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60"/>
              </a:spcBef>
            </a:pPr>
            <a:r>
              <a:rPr sz="2700" spc="-15" baseline="1543" dirty="0">
                <a:latin typeface="Cambria"/>
                <a:cs typeface="Cambria"/>
              </a:rPr>
              <a:t>required</a:t>
            </a:r>
            <a:r>
              <a:rPr sz="2700" spc="37" baseline="1543" dirty="0">
                <a:latin typeface="Cambria"/>
                <a:cs typeface="Cambria"/>
              </a:rPr>
              <a:t> </a:t>
            </a:r>
            <a:r>
              <a:rPr sz="2700" baseline="1543" dirty="0">
                <a:latin typeface="Cambria"/>
                <a:cs typeface="Cambria"/>
              </a:rPr>
              <a:t>because</a:t>
            </a:r>
            <a:r>
              <a:rPr sz="2700" spc="30" baseline="1543" dirty="0">
                <a:latin typeface="Cambria"/>
                <a:cs typeface="Cambria"/>
              </a:rPr>
              <a:t> </a:t>
            </a:r>
            <a:r>
              <a:rPr sz="2700" baseline="1543" dirty="0">
                <a:latin typeface="Cambria"/>
                <a:cs typeface="Cambria"/>
              </a:rPr>
              <a:t>the</a:t>
            </a:r>
            <a:r>
              <a:rPr sz="2700" spc="60" baseline="1543" dirty="0">
                <a:latin typeface="Cambria"/>
                <a:cs typeface="Cambria"/>
              </a:rPr>
              <a:t> </a:t>
            </a:r>
            <a:r>
              <a:rPr sz="2700" spc="-15" baseline="1543" dirty="0" err="1">
                <a:latin typeface="Cambria"/>
                <a:cs typeface="Cambria"/>
              </a:rPr>
              <a:t>addres</a:t>
            </a:r>
            <a:r>
              <a:rPr lang="en-IN" sz="2700" spc="-15" baseline="1543" dirty="0">
                <a:latin typeface="Cambria"/>
                <a:cs typeface="Cambria"/>
              </a:rPr>
              <a:t>is 20 bit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9046D4E-A407-07E2-5FCF-4D498BB5851D}"/>
              </a:ext>
            </a:extLst>
          </p:cNvPr>
          <p:cNvSpPr txBox="1"/>
          <p:nvPr/>
        </p:nvSpPr>
        <p:spPr>
          <a:xfrm>
            <a:off x="307340" y="444753"/>
            <a:ext cx="8653780" cy="556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signals</a:t>
            </a:r>
            <a:r>
              <a:rPr sz="18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provided</a:t>
            </a:r>
            <a:r>
              <a:rPr sz="18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8086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memory</a:t>
            </a:r>
            <a:r>
              <a:rPr sz="18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18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i/o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interfacing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1800" dirty="0">
              <a:latin typeface="Cambria"/>
              <a:cs typeface="Cambria"/>
            </a:endParaRPr>
          </a:p>
          <a:p>
            <a:pPr marL="297815" marR="198755" indent="-28575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They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identifying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whether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carrying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in 	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direction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needed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transferred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over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bus,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there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valid 	</a:t>
            </a:r>
            <a:r>
              <a:rPr sz="1800" dirty="0">
                <a:latin typeface="Cambria"/>
                <a:cs typeface="Cambria"/>
              </a:rPr>
              <a:t>write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 put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bus.</a:t>
            </a:r>
            <a:endParaRPr sz="1800" dirty="0">
              <a:latin typeface="Cambria"/>
              <a:cs typeface="Cambria"/>
            </a:endParaRPr>
          </a:p>
          <a:p>
            <a:pPr marL="299085" marR="200025" indent="-287020" algn="just">
              <a:lnSpc>
                <a:spcPts val="4320"/>
              </a:lnSpc>
              <a:spcBef>
                <a:spcPts val="50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Therefore,</a:t>
            </a:r>
            <a:r>
              <a:rPr sz="1800" spc="1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their</a:t>
            </a:r>
            <a:r>
              <a:rPr sz="1800" spc="1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sequence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pattern</a:t>
            </a:r>
            <a:r>
              <a:rPr sz="1800" spc="1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makes</a:t>
            </a:r>
            <a:r>
              <a:rPr sz="1800" spc="17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1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7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operations</a:t>
            </a:r>
            <a:r>
              <a:rPr sz="1800" spc="17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successful</a:t>
            </a:r>
            <a:r>
              <a:rPr sz="1800" spc="1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spc="-50" dirty="0">
                <a:latin typeface="Cambria"/>
                <a:cs typeface="Cambria"/>
              </a:rPr>
              <a:t>a </a:t>
            </a:r>
            <a:r>
              <a:rPr sz="1800" dirty="0">
                <a:latin typeface="Cambria"/>
                <a:cs typeface="Cambria"/>
              </a:rPr>
              <a:t>particular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machine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cycle.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Cambria"/>
              <a:cs typeface="Cambria"/>
            </a:endParaRPr>
          </a:p>
          <a:p>
            <a:pPr marL="165100" algn="just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8282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(8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bits) latch</a:t>
            </a:r>
            <a:r>
              <a:rPr sz="18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1800" dirty="0">
              <a:latin typeface="Cambria"/>
              <a:cs typeface="Cambria"/>
            </a:endParaRPr>
          </a:p>
          <a:p>
            <a:pPr marL="165100" marR="5080" algn="just">
              <a:lnSpc>
                <a:spcPts val="4320"/>
              </a:lnSpc>
              <a:spcBef>
                <a:spcPts val="305"/>
              </a:spcBef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buffered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FF.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separate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</a:t>
            </a:r>
            <a:r>
              <a:rPr sz="1800" dirty="0">
                <a:latin typeface="Cambria"/>
                <a:cs typeface="Cambria"/>
              </a:rPr>
              <a:t>multiplexed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Address/data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ALE,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to </a:t>
            </a:r>
            <a:r>
              <a:rPr sz="1800" dirty="0">
                <a:latin typeface="Cambria"/>
                <a:cs typeface="Cambria"/>
              </a:rPr>
              <a:t>strobe(STB)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8282.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ALE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active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high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signal.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Here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three</a:t>
            </a:r>
            <a:r>
              <a:rPr sz="1800" spc="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latches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are</a:t>
            </a:r>
            <a:endParaRPr sz="1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241212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3608-8014-759D-DD9A-B895D1D3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816F6A-5426-D423-DB92-1ADC8005DFF8}"/>
              </a:ext>
            </a:extLst>
          </p:cNvPr>
          <p:cNvSpPr txBox="1"/>
          <p:nvPr/>
        </p:nvSpPr>
        <p:spPr>
          <a:xfrm>
            <a:off x="307340" y="264921"/>
            <a:ext cx="8535035" cy="301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8286</a:t>
            </a:r>
            <a:r>
              <a:rPr sz="18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(8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bits)</a:t>
            </a:r>
            <a:r>
              <a:rPr sz="18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transceivers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1900"/>
              </a:spcBef>
            </a:pPr>
            <a:r>
              <a:rPr sz="1800" dirty="0">
                <a:latin typeface="Cambria"/>
                <a:cs typeface="Cambria"/>
              </a:rPr>
              <a:t>They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3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bidirectional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buffers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3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also</a:t>
            </a:r>
            <a:r>
              <a:rPr sz="1800" spc="2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known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amplifiers.</a:t>
            </a:r>
            <a:r>
              <a:rPr sz="1800" spc="3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3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to</a:t>
            </a:r>
            <a:endParaRPr sz="1800">
              <a:latin typeface="Cambria"/>
              <a:cs typeface="Cambria"/>
            </a:endParaRPr>
          </a:p>
          <a:p>
            <a:pPr marL="12700" marR="5080" algn="just">
              <a:lnSpc>
                <a:spcPts val="4320"/>
              </a:lnSpc>
              <a:spcBef>
                <a:spcPts val="300"/>
              </a:spcBef>
            </a:pPr>
            <a:r>
              <a:rPr sz="1800" dirty="0">
                <a:latin typeface="Cambria"/>
                <a:cs typeface="Cambria"/>
              </a:rPr>
              <a:t>separate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3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multiplexed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add/data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bus.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3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transceivers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are </a:t>
            </a:r>
            <a:r>
              <a:rPr sz="1800" dirty="0">
                <a:latin typeface="Cambria"/>
                <a:cs typeface="Cambria"/>
              </a:rPr>
              <a:t>needed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because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16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bits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long.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8286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3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DT/R’</a:t>
            </a:r>
            <a:r>
              <a:rPr sz="1800" spc="2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DEN’ </a:t>
            </a:r>
            <a:r>
              <a:rPr sz="1800" dirty="0">
                <a:latin typeface="Cambria"/>
                <a:cs typeface="Cambria"/>
              </a:rPr>
              <a:t>signals.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enabled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through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.The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direction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bus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controlled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DT/R’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signal.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DT/R’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DEN’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OE’.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2E1CF96-0FC4-F42E-CE96-FD3358FB2C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432" y="3657600"/>
            <a:ext cx="5279136" cy="20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57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6312-9D9D-F540-1D07-65D0BAD7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B49DD0-40D3-581D-D743-32F67AC1F9ED}"/>
              </a:ext>
            </a:extLst>
          </p:cNvPr>
          <p:cNvSpPr txBox="1"/>
          <p:nvPr/>
        </p:nvSpPr>
        <p:spPr>
          <a:xfrm>
            <a:off x="231140" y="203580"/>
            <a:ext cx="8764270" cy="49657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8284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clock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generator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 to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provide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clock.</a:t>
            </a: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  <a:tab pos="8415655" algn="l"/>
              </a:tabLst>
            </a:pPr>
            <a:r>
              <a:rPr sz="1800" dirty="0">
                <a:latin typeface="Cambria"/>
                <a:cs typeface="Cambria"/>
              </a:rPr>
              <a:t>M/IO’=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1,then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I/O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transfer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performed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over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bus.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M/IO’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then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25" dirty="0">
                <a:latin typeface="Cambria"/>
                <a:cs typeface="Cambria"/>
              </a:rPr>
              <a:t>I/O</a:t>
            </a:r>
            <a:endParaRPr sz="1800">
              <a:latin typeface="Cambria"/>
              <a:cs typeface="Cambria"/>
            </a:endParaRPr>
          </a:p>
          <a:p>
            <a:pPr marL="299085" algn="just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performed.</a:t>
            </a:r>
            <a:endParaRPr sz="1800">
              <a:latin typeface="Cambria"/>
              <a:cs typeface="Cambria"/>
            </a:endParaRPr>
          </a:p>
          <a:p>
            <a:pPr marL="297815" marR="8890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RD’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write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WR’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identify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whether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cycle or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write 	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cycle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performing.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WR’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,then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	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20" dirty="0">
                <a:latin typeface="Cambria"/>
                <a:cs typeface="Cambria"/>
              </a:rPr>
              <a:t> bus.</a:t>
            </a:r>
            <a:endParaRPr sz="1800">
              <a:latin typeface="Cambria"/>
              <a:cs typeface="Cambria"/>
            </a:endParaRPr>
          </a:p>
          <a:p>
            <a:pPr marL="297815" marR="5715" indent="-285750" algn="just">
              <a:lnSpc>
                <a:spcPct val="15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RD’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performing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instruction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fetch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is 	</a:t>
            </a:r>
            <a:r>
              <a:rPr sz="1800" dirty="0">
                <a:latin typeface="Cambria"/>
                <a:cs typeface="Cambria"/>
              </a:rPr>
              <a:t>occurring .During read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operations,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 control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also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( 	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enable)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external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should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put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	</a:t>
            </a:r>
            <a:r>
              <a:rPr sz="1800" spc="-20" dirty="0">
                <a:latin typeface="Cambria"/>
                <a:cs typeface="Cambria"/>
              </a:rPr>
              <a:t>bus.</a:t>
            </a:r>
            <a:endParaRPr sz="1800">
              <a:latin typeface="Cambria"/>
              <a:cs typeface="Cambria"/>
            </a:endParaRPr>
          </a:p>
          <a:p>
            <a:pPr marL="297815" marR="5715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generated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decoding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M/IO’,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RD’,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WR’.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are 	</a:t>
            </a:r>
            <a:r>
              <a:rPr sz="1800" dirty="0">
                <a:latin typeface="Cambria"/>
                <a:cs typeface="Cambria"/>
              </a:rPr>
              <a:t>decoded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74138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3:8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decoder.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29106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192E-9181-50E5-3F06-D612F308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3BCE50E-86BF-6285-6B1A-4373EB9337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112" y="152191"/>
            <a:ext cx="7318655" cy="305735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9D62ED3-BA00-D625-0F69-C0D75B962BB8}"/>
              </a:ext>
            </a:extLst>
          </p:cNvPr>
          <p:cNvSpPr txBox="1"/>
          <p:nvPr/>
        </p:nvSpPr>
        <p:spPr>
          <a:xfrm>
            <a:off x="612444" y="3874973"/>
            <a:ext cx="8228965" cy="249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INTR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and 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INTA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200100"/>
              </a:lnSpc>
            </a:pPr>
            <a:r>
              <a:rPr sz="1800" dirty="0">
                <a:latin typeface="Cambria"/>
                <a:cs typeface="Cambria"/>
              </a:rPr>
              <a:t>When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1,then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there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interrupt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their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service.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INTA’=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0,then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ready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service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them.</a:t>
            </a:r>
            <a:endParaRPr sz="1800">
              <a:latin typeface="Cambria"/>
              <a:cs typeface="Cambria"/>
            </a:endParaRPr>
          </a:p>
          <a:p>
            <a:pPr marL="12700" marR="6350">
              <a:lnSpc>
                <a:spcPct val="200100"/>
              </a:lnSpc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request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made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HOLD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processor </a:t>
            </a:r>
            <a:r>
              <a:rPr sz="1800" dirty="0">
                <a:latin typeface="Cambria"/>
                <a:cs typeface="Cambria"/>
              </a:rPr>
              <a:t>acknowledges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them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HLDA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signal.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503345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F71E-11B3-12EF-59D3-A4A90415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EC8FC6-221A-66D3-4BDA-BBFB584E942D}"/>
              </a:ext>
            </a:extLst>
          </p:cNvPr>
          <p:cNvSpPr/>
          <p:nvPr/>
        </p:nvSpPr>
        <p:spPr>
          <a:xfrm>
            <a:off x="15240" y="27432"/>
            <a:ext cx="9128760" cy="585470"/>
          </a:xfrm>
          <a:custGeom>
            <a:avLst/>
            <a:gdLst/>
            <a:ahLst/>
            <a:cxnLst/>
            <a:rect l="l" t="t" r="r" b="b"/>
            <a:pathLst>
              <a:path w="9128760" h="585470">
                <a:moveTo>
                  <a:pt x="9128760" y="0"/>
                </a:moveTo>
                <a:lnTo>
                  <a:pt x="0" y="0"/>
                </a:lnTo>
                <a:lnTo>
                  <a:pt x="0" y="585216"/>
                </a:lnTo>
                <a:lnTo>
                  <a:pt x="9128760" y="585216"/>
                </a:lnTo>
                <a:lnTo>
                  <a:pt x="9128760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BBD1500-C3FE-19AE-AE91-990D141B2F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362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Read</a:t>
            </a:r>
            <a:r>
              <a:rPr sz="3200" b="1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E151CB-F255-28A9-0F5E-B2360290441A}"/>
              </a:ext>
            </a:extLst>
          </p:cNvPr>
          <p:cNvSpPr txBox="1"/>
          <p:nvPr/>
        </p:nvSpPr>
        <p:spPr>
          <a:xfrm>
            <a:off x="383844" y="1151966"/>
            <a:ext cx="8601075" cy="5208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mbria"/>
                <a:cs typeface="Cambria"/>
              </a:rPr>
              <a:t>Timing</a:t>
            </a:r>
            <a:r>
              <a:rPr sz="2000" b="1" spc="-10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diagram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375285" indent="-286385">
              <a:lnSpc>
                <a:spcPct val="100000"/>
              </a:lnSpc>
              <a:buFont typeface="Wingdings"/>
              <a:buChar char=""/>
              <a:tabLst>
                <a:tab pos="375285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working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min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easily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understood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by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timing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diagrams.</a:t>
            </a:r>
            <a:endParaRPr sz="2000">
              <a:latin typeface="Cambria"/>
              <a:cs typeface="Cambria"/>
            </a:endParaRPr>
          </a:p>
          <a:p>
            <a:pPr marL="375285" marR="81280" indent="-287020">
              <a:lnSpc>
                <a:spcPct val="200100"/>
              </a:lnSpc>
              <a:buFont typeface="Wingdings"/>
              <a:buChar char=""/>
              <a:tabLst>
                <a:tab pos="375285" algn="l"/>
              </a:tabLst>
            </a:pPr>
            <a:r>
              <a:rPr sz="2000" dirty="0">
                <a:latin typeface="Cambria"/>
                <a:cs typeface="Cambria"/>
              </a:rPr>
              <a:t>All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processors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cycle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least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4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T-states(T</a:t>
            </a:r>
            <a:r>
              <a:rPr sz="2025" spc="-15" baseline="-20576" dirty="0">
                <a:latin typeface="Cambria"/>
                <a:cs typeface="Cambria"/>
              </a:rPr>
              <a:t>1</a:t>
            </a:r>
            <a:r>
              <a:rPr sz="2000" spc="-10" dirty="0">
                <a:latin typeface="Cambria"/>
                <a:cs typeface="Cambria"/>
              </a:rPr>
              <a:t>,T</a:t>
            </a:r>
            <a:r>
              <a:rPr sz="2025" spc="-15" baseline="-20576" dirty="0">
                <a:latin typeface="Cambria"/>
                <a:cs typeface="Cambria"/>
              </a:rPr>
              <a:t>2</a:t>
            </a:r>
            <a:r>
              <a:rPr sz="2000" spc="-10" dirty="0">
                <a:latin typeface="Cambria"/>
                <a:cs typeface="Cambria"/>
              </a:rPr>
              <a:t>,T</a:t>
            </a:r>
            <a:r>
              <a:rPr sz="2025" spc="-15" baseline="-20576" dirty="0">
                <a:latin typeface="Cambria"/>
                <a:cs typeface="Cambria"/>
              </a:rPr>
              <a:t>3</a:t>
            </a:r>
            <a:r>
              <a:rPr sz="2000" spc="-10" dirty="0">
                <a:latin typeface="Cambria"/>
                <a:cs typeface="Cambria"/>
              </a:rPr>
              <a:t>,T</a:t>
            </a:r>
            <a:r>
              <a:rPr sz="2025" spc="-15" baseline="-20576" dirty="0">
                <a:latin typeface="Cambria"/>
                <a:cs typeface="Cambria"/>
              </a:rPr>
              <a:t>4</a:t>
            </a:r>
            <a:r>
              <a:rPr sz="2000" spc="-10" dirty="0">
                <a:latin typeface="Cambria"/>
                <a:cs typeface="Cambria"/>
              </a:rPr>
              <a:t>)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.The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is </a:t>
            </a:r>
            <a:r>
              <a:rPr sz="2000" spc="-10" dirty="0">
                <a:latin typeface="Cambria"/>
                <a:cs typeface="Cambria"/>
              </a:rPr>
              <a:t>given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by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processor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T1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state.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available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one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T-</a:t>
            </a:r>
            <a:r>
              <a:rPr sz="2000" b="1" spc="-10" dirty="0">
                <a:latin typeface="Cambria"/>
                <a:cs typeface="Cambria"/>
              </a:rPr>
              <a:t>state.</a:t>
            </a:r>
            <a:endParaRPr sz="2000">
              <a:latin typeface="Cambria"/>
              <a:cs typeface="Cambria"/>
            </a:endParaRPr>
          </a:p>
          <a:p>
            <a:pPr marL="375285" marR="76835" indent="-287020">
              <a:lnSpc>
                <a:spcPct val="200100"/>
              </a:lnSpc>
              <a:buFont typeface="Wingdings"/>
              <a:buChar char=""/>
              <a:tabLst>
                <a:tab pos="375285" algn="l"/>
              </a:tabLst>
            </a:pPr>
            <a:r>
              <a:rPr sz="2000" dirty="0">
                <a:latin typeface="Cambria"/>
                <a:cs typeface="Cambria"/>
              </a:rPr>
              <a:t>In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</a:t>
            </a:r>
            <a:r>
              <a:rPr sz="2025" baseline="-20576" dirty="0">
                <a:latin typeface="Cambria"/>
                <a:cs typeface="Cambria"/>
              </a:rPr>
              <a:t>2,</a:t>
            </a:r>
            <a:r>
              <a:rPr sz="2025" spc="-67" baseline="-2057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tristated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changing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direction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bus(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case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of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read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cycle.)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2000">
              <a:latin typeface="Cambria"/>
              <a:cs typeface="Cambria"/>
            </a:endParaRPr>
          </a:p>
          <a:p>
            <a:pPr marL="3752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75285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transfer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takes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place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between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</a:t>
            </a:r>
            <a:r>
              <a:rPr sz="2025" baseline="-20576" dirty="0">
                <a:latin typeface="Cambria"/>
                <a:cs typeface="Cambria"/>
              </a:rPr>
              <a:t>3</a:t>
            </a:r>
            <a:r>
              <a:rPr sz="2025" spc="150" baseline="-2057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</a:t>
            </a:r>
            <a:r>
              <a:rPr sz="2025" spc="-37" baseline="-20576" dirty="0">
                <a:latin typeface="Cambria"/>
                <a:cs typeface="Cambria"/>
              </a:rPr>
              <a:t>4</a:t>
            </a:r>
            <a:r>
              <a:rPr sz="2000" spc="-25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375285" marR="73660" indent="-287020">
              <a:lnSpc>
                <a:spcPct val="200100"/>
              </a:lnSpc>
              <a:buFont typeface="Wingdings"/>
              <a:buChar char=""/>
              <a:tabLst>
                <a:tab pos="375285" algn="l"/>
              </a:tabLst>
            </a:pPr>
            <a:r>
              <a:rPr sz="2000" dirty="0">
                <a:latin typeface="Cambria"/>
                <a:cs typeface="Cambria"/>
              </a:rPr>
              <a:t>If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addressed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device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slower,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then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wait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state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inserted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between </a:t>
            </a:r>
            <a:r>
              <a:rPr sz="2000" dirty="0">
                <a:latin typeface="Cambria"/>
                <a:cs typeface="Cambria"/>
              </a:rPr>
              <a:t>T</a:t>
            </a:r>
            <a:r>
              <a:rPr sz="2025" baseline="-20576" dirty="0">
                <a:latin typeface="Cambria"/>
                <a:cs typeface="Cambria"/>
              </a:rPr>
              <a:t>3</a:t>
            </a:r>
            <a:r>
              <a:rPr sz="2025" spc="150" baseline="-2057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</a:t>
            </a:r>
            <a:r>
              <a:rPr sz="2025" spc="-37" baseline="-20576" dirty="0">
                <a:latin typeface="Cambria"/>
                <a:cs typeface="Cambria"/>
              </a:rPr>
              <a:t>4</a:t>
            </a:r>
            <a:r>
              <a:rPr sz="2000" spc="-25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82900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0AD9-976A-A091-4B88-9B946208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D3204CD-47FF-0C91-AEFF-41BD22299FEC}"/>
              </a:ext>
            </a:extLst>
          </p:cNvPr>
          <p:cNvGrpSpPr/>
          <p:nvPr/>
        </p:nvGrpSpPr>
        <p:grpSpPr>
          <a:xfrm>
            <a:off x="367597" y="0"/>
            <a:ext cx="8769985" cy="6806565"/>
            <a:chOff x="367597" y="0"/>
            <a:chExt cx="8769985" cy="68065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22C1E22-FE75-93D0-3C2D-2AE9C51DC3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597" y="0"/>
              <a:ext cx="8769837" cy="680643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3A492C-AE42-A01B-980C-C89C88B574F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2863" y="3864825"/>
              <a:ext cx="440270" cy="1037628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8A7CBEA-1C66-D4B9-B930-11035FBC9AB1}"/>
                </a:ext>
              </a:extLst>
            </p:cNvPr>
            <p:cNvSpPr/>
            <p:nvPr/>
          </p:nvSpPr>
          <p:spPr>
            <a:xfrm>
              <a:off x="3182112" y="3887470"/>
              <a:ext cx="231140" cy="775335"/>
            </a:xfrm>
            <a:custGeom>
              <a:avLst/>
              <a:gdLst/>
              <a:ahLst/>
              <a:cxnLst/>
              <a:rect l="l" t="t" r="r" b="b"/>
              <a:pathLst>
                <a:path w="231139" h="775335">
                  <a:moveTo>
                    <a:pt x="69655" y="598102"/>
                  </a:moveTo>
                  <a:lnTo>
                    <a:pt x="62230" y="600709"/>
                  </a:lnTo>
                  <a:lnTo>
                    <a:pt x="56407" y="606045"/>
                  </a:lnTo>
                  <a:lnTo>
                    <a:pt x="53181" y="612917"/>
                  </a:lnTo>
                  <a:lnTo>
                    <a:pt x="52880" y="618380"/>
                  </a:lnTo>
                  <a:lnTo>
                    <a:pt x="52764" y="620480"/>
                  </a:lnTo>
                  <a:lnTo>
                    <a:pt x="55371" y="627887"/>
                  </a:lnTo>
                  <a:lnTo>
                    <a:pt x="143637" y="775080"/>
                  </a:lnTo>
                  <a:lnTo>
                    <a:pt x="165625" y="736345"/>
                  </a:lnTo>
                  <a:lnTo>
                    <a:pt x="123316" y="736345"/>
                  </a:lnTo>
                  <a:lnTo>
                    <a:pt x="122427" y="703579"/>
                  </a:lnTo>
                  <a:lnTo>
                    <a:pt x="120160" y="658858"/>
                  </a:lnTo>
                  <a:lnTo>
                    <a:pt x="89408" y="607567"/>
                  </a:lnTo>
                  <a:lnTo>
                    <a:pt x="77247" y="598519"/>
                  </a:lnTo>
                  <a:lnTo>
                    <a:pt x="69655" y="598102"/>
                  </a:lnTo>
                  <a:close/>
                </a:path>
                <a:path w="231139" h="775335">
                  <a:moveTo>
                    <a:pt x="120160" y="658858"/>
                  </a:moveTo>
                  <a:lnTo>
                    <a:pt x="120776" y="668654"/>
                  </a:lnTo>
                  <a:lnTo>
                    <a:pt x="122343" y="701801"/>
                  </a:lnTo>
                  <a:lnTo>
                    <a:pt x="122427" y="703579"/>
                  </a:lnTo>
                  <a:lnTo>
                    <a:pt x="123285" y="735202"/>
                  </a:lnTo>
                  <a:lnTo>
                    <a:pt x="123316" y="736345"/>
                  </a:lnTo>
                  <a:lnTo>
                    <a:pt x="162940" y="735202"/>
                  </a:lnTo>
                  <a:lnTo>
                    <a:pt x="162697" y="726058"/>
                  </a:lnTo>
                  <a:lnTo>
                    <a:pt x="125984" y="726058"/>
                  </a:lnTo>
                  <a:lnTo>
                    <a:pt x="142725" y="696494"/>
                  </a:lnTo>
                  <a:lnTo>
                    <a:pt x="120160" y="658858"/>
                  </a:lnTo>
                  <a:close/>
                </a:path>
                <a:path w="231139" h="775335">
                  <a:moveTo>
                    <a:pt x="213375" y="596439"/>
                  </a:moveTo>
                  <a:lnTo>
                    <a:pt x="205803" y="596995"/>
                  </a:lnTo>
                  <a:lnTo>
                    <a:pt x="198993" y="600360"/>
                  </a:lnTo>
                  <a:lnTo>
                    <a:pt x="193801" y="606297"/>
                  </a:lnTo>
                  <a:lnTo>
                    <a:pt x="160357" y="665358"/>
                  </a:lnTo>
                  <a:lnTo>
                    <a:pt x="160400" y="665987"/>
                  </a:lnTo>
                  <a:lnTo>
                    <a:pt x="162051" y="701801"/>
                  </a:lnTo>
                  <a:lnTo>
                    <a:pt x="162940" y="735202"/>
                  </a:lnTo>
                  <a:lnTo>
                    <a:pt x="123316" y="736345"/>
                  </a:lnTo>
                  <a:lnTo>
                    <a:pt x="165625" y="736345"/>
                  </a:lnTo>
                  <a:lnTo>
                    <a:pt x="228346" y="625855"/>
                  </a:lnTo>
                  <a:lnTo>
                    <a:pt x="230764" y="618380"/>
                  </a:lnTo>
                  <a:lnTo>
                    <a:pt x="230171" y="610822"/>
                  </a:lnTo>
                  <a:lnTo>
                    <a:pt x="226792" y="604049"/>
                  </a:lnTo>
                  <a:lnTo>
                    <a:pt x="220852" y="598931"/>
                  </a:lnTo>
                  <a:lnTo>
                    <a:pt x="213375" y="596439"/>
                  </a:lnTo>
                  <a:close/>
                </a:path>
                <a:path w="231139" h="775335">
                  <a:moveTo>
                    <a:pt x="142725" y="696494"/>
                  </a:moveTo>
                  <a:lnTo>
                    <a:pt x="125984" y="726058"/>
                  </a:lnTo>
                  <a:lnTo>
                    <a:pt x="160147" y="725550"/>
                  </a:lnTo>
                  <a:lnTo>
                    <a:pt x="142725" y="696494"/>
                  </a:lnTo>
                  <a:close/>
                </a:path>
                <a:path w="231139" h="775335">
                  <a:moveTo>
                    <a:pt x="160357" y="665358"/>
                  </a:moveTo>
                  <a:lnTo>
                    <a:pt x="142725" y="696494"/>
                  </a:lnTo>
                  <a:lnTo>
                    <a:pt x="160147" y="725550"/>
                  </a:lnTo>
                  <a:lnTo>
                    <a:pt x="125984" y="726058"/>
                  </a:lnTo>
                  <a:lnTo>
                    <a:pt x="162697" y="726058"/>
                  </a:lnTo>
                  <a:lnTo>
                    <a:pt x="162099" y="703579"/>
                  </a:lnTo>
                  <a:lnTo>
                    <a:pt x="162051" y="701801"/>
                  </a:lnTo>
                  <a:lnTo>
                    <a:pt x="160523" y="668654"/>
                  </a:lnTo>
                  <a:lnTo>
                    <a:pt x="160400" y="665987"/>
                  </a:lnTo>
                  <a:lnTo>
                    <a:pt x="160357" y="665358"/>
                  </a:lnTo>
                  <a:close/>
                </a:path>
                <a:path w="231139" h="775335">
                  <a:moveTo>
                    <a:pt x="76097" y="406319"/>
                  </a:moveTo>
                  <a:lnTo>
                    <a:pt x="76136" y="406526"/>
                  </a:lnTo>
                  <a:lnTo>
                    <a:pt x="77597" y="408431"/>
                  </a:lnTo>
                  <a:lnTo>
                    <a:pt x="79121" y="411225"/>
                  </a:lnTo>
                  <a:lnTo>
                    <a:pt x="93217" y="453389"/>
                  </a:lnTo>
                  <a:lnTo>
                    <a:pt x="102615" y="498982"/>
                  </a:lnTo>
                  <a:lnTo>
                    <a:pt x="108838" y="539876"/>
                  </a:lnTo>
                  <a:lnTo>
                    <a:pt x="115721" y="600360"/>
                  </a:lnTo>
                  <a:lnTo>
                    <a:pt x="120160" y="658858"/>
                  </a:lnTo>
                  <a:lnTo>
                    <a:pt x="142725" y="696494"/>
                  </a:lnTo>
                  <a:lnTo>
                    <a:pt x="160357" y="665358"/>
                  </a:lnTo>
                  <a:lnTo>
                    <a:pt x="157987" y="631062"/>
                  </a:lnTo>
                  <a:lnTo>
                    <a:pt x="155563" y="601745"/>
                  </a:lnTo>
                  <a:lnTo>
                    <a:pt x="155448" y="600360"/>
                  </a:lnTo>
                  <a:lnTo>
                    <a:pt x="155330" y="598931"/>
                  </a:lnTo>
                  <a:lnTo>
                    <a:pt x="155261" y="598102"/>
                  </a:lnTo>
                  <a:lnTo>
                    <a:pt x="148082" y="534034"/>
                  </a:lnTo>
                  <a:lnTo>
                    <a:pt x="141604" y="491743"/>
                  </a:lnTo>
                  <a:lnTo>
                    <a:pt x="131691" y="443991"/>
                  </a:lnTo>
                  <a:lnTo>
                    <a:pt x="120681" y="407669"/>
                  </a:lnTo>
                  <a:lnTo>
                    <a:pt x="80645" y="407669"/>
                  </a:lnTo>
                  <a:lnTo>
                    <a:pt x="79791" y="407476"/>
                  </a:lnTo>
                  <a:lnTo>
                    <a:pt x="78580" y="407476"/>
                  </a:lnTo>
                  <a:lnTo>
                    <a:pt x="77956" y="407150"/>
                  </a:lnTo>
                  <a:lnTo>
                    <a:pt x="78516" y="407150"/>
                  </a:lnTo>
                  <a:lnTo>
                    <a:pt x="76783" y="406849"/>
                  </a:lnTo>
                  <a:lnTo>
                    <a:pt x="76641" y="406849"/>
                  </a:lnTo>
                  <a:lnTo>
                    <a:pt x="76356" y="406526"/>
                  </a:lnTo>
                  <a:lnTo>
                    <a:pt x="76097" y="406319"/>
                  </a:lnTo>
                  <a:close/>
                </a:path>
                <a:path w="231139" h="775335">
                  <a:moveTo>
                    <a:pt x="79217" y="407150"/>
                  </a:moveTo>
                  <a:lnTo>
                    <a:pt x="78360" y="407150"/>
                  </a:lnTo>
                  <a:lnTo>
                    <a:pt x="80645" y="407669"/>
                  </a:lnTo>
                  <a:lnTo>
                    <a:pt x="79217" y="407150"/>
                  </a:lnTo>
                  <a:close/>
                </a:path>
                <a:path w="231139" h="775335">
                  <a:moveTo>
                    <a:pt x="119490" y="404621"/>
                  </a:moveTo>
                  <a:lnTo>
                    <a:pt x="74675" y="404621"/>
                  </a:lnTo>
                  <a:lnTo>
                    <a:pt x="75021" y="405008"/>
                  </a:lnTo>
                  <a:lnTo>
                    <a:pt x="76931" y="406319"/>
                  </a:lnTo>
                  <a:lnTo>
                    <a:pt x="80645" y="407669"/>
                  </a:lnTo>
                  <a:lnTo>
                    <a:pt x="120681" y="407669"/>
                  </a:lnTo>
                  <a:lnTo>
                    <a:pt x="119919" y="405637"/>
                  </a:lnTo>
                  <a:lnTo>
                    <a:pt x="119490" y="404621"/>
                  </a:lnTo>
                  <a:close/>
                </a:path>
                <a:path w="231139" h="775335">
                  <a:moveTo>
                    <a:pt x="39624" y="0"/>
                  </a:moveTo>
                  <a:lnTo>
                    <a:pt x="0" y="507"/>
                  </a:lnTo>
                  <a:lnTo>
                    <a:pt x="376" y="36321"/>
                  </a:lnTo>
                  <a:lnTo>
                    <a:pt x="1365" y="72008"/>
                  </a:lnTo>
                  <a:lnTo>
                    <a:pt x="5333" y="143890"/>
                  </a:lnTo>
                  <a:lnTo>
                    <a:pt x="11556" y="210057"/>
                  </a:lnTo>
                  <a:lnTo>
                    <a:pt x="19557" y="269493"/>
                  </a:lnTo>
                  <a:lnTo>
                    <a:pt x="26669" y="308609"/>
                  </a:lnTo>
                  <a:lnTo>
                    <a:pt x="37211" y="351535"/>
                  </a:lnTo>
                  <a:lnTo>
                    <a:pt x="53212" y="389127"/>
                  </a:lnTo>
                  <a:lnTo>
                    <a:pt x="57404" y="394715"/>
                  </a:lnTo>
                  <a:lnTo>
                    <a:pt x="57912" y="395477"/>
                  </a:lnTo>
                  <a:lnTo>
                    <a:pt x="58546" y="396239"/>
                  </a:lnTo>
                  <a:lnTo>
                    <a:pt x="59308" y="396874"/>
                  </a:lnTo>
                  <a:lnTo>
                    <a:pt x="63373" y="400938"/>
                  </a:lnTo>
                  <a:lnTo>
                    <a:pt x="73458" y="406319"/>
                  </a:lnTo>
                  <a:lnTo>
                    <a:pt x="76173" y="406319"/>
                  </a:lnTo>
                  <a:lnTo>
                    <a:pt x="76314" y="406526"/>
                  </a:lnTo>
                  <a:lnTo>
                    <a:pt x="76652" y="406849"/>
                  </a:lnTo>
                  <a:lnTo>
                    <a:pt x="77378" y="406849"/>
                  </a:lnTo>
                  <a:lnTo>
                    <a:pt x="78580" y="407476"/>
                  </a:lnTo>
                  <a:lnTo>
                    <a:pt x="78116" y="407150"/>
                  </a:lnTo>
                  <a:lnTo>
                    <a:pt x="77797" y="407150"/>
                  </a:lnTo>
                  <a:lnTo>
                    <a:pt x="77548" y="406849"/>
                  </a:lnTo>
                  <a:lnTo>
                    <a:pt x="75056" y="405637"/>
                  </a:lnTo>
                  <a:lnTo>
                    <a:pt x="75383" y="405637"/>
                  </a:lnTo>
                  <a:lnTo>
                    <a:pt x="73787" y="404113"/>
                  </a:lnTo>
                  <a:lnTo>
                    <a:pt x="119281" y="404113"/>
                  </a:lnTo>
                  <a:lnTo>
                    <a:pt x="116712" y="397890"/>
                  </a:lnTo>
                  <a:lnTo>
                    <a:pt x="113157" y="390905"/>
                  </a:lnTo>
                  <a:lnTo>
                    <a:pt x="108965" y="384174"/>
                  </a:lnTo>
                  <a:lnTo>
                    <a:pt x="106045" y="380491"/>
                  </a:lnTo>
                  <a:lnTo>
                    <a:pt x="105537" y="379729"/>
                  </a:lnTo>
                  <a:lnTo>
                    <a:pt x="104901" y="378967"/>
                  </a:lnTo>
                  <a:lnTo>
                    <a:pt x="104139" y="378332"/>
                  </a:lnTo>
                  <a:lnTo>
                    <a:pt x="101346" y="375538"/>
                  </a:lnTo>
                  <a:lnTo>
                    <a:pt x="100075" y="374395"/>
                  </a:lnTo>
                  <a:lnTo>
                    <a:pt x="98551" y="373252"/>
                  </a:lnTo>
                  <a:lnTo>
                    <a:pt x="97027" y="372490"/>
                  </a:lnTo>
                  <a:lnTo>
                    <a:pt x="94790" y="371220"/>
                  </a:lnTo>
                  <a:lnTo>
                    <a:pt x="89662" y="371220"/>
                  </a:lnTo>
                  <a:lnTo>
                    <a:pt x="88825" y="370585"/>
                  </a:lnTo>
                  <a:lnTo>
                    <a:pt x="87389" y="369551"/>
                  </a:lnTo>
                  <a:lnTo>
                    <a:pt x="87992" y="369551"/>
                  </a:lnTo>
                  <a:lnTo>
                    <a:pt x="82803" y="367664"/>
                  </a:lnTo>
                  <a:lnTo>
                    <a:pt x="86529" y="367664"/>
                  </a:lnTo>
                  <a:lnTo>
                    <a:pt x="72771" y="331850"/>
                  </a:lnTo>
                  <a:lnTo>
                    <a:pt x="63245" y="289051"/>
                  </a:lnTo>
                  <a:lnTo>
                    <a:pt x="60832" y="276732"/>
                  </a:lnTo>
                  <a:lnTo>
                    <a:pt x="54610" y="235838"/>
                  </a:lnTo>
                  <a:lnTo>
                    <a:pt x="47625" y="174370"/>
                  </a:lnTo>
                  <a:lnTo>
                    <a:pt x="42790" y="108838"/>
                  </a:lnTo>
                  <a:lnTo>
                    <a:pt x="42671" y="107060"/>
                  </a:lnTo>
                  <a:lnTo>
                    <a:pt x="41074" y="73151"/>
                  </a:lnTo>
                  <a:lnTo>
                    <a:pt x="41020" y="72008"/>
                  </a:lnTo>
                  <a:lnTo>
                    <a:pt x="40015" y="36702"/>
                  </a:lnTo>
                  <a:lnTo>
                    <a:pt x="39629" y="507"/>
                  </a:lnTo>
                  <a:lnTo>
                    <a:pt x="39624" y="0"/>
                  </a:lnTo>
                  <a:close/>
                </a:path>
                <a:path w="231139" h="775335">
                  <a:moveTo>
                    <a:pt x="75454" y="405637"/>
                  </a:moveTo>
                  <a:lnTo>
                    <a:pt x="75057" y="405637"/>
                  </a:lnTo>
                  <a:lnTo>
                    <a:pt x="76931" y="406319"/>
                  </a:lnTo>
                  <a:lnTo>
                    <a:pt x="73892" y="406319"/>
                  </a:lnTo>
                  <a:lnTo>
                    <a:pt x="74929" y="406526"/>
                  </a:lnTo>
                  <a:lnTo>
                    <a:pt x="78516" y="407150"/>
                  </a:lnTo>
                  <a:lnTo>
                    <a:pt x="78116" y="407150"/>
                  </a:lnTo>
                  <a:lnTo>
                    <a:pt x="78580" y="407476"/>
                  </a:lnTo>
                  <a:lnTo>
                    <a:pt x="79791" y="407476"/>
                  </a:lnTo>
                  <a:lnTo>
                    <a:pt x="77033" y="406849"/>
                  </a:lnTo>
                  <a:lnTo>
                    <a:pt x="76383" y="406849"/>
                  </a:lnTo>
                  <a:lnTo>
                    <a:pt x="75454" y="405637"/>
                  </a:lnTo>
                  <a:close/>
                </a:path>
                <a:path w="231139" h="775335">
                  <a:moveTo>
                    <a:pt x="77378" y="406849"/>
                  </a:moveTo>
                  <a:lnTo>
                    <a:pt x="77033" y="406849"/>
                  </a:lnTo>
                  <a:lnTo>
                    <a:pt x="78360" y="407150"/>
                  </a:lnTo>
                  <a:lnTo>
                    <a:pt x="77956" y="407150"/>
                  </a:lnTo>
                  <a:lnTo>
                    <a:pt x="77378" y="406849"/>
                  </a:lnTo>
                  <a:close/>
                </a:path>
                <a:path w="231139" h="775335">
                  <a:moveTo>
                    <a:pt x="75057" y="405637"/>
                  </a:moveTo>
                  <a:lnTo>
                    <a:pt x="77548" y="406849"/>
                  </a:lnTo>
                  <a:lnTo>
                    <a:pt x="77797" y="407150"/>
                  </a:lnTo>
                  <a:lnTo>
                    <a:pt x="78116" y="407150"/>
                  </a:lnTo>
                  <a:lnTo>
                    <a:pt x="76931" y="406319"/>
                  </a:lnTo>
                  <a:lnTo>
                    <a:pt x="75057" y="405637"/>
                  </a:lnTo>
                  <a:close/>
                </a:path>
                <a:path w="231139" h="775335">
                  <a:moveTo>
                    <a:pt x="76931" y="406319"/>
                  </a:moveTo>
                  <a:lnTo>
                    <a:pt x="78116" y="407150"/>
                  </a:lnTo>
                  <a:lnTo>
                    <a:pt x="79217" y="407150"/>
                  </a:lnTo>
                  <a:lnTo>
                    <a:pt x="76931" y="406319"/>
                  </a:lnTo>
                  <a:close/>
                </a:path>
                <a:path w="231139" h="775335">
                  <a:moveTo>
                    <a:pt x="74310" y="404494"/>
                  </a:moveTo>
                  <a:lnTo>
                    <a:pt x="74319" y="404621"/>
                  </a:lnTo>
                  <a:lnTo>
                    <a:pt x="76097" y="406319"/>
                  </a:lnTo>
                  <a:lnTo>
                    <a:pt x="75572" y="405637"/>
                  </a:lnTo>
                  <a:lnTo>
                    <a:pt x="75260" y="405383"/>
                  </a:lnTo>
                  <a:lnTo>
                    <a:pt x="74972" y="405008"/>
                  </a:lnTo>
                  <a:lnTo>
                    <a:pt x="74310" y="404494"/>
                  </a:lnTo>
                  <a:close/>
                </a:path>
                <a:path w="231139" h="775335">
                  <a:moveTo>
                    <a:pt x="75021" y="405008"/>
                  </a:moveTo>
                  <a:lnTo>
                    <a:pt x="76173" y="406319"/>
                  </a:lnTo>
                  <a:lnTo>
                    <a:pt x="76931" y="406319"/>
                  </a:lnTo>
                  <a:lnTo>
                    <a:pt x="75021" y="405008"/>
                  </a:lnTo>
                  <a:close/>
                </a:path>
                <a:path w="231139" h="775335">
                  <a:moveTo>
                    <a:pt x="119281" y="404113"/>
                  </a:moveTo>
                  <a:lnTo>
                    <a:pt x="73787" y="404113"/>
                  </a:lnTo>
                  <a:lnTo>
                    <a:pt x="75015" y="405008"/>
                  </a:lnTo>
                  <a:lnTo>
                    <a:pt x="74675" y="404621"/>
                  </a:lnTo>
                  <a:lnTo>
                    <a:pt x="119490" y="404621"/>
                  </a:lnTo>
                  <a:lnTo>
                    <a:pt x="119281" y="404113"/>
                  </a:lnTo>
                  <a:close/>
                </a:path>
                <a:path w="231139" h="775335">
                  <a:moveTo>
                    <a:pt x="87992" y="369551"/>
                  </a:moveTo>
                  <a:lnTo>
                    <a:pt x="88119" y="369823"/>
                  </a:lnTo>
                  <a:lnTo>
                    <a:pt x="88825" y="370585"/>
                  </a:lnTo>
                  <a:lnTo>
                    <a:pt x="89662" y="371220"/>
                  </a:lnTo>
                  <a:lnTo>
                    <a:pt x="87992" y="369551"/>
                  </a:lnTo>
                  <a:close/>
                </a:path>
                <a:path w="231139" h="775335">
                  <a:moveTo>
                    <a:pt x="87204" y="368522"/>
                  </a:moveTo>
                  <a:lnTo>
                    <a:pt x="87069" y="368522"/>
                  </a:lnTo>
                  <a:lnTo>
                    <a:pt x="87271" y="368830"/>
                  </a:lnTo>
                  <a:lnTo>
                    <a:pt x="87992" y="369551"/>
                  </a:lnTo>
                  <a:lnTo>
                    <a:pt x="88741" y="369823"/>
                  </a:lnTo>
                  <a:lnTo>
                    <a:pt x="88264" y="369823"/>
                  </a:lnTo>
                  <a:lnTo>
                    <a:pt x="89662" y="371220"/>
                  </a:lnTo>
                  <a:lnTo>
                    <a:pt x="94790" y="371220"/>
                  </a:lnTo>
                  <a:lnTo>
                    <a:pt x="92328" y="369823"/>
                  </a:lnTo>
                  <a:lnTo>
                    <a:pt x="88632" y="369823"/>
                  </a:lnTo>
                  <a:lnTo>
                    <a:pt x="88116" y="369551"/>
                  </a:lnTo>
                  <a:lnTo>
                    <a:pt x="91512" y="369551"/>
                  </a:lnTo>
                  <a:lnTo>
                    <a:pt x="89347" y="368830"/>
                  </a:lnTo>
                  <a:lnTo>
                    <a:pt x="88621" y="368830"/>
                  </a:lnTo>
                  <a:lnTo>
                    <a:pt x="87204" y="368522"/>
                  </a:lnTo>
                  <a:close/>
                </a:path>
                <a:path w="231139" h="775335">
                  <a:moveTo>
                    <a:pt x="84796" y="367664"/>
                  </a:moveTo>
                  <a:lnTo>
                    <a:pt x="86380" y="368830"/>
                  </a:lnTo>
                  <a:lnTo>
                    <a:pt x="88834" y="370585"/>
                  </a:lnTo>
                  <a:lnTo>
                    <a:pt x="87860" y="369551"/>
                  </a:lnTo>
                  <a:lnTo>
                    <a:pt x="88116" y="369551"/>
                  </a:lnTo>
                  <a:lnTo>
                    <a:pt x="86165" y="368522"/>
                  </a:lnTo>
                  <a:lnTo>
                    <a:pt x="85756" y="368207"/>
                  </a:lnTo>
                  <a:lnTo>
                    <a:pt x="84796" y="367664"/>
                  </a:lnTo>
                  <a:close/>
                </a:path>
                <a:path w="231139" h="775335">
                  <a:moveTo>
                    <a:pt x="82803" y="367664"/>
                  </a:moveTo>
                  <a:lnTo>
                    <a:pt x="87992" y="369551"/>
                  </a:lnTo>
                  <a:lnTo>
                    <a:pt x="87389" y="369551"/>
                  </a:lnTo>
                  <a:lnTo>
                    <a:pt x="85536" y="368207"/>
                  </a:lnTo>
                  <a:lnTo>
                    <a:pt x="86083" y="368207"/>
                  </a:lnTo>
                  <a:lnTo>
                    <a:pt x="82803" y="367664"/>
                  </a:lnTo>
                  <a:close/>
                </a:path>
                <a:path w="231139" h="775335">
                  <a:moveTo>
                    <a:pt x="86529" y="367664"/>
                  </a:moveTo>
                  <a:lnTo>
                    <a:pt x="84796" y="367664"/>
                  </a:lnTo>
                  <a:lnTo>
                    <a:pt x="85756" y="368207"/>
                  </a:lnTo>
                  <a:lnTo>
                    <a:pt x="87204" y="368522"/>
                  </a:lnTo>
                  <a:lnTo>
                    <a:pt x="86165" y="368522"/>
                  </a:lnTo>
                  <a:lnTo>
                    <a:pt x="88116" y="369551"/>
                  </a:lnTo>
                  <a:lnTo>
                    <a:pt x="87860" y="369551"/>
                  </a:lnTo>
                  <a:lnTo>
                    <a:pt x="87223" y="368830"/>
                  </a:lnTo>
                  <a:lnTo>
                    <a:pt x="87069" y="368522"/>
                  </a:lnTo>
                  <a:lnTo>
                    <a:pt x="86529" y="367664"/>
                  </a:lnTo>
                  <a:close/>
                </a:path>
                <a:path w="231139" h="775335">
                  <a:moveTo>
                    <a:pt x="85756" y="368207"/>
                  </a:moveTo>
                  <a:lnTo>
                    <a:pt x="86058" y="368522"/>
                  </a:lnTo>
                  <a:lnTo>
                    <a:pt x="87204" y="368522"/>
                  </a:lnTo>
                  <a:lnTo>
                    <a:pt x="85756" y="368207"/>
                  </a:lnTo>
                  <a:close/>
                </a:path>
                <a:path w="231139" h="775335">
                  <a:moveTo>
                    <a:pt x="84793" y="367664"/>
                  </a:moveTo>
                  <a:lnTo>
                    <a:pt x="82803" y="367664"/>
                  </a:lnTo>
                  <a:lnTo>
                    <a:pt x="86083" y="368207"/>
                  </a:lnTo>
                  <a:lnTo>
                    <a:pt x="85536" y="368207"/>
                  </a:lnTo>
                  <a:lnTo>
                    <a:pt x="84793" y="367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C303FAF-03C0-215A-DE6A-CDB5EB6BE53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2472" y="3864914"/>
              <a:ext cx="437159" cy="103157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0FA8F8C-7690-264D-EC9B-239B824B45DC}"/>
                </a:ext>
              </a:extLst>
            </p:cNvPr>
            <p:cNvSpPr/>
            <p:nvPr/>
          </p:nvSpPr>
          <p:spPr>
            <a:xfrm>
              <a:off x="6196323" y="3887470"/>
              <a:ext cx="226060" cy="768985"/>
            </a:xfrm>
            <a:custGeom>
              <a:avLst/>
              <a:gdLst/>
              <a:ahLst/>
              <a:cxnLst/>
              <a:rect l="l" t="t" r="r" b="b"/>
              <a:pathLst>
                <a:path w="226060" h="768985">
                  <a:moveTo>
                    <a:pt x="17389" y="590036"/>
                  </a:moveTo>
                  <a:lnTo>
                    <a:pt x="9911" y="592454"/>
                  </a:lnTo>
                  <a:lnTo>
                    <a:pt x="3972" y="597646"/>
                  </a:lnTo>
                  <a:lnTo>
                    <a:pt x="593" y="604456"/>
                  </a:lnTo>
                  <a:lnTo>
                    <a:pt x="0" y="612028"/>
                  </a:lnTo>
                  <a:lnTo>
                    <a:pt x="2418" y="619505"/>
                  </a:lnTo>
                  <a:lnTo>
                    <a:pt x="87127" y="768730"/>
                  </a:lnTo>
                  <a:lnTo>
                    <a:pt x="110355" y="729995"/>
                  </a:lnTo>
                  <a:lnTo>
                    <a:pt x="107447" y="729995"/>
                  </a:lnTo>
                  <a:lnTo>
                    <a:pt x="67823" y="728852"/>
                  </a:lnTo>
                  <a:lnTo>
                    <a:pt x="68661" y="697864"/>
                  </a:lnTo>
                  <a:lnTo>
                    <a:pt x="68712" y="695959"/>
                  </a:lnTo>
                  <a:lnTo>
                    <a:pt x="70251" y="663066"/>
                  </a:lnTo>
                  <a:lnTo>
                    <a:pt x="70363" y="660653"/>
                  </a:lnTo>
                  <a:lnTo>
                    <a:pt x="70464" y="659045"/>
                  </a:lnTo>
                  <a:lnTo>
                    <a:pt x="36962" y="599947"/>
                  </a:lnTo>
                  <a:lnTo>
                    <a:pt x="31771" y="594008"/>
                  </a:lnTo>
                  <a:lnTo>
                    <a:pt x="24961" y="590629"/>
                  </a:lnTo>
                  <a:lnTo>
                    <a:pt x="17389" y="590036"/>
                  </a:lnTo>
                  <a:close/>
                </a:path>
                <a:path w="226060" h="768985">
                  <a:moveTo>
                    <a:pt x="70464" y="659045"/>
                  </a:moveTo>
                  <a:lnTo>
                    <a:pt x="70363" y="660653"/>
                  </a:lnTo>
                  <a:lnTo>
                    <a:pt x="68712" y="695959"/>
                  </a:lnTo>
                  <a:lnTo>
                    <a:pt x="67823" y="728852"/>
                  </a:lnTo>
                  <a:lnTo>
                    <a:pt x="107447" y="729995"/>
                  </a:lnTo>
                  <a:lnTo>
                    <a:pt x="107694" y="719581"/>
                  </a:lnTo>
                  <a:lnTo>
                    <a:pt x="104780" y="719581"/>
                  </a:lnTo>
                  <a:lnTo>
                    <a:pt x="70617" y="719200"/>
                  </a:lnTo>
                  <a:lnTo>
                    <a:pt x="88067" y="690098"/>
                  </a:lnTo>
                  <a:lnTo>
                    <a:pt x="70464" y="659045"/>
                  </a:lnTo>
                  <a:close/>
                </a:path>
                <a:path w="226060" h="768985">
                  <a:moveTo>
                    <a:pt x="161109" y="591752"/>
                  </a:moveTo>
                  <a:lnTo>
                    <a:pt x="110524" y="652641"/>
                  </a:lnTo>
                  <a:lnTo>
                    <a:pt x="108300" y="695959"/>
                  </a:lnTo>
                  <a:lnTo>
                    <a:pt x="108209" y="697864"/>
                  </a:lnTo>
                  <a:lnTo>
                    <a:pt x="107475" y="728852"/>
                  </a:lnTo>
                  <a:lnTo>
                    <a:pt x="107447" y="729995"/>
                  </a:lnTo>
                  <a:lnTo>
                    <a:pt x="110355" y="729995"/>
                  </a:lnTo>
                  <a:lnTo>
                    <a:pt x="175392" y="621537"/>
                  </a:lnTo>
                  <a:lnTo>
                    <a:pt x="178000" y="614112"/>
                  </a:lnTo>
                  <a:lnTo>
                    <a:pt x="177583" y="606520"/>
                  </a:lnTo>
                  <a:lnTo>
                    <a:pt x="174357" y="599642"/>
                  </a:lnTo>
                  <a:lnTo>
                    <a:pt x="168534" y="594359"/>
                  </a:lnTo>
                  <a:lnTo>
                    <a:pt x="161109" y="591752"/>
                  </a:lnTo>
                  <a:close/>
                </a:path>
                <a:path w="226060" h="768985">
                  <a:moveTo>
                    <a:pt x="88067" y="690098"/>
                  </a:moveTo>
                  <a:lnTo>
                    <a:pt x="70617" y="719200"/>
                  </a:lnTo>
                  <a:lnTo>
                    <a:pt x="104780" y="719581"/>
                  </a:lnTo>
                  <a:lnTo>
                    <a:pt x="88067" y="690098"/>
                  </a:lnTo>
                  <a:close/>
                </a:path>
                <a:path w="226060" h="768985">
                  <a:moveTo>
                    <a:pt x="110524" y="652641"/>
                  </a:moveTo>
                  <a:lnTo>
                    <a:pt x="88067" y="690098"/>
                  </a:lnTo>
                  <a:lnTo>
                    <a:pt x="104780" y="719581"/>
                  </a:lnTo>
                  <a:lnTo>
                    <a:pt x="107694" y="719581"/>
                  </a:lnTo>
                  <a:lnTo>
                    <a:pt x="108209" y="697864"/>
                  </a:lnTo>
                  <a:lnTo>
                    <a:pt x="109860" y="663066"/>
                  </a:lnTo>
                  <a:lnTo>
                    <a:pt x="110524" y="652641"/>
                  </a:lnTo>
                  <a:close/>
                </a:path>
                <a:path w="226060" h="768985">
                  <a:moveTo>
                    <a:pt x="186441" y="0"/>
                  </a:moveTo>
                  <a:lnTo>
                    <a:pt x="185044" y="71373"/>
                  </a:lnTo>
                  <a:lnTo>
                    <a:pt x="181234" y="140080"/>
                  </a:lnTo>
                  <a:lnTo>
                    <a:pt x="175519" y="204342"/>
                  </a:lnTo>
                  <a:lnTo>
                    <a:pt x="168026" y="261619"/>
                  </a:lnTo>
                  <a:lnTo>
                    <a:pt x="159136" y="309371"/>
                  </a:lnTo>
                  <a:lnTo>
                    <a:pt x="156850" y="319912"/>
                  </a:lnTo>
                  <a:lnTo>
                    <a:pt x="144912" y="358139"/>
                  </a:lnTo>
                  <a:lnTo>
                    <a:pt x="140948" y="365632"/>
                  </a:lnTo>
                  <a:lnTo>
                    <a:pt x="139155" y="365632"/>
                  </a:lnTo>
                  <a:lnTo>
                    <a:pt x="135768" y="366902"/>
                  </a:lnTo>
                  <a:lnTo>
                    <a:pt x="133863" y="367918"/>
                  </a:lnTo>
                  <a:lnTo>
                    <a:pt x="129799" y="370331"/>
                  </a:lnTo>
                  <a:lnTo>
                    <a:pt x="128656" y="371220"/>
                  </a:lnTo>
                  <a:lnTo>
                    <a:pt x="127640" y="372236"/>
                  </a:lnTo>
                  <a:lnTo>
                    <a:pt x="124719" y="374903"/>
                  </a:lnTo>
                  <a:lnTo>
                    <a:pt x="123703" y="375792"/>
                  </a:lnTo>
                  <a:lnTo>
                    <a:pt x="122814" y="376808"/>
                  </a:lnTo>
                  <a:lnTo>
                    <a:pt x="122052" y="377951"/>
                  </a:lnTo>
                  <a:lnTo>
                    <a:pt x="119385" y="381761"/>
                  </a:lnTo>
                  <a:lnTo>
                    <a:pt x="103383" y="419988"/>
                  </a:lnTo>
                  <a:lnTo>
                    <a:pt x="92969" y="462660"/>
                  </a:lnTo>
                  <a:lnTo>
                    <a:pt x="86238" y="501395"/>
                  </a:lnTo>
                  <a:lnTo>
                    <a:pt x="78364" y="560196"/>
                  </a:lnTo>
                  <a:lnTo>
                    <a:pt x="75428" y="590036"/>
                  </a:lnTo>
                  <a:lnTo>
                    <a:pt x="75369" y="590629"/>
                  </a:lnTo>
                  <a:lnTo>
                    <a:pt x="75259" y="591752"/>
                  </a:lnTo>
                  <a:lnTo>
                    <a:pt x="72522" y="625982"/>
                  </a:lnTo>
                  <a:lnTo>
                    <a:pt x="70464" y="659045"/>
                  </a:lnTo>
                  <a:lnTo>
                    <a:pt x="88067" y="690098"/>
                  </a:lnTo>
                  <a:lnTo>
                    <a:pt x="110524" y="652641"/>
                  </a:lnTo>
                  <a:lnTo>
                    <a:pt x="112019" y="629157"/>
                  </a:lnTo>
                  <a:lnTo>
                    <a:pt x="114584" y="597646"/>
                  </a:lnTo>
                  <a:lnTo>
                    <a:pt x="121290" y="535431"/>
                  </a:lnTo>
                  <a:lnTo>
                    <a:pt x="127386" y="494664"/>
                  </a:lnTo>
                  <a:lnTo>
                    <a:pt x="136403" y="449579"/>
                  </a:lnTo>
                  <a:lnTo>
                    <a:pt x="147833" y="412241"/>
                  </a:lnTo>
                  <a:lnTo>
                    <a:pt x="151897" y="404494"/>
                  </a:lnTo>
                  <a:lnTo>
                    <a:pt x="147960" y="404494"/>
                  </a:lnTo>
                  <a:lnTo>
                    <a:pt x="151995" y="402949"/>
                  </a:lnTo>
                  <a:lnTo>
                    <a:pt x="152232" y="402949"/>
                  </a:lnTo>
                  <a:lnTo>
                    <a:pt x="153146" y="402296"/>
                  </a:lnTo>
                  <a:lnTo>
                    <a:pt x="154564" y="400684"/>
                  </a:lnTo>
                  <a:lnTo>
                    <a:pt x="160044" y="400684"/>
                  </a:lnTo>
                  <a:lnTo>
                    <a:pt x="163581" y="398652"/>
                  </a:lnTo>
                  <a:lnTo>
                    <a:pt x="164978" y="397509"/>
                  </a:lnTo>
                  <a:lnTo>
                    <a:pt x="166248" y="396366"/>
                  </a:lnTo>
                  <a:lnTo>
                    <a:pt x="169042" y="393572"/>
                  </a:lnTo>
                  <a:lnTo>
                    <a:pt x="169677" y="392810"/>
                  </a:lnTo>
                  <a:lnTo>
                    <a:pt x="170312" y="392175"/>
                  </a:lnTo>
                  <a:lnTo>
                    <a:pt x="183479" y="368299"/>
                  </a:lnTo>
                  <a:lnTo>
                    <a:pt x="138308" y="368299"/>
                  </a:lnTo>
                  <a:lnTo>
                    <a:pt x="139833" y="366648"/>
                  </a:lnTo>
                  <a:lnTo>
                    <a:pt x="135768" y="366648"/>
                  </a:lnTo>
                  <a:lnTo>
                    <a:pt x="139832" y="365632"/>
                  </a:lnTo>
                  <a:lnTo>
                    <a:pt x="142052" y="365229"/>
                  </a:lnTo>
                  <a:lnTo>
                    <a:pt x="145420" y="364489"/>
                  </a:lnTo>
                  <a:lnTo>
                    <a:pt x="184935" y="364489"/>
                  </a:lnTo>
                  <a:lnTo>
                    <a:pt x="187457" y="357250"/>
                  </a:lnTo>
                  <a:lnTo>
                    <a:pt x="197998" y="317626"/>
                  </a:lnTo>
                  <a:lnTo>
                    <a:pt x="207269" y="267207"/>
                  </a:lnTo>
                  <a:lnTo>
                    <a:pt x="215016" y="208279"/>
                  </a:lnTo>
                  <a:lnTo>
                    <a:pt x="220858" y="142620"/>
                  </a:lnTo>
                  <a:lnTo>
                    <a:pt x="224668" y="72389"/>
                  </a:lnTo>
                  <a:lnTo>
                    <a:pt x="226065" y="507"/>
                  </a:lnTo>
                  <a:lnTo>
                    <a:pt x="186441" y="0"/>
                  </a:lnTo>
                  <a:close/>
                </a:path>
                <a:path w="226060" h="768985">
                  <a:moveTo>
                    <a:pt x="153325" y="402440"/>
                  </a:moveTo>
                  <a:lnTo>
                    <a:pt x="147960" y="404494"/>
                  </a:lnTo>
                  <a:lnTo>
                    <a:pt x="150627" y="403859"/>
                  </a:lnTo>
                  <a:lnTo>
                    <a:pt x="150958" y="403859"/>
                  </a:lnTo>
                  <a:lnTo>
                    <a:pt x="152232" y="402949"/>
                  </a:lnTo>
                  <a:lnTo>
                    <a:pt x="152767" y="402949"/>
                  </a:lnTo>
                  <a:lnTo>
                    <a:pt x="153325" y="402440"/>
                  </a:lnTo>
                  <a:close/>
                </a:path>
                <a:path w="226060" h="768985">
                  <a:moveTo>
                    <a:pt x="153336" y="402440"/>
                  </a:moveTo>
                  <a:lnTo>
                    <a:pt x="152767" y="402949"/>
                  </a:lnTo>
                  <a:lnTo>
                    <a:pt x="152217" y="403351"/>
                  </a:lnTo>
                  <a:lnTo>
                    <a:pt x="151770" y="403859"/>
                  </a:lnTo>
                  <a:lnTo>
                    <a:pt x="150627" y="403859"/>
                  </a:lnTo>
                  <a:lnTo>
                    <a:pt x="147960" y="404494"/>
                  </a:lnTo>
                  <a:lnTo>
                    <a:pt x="151897" y="404494"/>
                  </a:lnTo>
                  <a:lnTo>
                    <a:pt x="153336" y="402440"/>
                  </a:lnTo>
                  <a:close/>
                </a:path>
                <a:path w="226060" h="768985">
                  <a:moveTo>
                    <a:pt x="153768" y="402296"/>
                  </a:moveTo>
                  <a:lnTo>
                    <a:pt x="153336" y="402440"/>
                  </a:lnTo>
                  <a:lnTo>
                    <a:pt x="152979" y="402949"/>
                  </a:lnTo>
                  <a:lnTo>
                    <a:pt x="152232" y="402949"/>
                  </a:lnTo>
                  <a:lnTo>
                    <a:pt x="150958" y="403859"/>
                  </a:lnTo>
                  <a:lnTo>
                    <a:pt x="152572" y="402949"/>
                  </a:lnTo>
                  <a:lnTo>
                    <a:pt x="153020" y="402440"/>
                  </a:lnTo>
                  <a:lnTo>
                    <a:pt x="153505" y="402440"/>
                  </a:lnTo>
                  <a:lnTo>
                    <a:pt x="153768" y="402296"/>
                  </a:lnTo>
                  <a:close/>
                </a:path>
                <a:path w="226060" h="768985">
                  <a:moveTo>
                    <a:pt x="152572" y="402949"/>
                  </a:moveTo>
                  <a:lnTo>
                    <a:pt x="150903" y="403859"/>
                  </a:lnTo>
                  <a:lnTo>
                    <a:pt x="151770" y="403859"/>
                  </a:lnTo>
                  <a:lnTo>
                    <a:pt x="152327" y="403351"/>
                  </a:lnTo>
                  <a:lnTo>
                    <a:pt x="152572" y="402949"/>
                  </a:lnTo>
                  <a:close/>
                </a:path>
                <a:path w="226060" h="768985">
                  <a:moveTo>
                    <a:pt x="155031" y="402949"/>
                  </a:moveTo>
                  <a:lnTo>
                    <a:pt x="152979" y="402949"/>
                  </a:lnTo>
                  <a:lnTo>
                    <a:pt x="152342" y="403859"/>
                  </a:lnTo>
                  <a:lnTo>
                    <a:pt x="150627" y="403859"/>
                  </a:lnTo>
                  <a:lnTo>
                    <a:pt x="153421" y="403351"/>
                  </a:lnTo>
                  <a:lnTo>
                    <a:pt x="155031" y="402949"/>
                  </a:lnTo>
                  <a:close/>
                </a:path>
                <a:path w="226060" h="768985">
                  <a:moveTo>
                    <a:pt x="157095" y="402296"/>
                  </a:moveTo>
                  <a:lnTo>
                    <a:pt x="153768" y="402296"/>
                  </a:lnTo>
                  <a:lnTo>
                    <a:pt x="152572" y="402949"/>
                  </a:lnTo>
                  <a:lnTo>
                    <a:pt x="152217" y="403351"/>
                  </a:lnTo>
                  <a:lnTo>
                    <a:pt x="152767" y="402949"/>
                  </a:lnTo>
                  <a:lnTo>
                    <a:pt x="155136" y="402949"/>
                  </a:lnTo>
                  <a:lnTo>
                    <a:pt x="157095" y="402296"/>
                  </a:lnTo>
                  <a:close/>
                </a:path>
                <a:path w="226060" h="768985">
                  <a:moveTo>
                    <a:pt x="153726" y="401882"/>
                  </a:moveTo>
                  <a:lnTo>
                    <a:pt x="153146" y="402296"/>
                  </a:lnTo>
                  <a:lnTo>
                    <a:pt x="152572" y="402949"/>
                  </a:lnTo>
                  <a:lnTo>
                    <a:pt x="151995" y="402949"/>
                  </a:lnTo>
                  <a:lnTo>
                    <a:pt x="153325" y="402440"/>
                  </a:lnTo>
                  <a:lnTo>
                    <a:pt x="153482" y="402296"/>
                  </a:lnTo>
                  <a:lnTo>
                    <a:pt x="153726" y="401882"/>
                  </a:lnTo>
                  <a:close/>
                </a:path>
                <a:path w="226060" h="768985">
                  <a:moveTo>
                    <a:pt x="159149" y="401192"/>
                  </a:moveTo>
                  <a:lnTo>
                    <a:pt x="154691" y="401192"/>
                  </a:lnTo>
                  <a:lnTo>
                    <a:pt x="153936" y="401882"/>
                  </a:lnTo>
                  <a:lnTo>
                    <a:pt x="153436" y="402296"/>
                  </a:lnTo>
                  <a:lnTo>
                    <a:pt x="153336" y="402440"/>
                  </a:lnTo>
                  <a:lnTo>
                    <a:pt x="153700" y="402296"/>
                  </a:lnTo>
                  <a:lnTo>
                    <a:pt x="157204" y="402296"/>
                  </a:lnTo>
                  <a:lnTo>
                    <a:pt x="159149" y="401192"/>
                  </a:lnTo>
                  <a:close/>
                </a:path>
                <a:path w="226060" h="768985">
                  <a:moveTo>
                    <a:pt x="154209" y="401192"/>
                  </a:moveTo>
                  <a:lnTo>
                    <a:pt x="153511" y="401882"/>
                  </a:lnTo>
                  <a:lnTo>
                    <a:pt x="153146" y="402296"/>
                  </a:lnTo>
                  <a:lnTo>
                    <a:pt x="153726" y="401882"/>
                  </a:lnTo>
                  <a:lnTo>
                    <a:pt x="154209" y="401192"/>
                  </a:lnTo>
                  <a:close/>
                </a:path>
                <a:path w="226060" h="768985">
                  <a:moveTo>
                    <a:pt x="154691" y="401192"/>
                  </a:moveTo>
                  <a:lnTo>
                    <a:pt x="153726" y="401882"/>
                  </a:lnTo>
                  <a:lnTo>
                    <a:pt x="153436" y="402296"/>
                  </a:lnTo>
                  <a:lnTo>
                    <a:pt x="153936" y="401882"/>
                  </a:lnTo>
                  <a:lnTo>
                    <a:pt x="154691" y="401192"/>
                  </a:lnTo>
                  <a:close/>
                </a:path>
                <a:path w="226060" h="768985">
                  <a:moveTo>
                    <a:pt x="160044" y="400684"/>
                  </a:moveTo>
                  <a:lnTo>
                    <a:pt x="154564" y="400684"/>
                  </a:lnTo>
                  <a:lnTo>
                    <a:pt x="153726" y="401882"/>
                  </a:lnTo>
                  <a:lnTo>
                    <a:pt x="154691" y="401192"/>
                  </a:lnTo>
                  <a:lnTo>
                    <a:pt x="159149" y="401192"/>
                  </a:lnTo>
                  <a:lnTo>
                    <a:pt x="160044" y="400684"/>
                  </a:lnTo>
                  <a:close/>
                </a:path>
                <a:path w="226060" h="768985">
                  <a:moveTo>
                    <a:pt x="141178" y="365229"/>
                  </a:moveTo>
                  <a:lnTo>
                    <a:pt x="140772" y="365632"/>
                  </a:lnTo>
                  <a:lnTo>
                    <a:pt x="138308" y="368299"/>
                  </a:lnTo>
                  <a:lnTo>
                    <a:pt x="139146" y="367664"/>
                  </a:lnTo>
                  <a:lnTo>
                    <a:pt x="139838" y="366902"/>
                  </a:lnTo>
                  <a:lnTo>
                    <a:pt x="140905" y="365632"/>
                  </a:lnTo>
                  <a:lnTo>
                    <a:pt x="141178" y="365229"/>
                  </a:lnTo>
                  <a:close/>
                </a:path>
                <a:path w="226060" h="768985">
                  <a:moveTo>
                    <a:pt x="143463" y="365229"/>
                  </a:moveTo>
                  <a:lnTo>
                    <a:pt x="142403" y="365229"/>
                  </a:lnTo>
                  <a:lnTo>
                    <a:pt x="138308" y="368299"/>
                  </a:lnTo>
                  <a:lnTo>
                    <a:pt x="183479" y="368299"/>
                  </a:lnTo>
                  <a:lnTo>
                    <a:pt x="184033" y="366902"/>
                  </a:lnTo>
                  <a:lnTo>
                    <a:pt x="184134" y="366648"/>
                  </a:lnTo>
                  <a:lnTo>
                    <a:pt x="139705" y="366648"/>
                  </a:lnTo>
                  <a:lnTo>
                    <a:pt x="143463" y="365229"/>
                  </a:lnTo>
                  <a:close/>
                </a:path>
                <a:path w="226060" h="768985">
                  <a:moveTo>
                    <a:pt x="141607" y="365632"/>
                  </a:moveTo>
                  <a:lnTo>
                    <a:pt x="140917" y="365632"/>
                  </a:lnTo>
                  <a:lnTo>
                    <a:pt x="139197" y="367664"/>
                  </a:lnTo>
                  <a:lnTo>
                    <a:pt x="140506" y="366648"/>
                  </a:lnTo>
                  <a:lnTo>
                    <a:pt x="139705" y="366648"/>
                  </a:lnTo>
                  <a:lnTo>
                    <a:pt x="141607" y="365632"/>
                  </a:lnTo>
                  <a:close/>
                </a:path>
                <a:path w="226060" h="768985">
                  <a:moveTo>
                    <a:pt x="145420" y="364489"/>
                  </a:moveTo>
                  <a:lnTo>
                    <a:pt x="142052" y="365229"/>
                  </a:lnTo>
                  <a:lnTo>
                    <a:pt x="139832" y="365632"/>
                  </a:lnTo>
                  <a:lnTo>
                    <a:pt x="135768" y="366648"/>
                  </a:lnTo>
                  <a:lnTo>
                    <a:pt x="139833" y="366648"/>
                  </a:lnTo>
                  <a:lnTo>
                    <a:pt x="140772" y="365632"/>
                  </a:lnTo>
                  <a:lnTo>
                    <a:pt x="141607" y="365632"/>
                  </a:lnTo>
                  <a:lnTo>
                    <a:pt x="142362" y="365229"/>
                  </a:lnTo>
                  <a:lnTo>
                    <a:pt x="143463" y="365229"/>
                  </a:lnTo>
                  <a:lnTo>
                    <a:pt x="145420" y="364489"/>
                  </a:lnTo>
                  <a:close/>
                </a:path>
                <a:path w="226060" h="768985">
                  <a:moveTo>
                    <a:pt x="142403" y="365229"/>
                  </a:moveTo>
                  <a:lnTo>
                    <a:pt x="141607" y="365632"/>
                  </a:lnTo>
                  <a:lnTo>
                    <a:pt x="139705" y="366648"/>
                  </a:lnTo>
                  <a:lnTo>
                    <a:pt x="140506" y="366648"/>
                  </a:lnTo>
                  <a:lnTo>
                    <a:pt x="142403" y="365229"/>
                  </a:lnTo>
                  <a:close/>
                </a:path>
                <a:path w="226060" h="768985">
                  <a:moveTo>
                    <a:pt x="184935" y="364489"/>
                  </a:moveTo>
                  <a:lnTo>
                    <a:pt x="145420" y="364489"/>
                  </a:lnTo>
                  <a:lnTo>
                    <a:pt x="139705" y="366648"/>
                  </a:lnTo>
                  <a:lnTo>
                    <a:pt x="184134" y="366648"/>
                  </a:lnTo>
                  <a:lnTo>
                    <a:pt x="184536" y="365632"/>
                  </a:lnTo>
                  <a:lnTo>
                    <a:pt x="184935" y="364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10015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C33C-D561-BADA-2F3C-093062B8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3738AC0-85D3-84B8-194D-B0CBC52B76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457200"/>
            <a:ext cx="8406384" cy="580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900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1C9B0-7031-7DB2-F9BD-7E2271A8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E076C0-1D5E-6BFE-F4A4-A301F1761EDB}"/>
              </a:ext>
            </a:extLst>
          </p:cNvPr>
          <p:cNvSpPr txBox="1"/>
          <p:nvPr/>
        </p:nvSpPr>
        <p:spPr>
          <a:xfrm>
            <a:off x="154939" y="216153"/>
            <a:ext cx="8917305" cy="578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At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T1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state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=1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,this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also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/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IO’=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progress.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  <a:tab pos="652780" algn="l"/>
              </a:tabLst>
            </a:pPr>
            <a:r>
              <a:rPr sz="1800" spc="-25" dirty="0">
                <a:latin typeface="Cambria"/>
                <a:cs typeface="Cambria"/>
              </a:rPr>
              <a:t>In</a:t>
            </a:r>
            <a:r>
              <a:rPr sz="1800" dirty="0">
                <a:latin typeface="Cambria"/>
                <a:cs typeface="Cambria"/>
              </a:rPr>
              <a:t>	T2,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removed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local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sent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addressed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device.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mbria"/>
                <a:cs typeface="Cambria"/>
              </a:rPr>
              <a:t>Then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 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tristated.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When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RD’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 valid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present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 data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bus.</a:t>
            </a:r>
            <a:endParaRPr sz="1800">
              <a:latin typeface="Cambria"/>
              <a:cs typeface="Cambria"/>
            </a:endParaRPr>
          </a:p>
          <a:p>
            <a:pPr marL="297815" marR="9525" indent="-28575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During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T2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DEN’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=0,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transceivers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DT/R’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,which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	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0" dirty="0">
                <a:latin typeface="Cambria"/>
                <a:cs typeface="Cambria"/>
              </a:rPr>
              <a:t> received.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During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T3,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put on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it.</a:t>
            </a:r>
            <a:endParaRPr sz="1800">
              <a:latin typeface="Cambria"/>
              <a:cs typeface="Cambria"/>
            </a:endParaRPr>
          </a:p>
          <a:p>
            <a:pPr marL="299085" marR="5080" indent="-287020" algn="just">
              <a:lnSpc>
                <a:spcPts val="4320"/>
              </a:lnSpc>
              <a:spcBef>
                <a:spcPts val="3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4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</a:t>
            </a:r>
            <a:r>
              <a:rPr sz="1800" spc="4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makes</a:t>
            </a:r>
            <a:r>
              <a:rPr sz="1800" spc="4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4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READY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line</a:t>
            </a:r>
            <a:r>
              <a:rPr sz="1800" spc="4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high.</a:t>
            </a:r>
            <a:r>
              <a:rPr sz="1800" spc="4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4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means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4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45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</a:t>
            </a:r>
            <a:r>
              <a:rPr sz="1800" spc="4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has </a:t>
            </a:r>
            <a:r>
              <a:rPr sz="1800" dirty="0">
                <a:latin typeface="Cambria"/>
                <a:cs typeface="Cambria"/>
              </a:rPr>
              <a:t>performed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transfer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process.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makes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read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1, </a:t>
            </a:r>
            <a:r>
              <a:rPr sz="1800" dirty="0">
                <a:latin typeface="Cambria"/>
                <a:cs typeface="Cambria"/>
              </a:rPr>
              <a:t>then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again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tristate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drivers.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98012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3B8E-019A-EF22-0755-1DF71C4C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D13C10-09E4-9111-FDF5-0BCD8A15B9FA}"/>
              </a:ext>
            </a:extLst>
          </p:cNvPr>
          <p:cNvSpPr/>
          <p:nvPr/>
        </p:nvSpPr>
        <p:spPr>
          <a:xfrm>
            <a:off x="15240" y="27432"/>
            <a:ext cx="9128760" cy="585470"/>
          </a:xfrm>
          <a:custGeom>
            <a:avLst/>
            <a:gdLst/>
            <a:ahLst/>
            <a:cxnLst/>
            <a:rect l="l" t="t" r="r" b="b"/>
            <a:pathLst>
              <a:path w="9128760" h="585470">
                <a:moveTo>
                  <a:pt x="9128760" y="0"/>
                </a:moveTo>
                <a:lnTo>
                  <a:pt x="0" y="0"/>
                </a:lnTo>
                <a:lnTo>
                  <a:pt x="0" y="585216"/>
                </a:lnTo>
                <a:lnTo>
                  <a:pt x="9128760" y="585216"/>
                </a:lnTo>
                <a:lnTo>
                  <a:pt x="9128760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767FD6E-64A3-49BE-3ACF-B83D2D9B5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635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Write</a:t>
            </a:r>
            <a:r>
              <a:rPr sz="32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Cycle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4A52645-6B33-71F6-A622-72EBA48BF5E4}"/>
              </a:ext>
            </a:extLst>
          </p:cNvPr>
          <p:cNvSpPr txBox="1"/>
          <p:nvPr/>
        </p:nvSpPr>
        <p:spPr>
          <a:xfrm>
            <a:off x="545388" y="1211960"/>
            <a:ext cx="8067040" cy="469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At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T1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state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=1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,this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latched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mbria"/>
                <a:cs typeface="Cambria"/>
              </a:rPr>
              <a:t>bus and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also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/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IO’=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progress.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T2,</a:t>
            </a:r>
            <a:r>
              <a:rPr sz="1800" spc="3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sends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written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addressed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location.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buffered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 until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middle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T4</a:t>
            </a:r>
            <a:r>
              <a:rPr sz="1800" spc="-10" dirty="0">
                <a:latin typeface="Cambria"/>
                <a:cs typeface="Cambria"/>
              </a:rPr>
              <a:t> state.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WR’=0</a:t>
            </a:r>
            <a:r>
              <a:rPr sz="1800" spc="3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becomes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beginning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5" dirty="0">
                <a:latin typeface="Cambria"/>
                <a:cs typeface="Cambria"/>
              </a:rPr>
              <a:t> T2.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BHE’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A0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select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bytes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I/O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Cambria"/>
                <a:cs typeface="Cambria"/>
              </a:rPr>
              <a:t>word.</a:t>
            </a:r>
            <a:endParaRPr sz="1800">
              <a:latin typeface="Cambria"/>
              <a:cs typeface="Cambria"/>
            </a:endParaRPr>
          </a:p>
          <a:p>
            <a:pPr marL="299085" marR="5080" indent="-287020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During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T2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DEN’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=0,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enables,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transceivers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DT/R’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,which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indicates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transferred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 the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device.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328666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CCB7-8CB0-2214-E495-233C3E0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6AB8971-AB4F-8CA8-C91C-6C173031DC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442" y="0"/>
            <a:ext cx="8822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77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302B-51DF-3E25-67D6-85F2B192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A401A91-0DD6-397D-88B2-9B51F0A834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457200"/>
            <a:ext cx="8324088" cy="591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704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051C-B71A-3984-37F9-AAF83583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84776C-DDAE-7BE1-68F8-BED0404DD024}"/>
              </a:ext>
            </a:extLst>
          </p:cNvPr>
          <p:cNvSpPr/>
          <p:nvPr/>
        </p:nvSpPr>
        <p:spPr>
          <a:xfrm>
            <a:off x="0" y="3200400"/>
            <a:ext cx="9144000" cy="585470"/>
          </a:xfrm>
          <a:custGeom>
            <a:avLst/>
            <a:gdLst/>
            <a:ahLst/>
            <a:cxnLst/>
            <a:rect l="l" t="t" r="r" b="b"/>
            <a:pathLst>
              <a:path w="9144000" h="585470">
                <a:moveTo>
                  <a:pt x="9144000" y="0"/>
                </a:moveTo>
                <a:lnTo>
                  <a:pt x="0" y="0"/>
                </a:lnTo>
                <a:lnTo>
                  <a:pt x="0" y="585216"/>
                </a:lnTo>
                <a:lnTo>
                  <a:pt x="9144000" y="585216"/>
                </a:lnTo>
                <a:lnTo>
                  <a:pt x="9144000" y="0"/>
                </a:lnTo>
                <a:close/>
              </a:path>
            </a:pathLst>
          </a:custGeom>
          <a:solidFill>
            <a:srgbClr val="C3D5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1C9C02-9527-F0E3-898E-24A711D37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6369" y="3222447"/>
            <a:ext cx="62655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MAXIMUM</a:t>
            </a:r>
            <a:r>
              <a:rPr sz="32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MODE</a:t>
            </a:r>
            <a:r>
              <a:rPr sz="32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8086</a:t>
            </a:r>
            <a:r>
              <a:rPr sz="32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11966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A7F4A-AC96-607B-122C-76694F5D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E69741-2318-9817-7388-ECFC107A0480}"/>
              </a:ext>
            </a:extLst>
          </p:cNvPr>
          <p:cNvSpPr txBox="1"/>
          <p:nvPr/>
        </p:nvSpPr>
        <p:spPr>
          <a:xfrm>
            <a:off x="154939" y="292353"/>
            <a:ext cx="8563610" cy="578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When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MN/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MX’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=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works in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max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mode.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Clock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provided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8284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clock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generator.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8288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controller-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form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into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8282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8-bit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latch.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mbria"/>
                <a:cs typeface="Cambria"/>
              </a:rPr>
              <a:t>Three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latches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required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because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</a:t>
            </a:r>
            <a:r>
              <a:rPr sz="1800" spc="-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20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bit.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ALE(Address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enable)</a:t>
            </a:r>
            <a:r>
              <a:rPr sz="1800" spc="3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STB(Strobe)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latch.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for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latch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8288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controller.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operated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through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8286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8-bit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transceiver.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Two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transceivers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required,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because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16-bit.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transceivers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are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enabled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while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direction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controlled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DT/R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signal.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DEN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OE’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R’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110" dirty="0">
                <a:latin typeface="Cambria"/>
                <a:cs typeface="Cambria"/>
              </a:rPr>
              <a:t>T.</a:t>
            </a:r>
            <a:r>
              <a:rPr sz="1800" dirty="0">
                <a:latin typeface="Cambria"/>
                <a:cs typeface="Cambria"/>
              </a:rPr>
              <a:t> Both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DT/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R’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given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by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8288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controller.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09216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0737-7AF3-15F3-BBCC-007DB53E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204E51E-72F9-61D2-5BF6-3941737ED3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467202"/>
            <a:ext cx="7958382" cy="1867625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41DFDBC-EA04-3DEA-2849-E95777DFE8C7}"/>
              </a:ext>
            </a:extLst>
          </p:cNvPr>
          <p:cNvSpPr txBox="1"/>
          <p:nvPr/>
        </p:nvSpPr>
        <p:spPr>
          <a:xfrm>
            <a:off x="383540" y="2884423"/>
            <a:ext cx="793115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Bus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request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RQ’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/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GT’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lines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interfaced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8086.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RQ0/GT0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has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180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more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priority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RQ1/GT1.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spc="-65" dirty="0">
                <a:latin typeface="Cambria"/>
                <a:cs typeface="Cambria"/>
              </a:rPr>
              <a:t>INTA’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8288,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response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interrupt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INTR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line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8086.</a:t>
            </a:r>
            <a:endParaRPr sz="1800">
              <a:latin typeface="Cambria"/>
              <a:cs typeface="Cambria"/>
            </a:endParaRPr>
          </a:p>
          <a:p>
            <a:pPr marL="299085" marR="5080" indent="-287020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max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mode,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advanced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write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T-state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advance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as </a:t>
            </a:r>
            <a:r>
              <a:rPr sz="1800" dirty="0">
                <a:latin typeface="Cambria"/>
                <a:cs typeface="Cambria"/>
              </a:rPr>
              <a:t>compared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normal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write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signals.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slower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devices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more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time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get </a:t>
            </a:r>
            <a:r>
              <a:rPr sz="1800" dirty="0">
                <a:latin typeface="Cambria"/>
                <a:cs typeface="Cambria"/>
              </a:rPr>
              <a:t>ready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accept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therefore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reduces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cycles.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42193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4B0E-1D28-14EE-B5BA-892B1A37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A45515F-FD1E-35CB-B177-E2F47C791A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307" y="626429"/>
            <a:ext cx="8374979" cy="48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578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C4E7-1F4A-7BC3-B2D9-6CDAFC95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6020966-E0FD-FAD0-72BD-AD4D44D80C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115" y="1002972"/>
            <a:ext cx="8432526" cy="336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616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7A0D-11DD-C768-915C-2CA933977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208EA8-B735-5B82-9E44-10728720702A}"/>
              </a:ext>
            </a:extLst>
          </p:cNvPr>
          <p:cNvSpPr txBox="1"/>
          <p:nvPr/>
        </p:nvSpPr>
        <p:spPr>
          <a:xfrm>
            <a:off x="383540" y="657764"/>
            <a:ext cx="8456930" cy="50565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4168140" algn="l"/>
              </a:tabLst>
            </a:pPr>
            <a:r>
              <a:rPr sz="2000" b="1" dirty="0">
                <a:latin typeface="Cambria"/>
                <a:cs typeface="Cambria"/>
              </a:rPr>
              <a:t>MRDC</a:t>
            </a:r>
            <a:r>
              <a:rPr sz="2000" b="1" spc="4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(Memory</a:t>
            </a:r>
            <a:r>
              <a:rPr sz="2000" b="1" spc="48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Read</a:t>
            </a:r>
            <a:r>
              <a:rPr sz="2000" b="1" spc="47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Command)</a:t>
            </a:r>
            <a:r>
              <a:rPr sz="2000" b="1" dirty="0">
                <a:latin typeface="Cambria"/>
                <a:cs typeface="Cambria"/>
              </a:rPr>
              <a:t>	:</a:t>
            </a:r>
            <a:r>
              <a:rPr sz="2000" b="1" spc="4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3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instructs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memory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put</a:t>
            </a:r>
            <a:r>
              <a:rPr sz="2000" spc="30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mbria"/>
                <a:cs typeface="Cambria"/>
              </a:rPr>
              <a:t>contents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addressed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location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bus.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mbria"/>
                <a:cs typeface="Cambria"/>
              </a:rPr>
              <a:t>MWTC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(Memory</a:t>
            </a:r>
            <a:r>
              <a:rPr sz="2000" b="1" spc="1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Write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Command)</a:t>
            </a:r>
            <a:r>
              <a:rPr sz="2000" b="1" spc="17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: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memory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accept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load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addressed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memory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location.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mbria"/>
                <a:cs typeface="Cambria"/>
              </a:rPr>
              <a:t>IORC</a:t>
            </a:r>
            <a:r>
              <a:rPr sz="2000" b="1" spc="4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(I/O</a:t>
            </a:r>
            <a:r>
              <a:rPr sz="2000" b="1" spc="459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Read</a:t>
            </a:r>
            <a:r>
              <a:rPr sz="2000" b="1" spc="4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Command)</a:t>
            </a:r>
            <a:r>
              <a:rPr sz="2000" b="1" spc="4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:</a:t>
            </a:r>
            <a:r>
              <a:rPr sz="2000" b="1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instructs</a:t>
            </a:r>
            <a:r>
              <a:rPr sz="2000" spc="4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I/O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device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put</a:t>
            </a:r>
            <a:r>
              <a:rPr sz="2000" spc="4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43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mbria"/>
                <a:cs typeface="Cambria"/>
              </a:rPr>
              <a:t>contained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addressed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port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bus.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150100"/>
              </a:lnSpc>
            </a:pPr>
            <a:r>
              <a:rPr sz="2000" b="1" dirty="0">
                <a:latin typeface="Cambria"/>
                <a:cs typeface="Cambria"/>
              </a:rPr>
              <a:t>IOWC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(I/0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Write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Command)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: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I/O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device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accept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on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load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into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addressed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port.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9955518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C084-91C4-CE83-174C-60CC201D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3FE68C-B34F-C4E3-F51D-CB7E2BE11628}"/>
              </a:ext>
            </a:extLst>
          </p:cNvPr>
          <p:cNvSpPr txBox="1"/>
          <p:nvPr/>
        </p:nvSpPr>
        <p:spPr>
          <a:xfrm>
            <a:off x="273202" y="520649"/>
            <a:ext cx="8644255" cy="578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MCE/PDEN</a:t>
            </a:r>
            <a:r>
              <a:rPr sz="1800" b="1" spc="7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(Master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Cascade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Enable/Peripheral</a:t>
            </a:r>
            <a:r>
              <a:rPr sz="1800" b="1" spc="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Data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Enable)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controls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</a:t>
            </a:r>
            <a:endParaRPr sz="1800">
              <a:latin typeface="Cambria"/>
              <a:cs typeface="Cambria"/>
            </a:endParaRPr>
          </a:p>
          <a:p>
            <a:pPr marL="12700" marR="6985" algn="just">
              <a:lnSpc>
                <a:spcPct val="200100"/>
              </a:lnSpc>
            </a:pPr>
            <a:r>
              <a:rPr sz="1800" dirty="0">
                <a:latin typeface="Cambria"/>
                <a:cs typeface="Cambria"/>
              </a:rPr>
              <a:t>of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8259.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selects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cascade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8259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(interrupt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controller)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if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IOB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grounded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 I/O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transceivers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if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IOB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tied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high.</a:t>
            </a:r>
            <a:endParaRPr sz="1800">
              <a:latin typeface="Cambria"/>
              <a:cs typeface="Cambria"/>
            </a:endParaRPr>
          </a:p>
          <a:p>
            <a:pPr marL="12700" marR="5080" algn="just">
              <a:lnSpc>
                <a:spcPct val="200100"/>
              </a:lnSpc>
              <a:spcBef>
                <a:spcPts val="5"/>
              </a:spcBef>
            </a:pPr>
            <a:r>
              <a:rPr sz="1800" b="1" dirty="0">
                <a:latin typeface="Cambria"/>
                <a:cs typeface="Cambria"/>
              </a:rPr>
              <a:t>AEN,</a:t>
            </a:r>
            <a:r>
              <a:rPr sz="1800" b="1" spc="3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IOB</a:t>
            </a:r>
            <a:r>
              <a:rPr sz="1800" b="1" spc="38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3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CEN</a:t>
            </a:r>
            <a:r>
              <a:rPr sz="1800" b="1" spc="370" dirty="0">
                <a:latin typeface="Cambria"/>
                <a:cs typeface="Cambria"/>
              </a:rPr>
              <a:t> 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3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These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pins</a:t>
            </a:r>
            <a:r>
              <a:rPr sz="1800" spc="3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3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3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3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multiprocessor</a:t>
            </a:r>
            <a:r>
              <a:rPr sz="1800" spc="3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system.</a:t>
            </a:r>
            <a:r>
              <a:rPr sz="1800" spc="3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single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system,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AEN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IOB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grounded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CEN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tied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high.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AEN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causes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8288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memory control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signals.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IOB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(I/O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mode)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selects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either </a:t>
            </a:r>
            <a:r>
              <a:rPr sz="1800" dirty="0">
                <a:latin typeface="Cambria"/>
                <a:cs typeface="Cambria"/>
              </a:rPr>
              <a:t>the I/O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10" dirty="0">
                <a:latin typeface="Cambria"/>
                <a:cs typeface="Cambria"/>
              </a:rPr>
              <a:t> system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bus</a:t>
            </a:r>
            <a:r>
              <a:rPr sz="1800" spc="-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operation.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CEN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(control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enable)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input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</a:t>
            </a:r>
            <a:r>
              <a:rPr sz="1800" dirty="0">
                <a:latin typeface="Cambria"/>
                <a:cs typeface="Cambria"/>
              </a:rPr>
              <a:t>command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output pins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8288.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mbria"/>
                <a:cs typeface="Cambria"/>
              </a:rPr>
              <a:t>AIOWC/AMWC</a:t>
            </a:r>
            <a:r>
              <a:rPr sz="1800" b="1" spc="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(Advance</a:t>
            </a:r>
            <a:r>
              <a:rPr sz="1800" b="1" spc="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I/O</a:t>
            </a:r>
            <a:r>
              <a:rPr sz="1800" b="1" spc="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Write</a:t>
            </a:r>
            <a:r>
              <a:rPr sz="1800" b="1" spc="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Command/Advance</a:t>
            </a:r>
            <a:r>
              <a:rPr sz="1800" b="1" spc="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Memory</a:t>
            </a:r>
            <a:r>
              <a:rPr sz="1800" b="1" spc="6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Write</a:t>
            </a:r>
            <a:r>
              <a:rPr sz="1800" b="1" spc="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Command)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These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similar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IOWC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MWTC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except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activated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clock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pulse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earlier.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gives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slow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interfaces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extra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clock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cycle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prepare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input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data.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298253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65D4-FFD5-B71B-FF1A-094E6FFC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FBEC93-8924-981B-3F0F-BD88B8764FE2}"/>
              </a:ext>
            </a:extLst>
          </p:cNvPr>
          <p:cNvSpPr txBox="1"/>
          <p:nvPr/>
        </p:nvSpPr>
        <p:spPr>
          <a:xfrm>
            <a:off x="78739" y="313689"/>
            <a:ext cx="8912860" cy="5818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S0,S1,S2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beginning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cycle.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detecting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change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  <a:p>
            <a:pPr marL="299085" marR="5080" indent="-28702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2000" spc="-10" dirty="0">
                <a:latin typeface="Cambria"/>
                <a:cs typeface="Cambria"/>
              </a:rPr>
              <a:t>passive </a:t>
            </a:r>
            <a:r>
              <a:rPr sz="2000" dirty="0">
                <a:latin typeface="Cambria"/>
                <a:cs typeface="Cambria"/>
              </a:rPr>
              <a:t>state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S0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=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S1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=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S2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=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1,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8288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bus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controller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output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pulse on </a:t>
            </a:r>
            <a:r>
              <a:rPr sz="2000" spc="-25" dirty="0">
                <a:latin typeface="Cambria"/>
                <a:cs typeface="Cambria"/>
              </a:rPr>
              <a:t>its </a:t>
            </a:r>
            <a:r>
              <a:rPr sz="2000" dirty="0">
                <a:latin typeface="Cambria"/>
                <a:cs typeface="Cambria"/>
              </a:rPr>
              <a:t>ALE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apply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required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signal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its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DT/R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pin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during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T1.</a:t>
            </a:r>
            <a:endParaRPr sz="2000">
              <a:latin typeface="Cambria"/>
              <a:cs typeface="Cambria"/>
            </a:endParaRPr>
          </a:p>
          <a:p>
            <a:pPr marL="299085" marR="5080" indent="-28702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In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T2,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8288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set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DEN =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thus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enabling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transceiver.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input,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8288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will </a:t>
            </a:r>
            <a:r>
              <a:rPr sz="2000" spc="-10" dirty="0">
                <a:latin typeface="Cambria"/>
                <a:cs typeface="Cambria"/>
              </a:rPr>
              <a:t>activates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MRDC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IORC.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These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signals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activated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until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T4.</a:t>
            </a:r>
            <a:r>
              <a:rPr sz="2000" spc="3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output,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AMWC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AIOWC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activated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T2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T4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MWTC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IOWC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activated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T3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T4.</a:t>
            </a:r>
            <a:endParaRPr sz="2000">
              <a:latin typeface="Cambria"/>
              <a:cs typeface="Cambria"/>
            </a:endParaRPr>
          </a:p>
          <a:p>
            <a:pPr marL="297815" marR="6985" indent="-285750" algn="just">
              <a:lnSpc>
                <a:spcPct val="200100"/>
              </a:lnSpc>
              <a:buFont typeface="Wingdings"/>
              <a:buChar char=""/>
              <a:tabLst>
                <a:tab pos="299085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status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bits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S0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S2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remain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active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until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T3,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become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passive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during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T3 	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T4.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"/>
            </a:pPr>
            <a:endParaRPr sz="20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2000" dirty="0">
                <a:latin typeface="Cambria"/>
                <a:cs typeface="Cambria"/>
              </a:rPr>
              <a:t>If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ready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input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not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activated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before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T3,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wait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state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inserted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between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26815C-AF00-5588-2D81-B605111A6CBE}"/>
              </a:ext>
            </a:extLst>
          </p:cNvPr>
          <p:cNvSpPr txBox="1"/>
          <p:nvPr/>
        </p:nvSpPr>
        <p:spPr>
          <a:xfrm>
            <a:off x="365252" y="6412484"/>
            <a:ext cx="8305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mbria"/>
                <a:cs typeface="Cambria"/>
              </a:rPr>
              <a:t>and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T4.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657020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05EA-9BEE-10D7-7210-432F46DA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F492DB5-79F5-62DF-D62F-065CD02A9A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90" y="0"/>
            <a:ext cx="8960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11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5334-115E-EF64-6D62-67CFBB54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93E183A-4946-70FF-7A0A-7F8702988B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24" y="24382"/>
            <a:ext cx="8979775" cy="683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150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1560" y="2514600"/>
            <a:ext cx="7019925" cy="1323340"/>
            <a:chOff x="1051560" y="2514600"/>
            <a:chExt cx="7019925" cy="1323340"/>
          </a:xfrm>
        </p:grpSpPr>
        <p:sp>
          <p:nvSpPr>
            <p:cNvPr id="3" name="object 3"/>
            <p:cNvSpPr/>
            <p:nvPr/>
          </p:nvSpPr>
          <p:spPr>
            <a:xfrm>
              <a:off x="1051560" y="2514600"/>
              <a:ext cx="7019925" cy="1323340"/>
            </a:xfrm>
            <a:custGeom>
              <a:avLst/>
              <a:gdLst/>
              <a:ahLst/>
              <a:cxnLst/>
              <a:rect l="l" t="t" r="r" b="b"/>
              <a:pathLst>
                <a:path w="7019925" h="1323339">
                  <a:moveTo>
                    <a:pt x="7019544" y="0"/>
                  </a:moveTo>
                  <a:lnTo>
                    <a:pt x="0" y="0"/>
                  </a:lnTo>
                  <a:lnTo>
                    <a:pt x="0" y="1322832"/>
                  </a:lnTo>
                  <a:lnTo>
                    <a:pt x="7019544" y="1322832"/>
                  </a:lnTo>
                  <a:lnTo>
                    <a:pt x="7019544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9032" y="2666949"/>
              <a:ext cx="6274054" cy="4341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2814" y="2674365"/>
              <a:ext cx="6231001" cy="3953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7639" y="3279686"/>
              <a:ext cx="1150416" cy="4311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4691" y="3288665"/>
              <a:ext cx="1112901" cy="3906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333" y="728598"/>
            <a:ext cx="8419465" cy="5123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384175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method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specifying</a:t>
            </a:r>
            <a:r>
              <a:rPr sz="24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operated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an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38481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instruction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addressing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mode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384810" marR="416559" indent="-372745">
              <a:lnSpc>
                <a:spcPct val="200100"/>
              </a:lnSpc>
              <a:spcBef>
                <a:spcPts val="890"/>
              </a:spcBef>
              <a:buSzPct val="95833"/>
              <a:buFont typeface="Arial MT"/>
              <a:buChar char="•"/>
              <a:tabLst>
                <a:tab pos="38481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different</a:t>
            </a:r>
            <a:r>
              <a:rPr sz="24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ways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processor</a:t>
            </a:r>
            <a:r>
              <a:rPr sz="24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r>
              <a:rPr sz="24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are </a:t>
            </a:r>
            <a:r>
              <a:rPr sz="2400" spc="-10" dirty="0">
                <a:latin typeface="Cambria"/>
                <a:cs typeface="Cambria"/>
              </a:rPr>
              <a:t>referred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addressing</a:t>
            </a:r>
            <a:r>
              <a:rPr sz="24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modes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384175" indent="-371475">
              <a:lnSpc>
                <a:spcPct val="100000"/>
              </a:lnSpc>
              <a:buSzPct val="95833"/>
              <a:buFont typeface="Arial MT"/>
              <a:buChar char="•"/>
              <a:tabLst>
                <a:tab pos="384175" algn="l"/>
              </a:tabLst>
            </a:pPr>
            <a:r>
              <a:rPr sz="2400" spc="-10" dirty="0">
                <a:latin typeface="Cambria"/>
                <a:cs typeface="Cambria"/>
              </a:rPr>
              <a:t>Every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instruction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program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data.</a:t>
            </a:r>
            <a:endParaRPr sz="2400" dirty="0">
              <a:latin typeface="Cambria"/>
              <a:cs typeface="Cambria"/>
            </a:endParaRPr>
          </a:p>
          <a:p>
            <a:pPr marL="384810" marR="5080" indent="-372745">
              <a:lnSpc>
                <a:spcPct val="200100"/>
              </a:lnSpc>
              <a:spcBef>
                <a:spcPts val="890"/>
              </a:spcBef>
              <a:buSzPct val="95833"/>
              <a:buFont typeface="Arial MT"/>
              <a:buChar char="•"/>
              <a:tabLst>
                <a:tab pos="38481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different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ways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operand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denoted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 </a:t>
            </a:r>
            <a:r>
              <a:rPr sz="2400" dirty="0">
                <a:latin typeface="Cambria"/>
                <a:cs typeface="Cambria"/>
              </a:rPr>
              <a:t>instruction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known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addressing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modes.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1544" y="1703832"/>
            <a:ext cx="8793480" cy="685800"/>
          </a:xfrm>
          <a:custGeom>
            <a:avLst/>
            <a:gdLst/>
            <a:ahLst/>
            <a:cxnLst/>
            <a:rect l="l" t="t" r="r" b="b"/>
            <a:pathLst>
              <a:path w="8793480" h="685800">
                <a:moveTo>
                  <a:pt x="8793480" y="0"/>
                </a:moveTo>
                <a:lnTo>
                  <a:pt x="0" y="0"/>
                </a:lnTo>
                <a:lnTo>
                  <a:pt x="0" y="685800"/>
                </a:lnTo>
                <a:lnTo>
                  <a:pt x="8793480" y="685800"/>
                </a:lnTo>
                <a:lnTo>
                  <a:pt x="879348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204714" y="1780412"/>
            <a:ext cx="367347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Group</a:t>
            </a:r>
            <a:r>
              <a:rPr sz="16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16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Addressing</a:t>
            </a:r>
            <a:r>
              <a:rPr sz="16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modes</a:t>
            </a:r>
            <a:r>
              <a:rPr sz="16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for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register</a:t>
            </a:r>
            <a:endParaRPr sz="1600" dirty="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</a:pP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mbria"/>
                <a:cs typeface="Cambria"/>
              </a:rPr>
              <a:t>immediate</a:t>
            </a:r>
            <a:r>
              <a:rPr sz="16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endParaRPr sz="1600" dirty="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1544" y="2514600"/>
          <a:ext cx="8808084" cy="4217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9525">
                <a:tc>
                  <a:txBody>
                    <a:bodyPr/>
                    <a:lstStyle/>
                    <a:p>
                      <a:pPr marL="436245" indent="-34480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Direct</a:t>
                      </a:r>
                      <a:r>
                        <a:rPr sz="1400" b="1" spc="-6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3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6245" indent="-344805">
                        <a:lnSpc>
                          <a:spcPct val="100000"/>
                        </a:lnSpc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Register</a:t>
                      </a:r>
                      <a:r>
                        <a:rPr sz="1400" b="1" spc="-7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Indirect</a:t>
                      </a:r>
                      <a:r>
                        <a:rPr sz="1400" b="1" spc="-75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3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6245" indent="-344805">
                        <a:lnSpc>
                          <a:spcPct val="100000"/>
                        </a:lnSpc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Based</a:t>
                      </a:r>
                      <a:r>
                        <a:rPr sz="1400" b="1" spc="-6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3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6245" indent="-344805">
                        <a:lnSpc>
                          <a:spcPct val="100000"/>
                        </a:lnSpc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Indexed</a:t>
                      </a:r>
                      <a:r>
                        <a:rPr sz="1400" b="1" spc="-3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3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6245" indent="-344805">
                        <a:lnSpc>
                          <a:spcPct val="100000"/>
                        </a:lnSpc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Based</a:t>
                      </a:r>
                      <a:r>
                        <a:rPr sz="1400" b="1" spc="-5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Index</a:t>
                      </a:r>
                      <a:r>
                        <a:rPr sz="1400" b="1" spc="-3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3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6245" indent="-344805">
                        <a:lnSpc>
                          <a:spcPct val="100000"/>
                        </a:lnSpc>
                        <a:buAutoNum type="arabicPeriod" startAt="3"/>
                        <a:tabLst>
                          <a:tab pos="436245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r>
                        <a:rPr sz="1400" b="1" spc="-2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R="95885" algn="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Group</a:t>
                      </a:r>
                      <a:r>
                        <a:rPr sz="1600" b="1" spc="-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II :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modes</a:t>
                      </a:r>
                      <a:r>
                        <a:rPr sz="1600" b="1" spc="-3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memory</a:t>
                      </a:r>
                      <a:endParaRPr sz="1600" dirty="0">
                        <a:latin typeface="Cambria"/>
                        <a:cs typeface="Cambria"/>
                      </a:endParaRPr>
                    </a:p>
                    <a:p>
                      <a:pPr marR="98425" algn="r">
                        <a:lnSpc>
                          <a:spcPct val="100000"/>
                        </a:lnSpc>
                      </a:pPr>
                      <a:r>
                        <a:rPr sz="1600" b="1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endParaRPr sz="1600" dirty="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230">
                <a:tc>
                  <a:txBody>
                    <a:bodyPr/>
                    <a:lstStyle/>
                    <a:p>
                      <a:pPr marL="233679" indent="-149225">
                        <a:lnSpc>
                          <a:spcPct val="100000"/>
                        </a:lnSpc>
                        <a:spcBef>
                          <a:spcPts val="405"/>
                        </a:spcBef>
                        <a:buSzPct val="92857"/>
                        <a:buAutoNum type="arabicPeriod" startAt="9"/>
                        <a:tabLst>
                          <a:tab pos="233679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Direct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I/O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port</a:t>
                      </a:r>
                      <a:r>
                        <a:rPr sz="1400" b="1" spc="-4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Clr>
                          <a:srgbClr val="FF0066"/>
                        </a:buClr>
                        <a:buFont typeface="Cambria"/>
                        <a:buAutoNum type="arabicPeriod" startAt="9"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379730" indent="-288290">
                        <a:lnSpc>
                          <a:spcPct val="100000"/>
                        </a:lnSpc>
                        <a:buSzPct val="92857"/>
                        <a:buAutoNum type="arabicPeriod" startAt="9"/>
                        <a:tabLst>
                          <a:tab pos="379730" algn="l"/>
                        </a:tabLst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Indirect</a:t>
                      </a:r>
                      <a:r>
                        <a:rPr sz="1400" b="1" spc="-15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I/O</a:t>
                      </a:r>
                      <a:r>
                        <a:rPr sz="1400" b="1" spc="-3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port</a:t>
                      </a:r>
                      <a:r>
                        <a:rPr sz="1400" b="1" spc="-5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5143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Group</a:t>
                      </a:r>
                      <a:r>
                        <a:rPr sz="1600" b="1" spc="-3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III</a:t>
                      </a:r>
                      <a:r>
                        <a:rPr sz="1600" b="1" spc="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: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600" b="1" spc="-7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modes</a:t>
                      </a:r>
                      <a:r>
                        <a:rPr sz="1600" b="1" spc="-6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I/O</a:t>
                      </a:r>
                      <a:endParaRPr sz="1600" dirty="0">
                        <a:latin typeface="Cambria"/>
                        <a:cs typeface="Cambria"/>
                      </a:endParaRPr>
                    </a:p>
                    <a:p>
                      <a:pPr marR="113664" algn="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ports</a:t>
                      </a:r>
                      <a:endParaRPr sz="1600" dirty="0">
                        <a:latin typeface="Cambria"/>
                        <a:cs typeface="Cambria"/>
                      </a:endParaRPr>
                    </a:p>
                  </a:txBody>
                  <a:tcPr marL="0" marR="0" marT="17399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11.</a:t>
                      </a:r>
                      <a:r>
                        <a:rPr sz="1400" b="1" spc="-6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Relative</a:t>
                      </a:r>
                      <a:r>
                        <a:rPr sz="1400" b="1" spc="-25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312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Group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IV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:</a:t>
                      </a:r>
                      <a:r>
                        <a:rPr sz="1600" b="1" spc="-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Relative</a:t>
                      </a:r>
                      <a:r>
                        <a:rPr sz="1600" b="1" spc="-4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1600" b="1" spc="-6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mode</a:t>
                      </a:r>
                      <a:endParaRPr sz="1600" dirty="0">
                        <a:latin typeface="Cambria"/>
                        <a:cs typeface="Cambria"/>
                      </a:endParaRPr>
                    </a:p>
                  </a:txBody>
                  <a:tcPr marL="0" marR="0" marT="6286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12.</a:t>
                      </a:r>
                      <a:r>
                        <a:rPr sz="1400" b="1" spc="-45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Implied</a:t>
                      </a:r>
                      <a:r>
                        <a:rPr sz="1400" b="1" spc="-15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0066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5080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510"/>
                        </a:lnSpc>
                      </a:pP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III-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II_EEE-A_UNIT-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II</a:t>
                      </a:r>
                      <a:r>
                        <a:rPr sz="1200" spc="-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_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200" spc="-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MC</a:t>
                      </a:r>
                      <a:r>
                        <a:rPr sz="1200" spc="-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_R</a:t>
                      </a:r>
                      <a:r>
                        <a:rPr sz="1200" spc="1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200" spc="-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200" spc="-19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400" b="1" spc="-1289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G</a:t>
                      </a:r>
                      <a:r>
                        <a:rPr sz="1200" spc="-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5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44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2400" b="1" spc="-15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ou</a:t>
                      </a:r>
                      <a:r>
                        <a:rPr sz="2400" b="1" spc="-7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sz="2400" b="1" spc="7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V</a:t>
                      </a:r>
                      <a:r>
                        <a:rPr sz="2400" b="1" spc="37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:</a:t>
                      </a:r>
                      <a:r>
                        <a:rPr sz="2400" b="1" spc="22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Implied</a:t>
                      </a:r>
                      <a:r>
                        <a:rPr sz="2400" b="1" spc="-60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-15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Addressing</a:t>
                      </a:r>
                      <a:r>
                        <a:rPr sz="2400" b="1" spc="-60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-30" baseline="-26041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mode</a:t>
                      </a:r>
                      <a:endParaRPr sz="2400" baseline="-26041" dirty="0">
                        <a:latin typeface="Cambria"/>
                        <a:cs typeface="Cambria"/>
                      </a:endParaRPr>
                    </a:p>
                    <a:p>
                      <a:pPr marL="933450">
                        <a:lnSpc>
                          <a:spcPts val="1400"/>
                        </a:lnSpc>
                      </a:pP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KODAMANCHILI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85361" y="-5130"/>
            <a:ext cx="47110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solidFill>
                  <a:srgbClr val="FF0000"/>
                </a:solidFill>
                <a:latin typeface="Cambria"/>
                <a:cs typeface="Cambria"/>
              </a:rPr>
              <a:t>Addressing</a:t>
            </a:r>
            <a:r>
              <a:rPr sz="4400" b="1" spc="-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400" b="1" spc="-10" dirty="0">
                <a:solidFill>
                  <a:srgbClr val="FF0000"/>
                </a:solidFill>
                <a:latin typeface="Cambria"/>
                <a:cs typeface="Cambria"/>
              </a:rPr>
              <a:t>Modes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154" y="92405"/>
            <a:ext cx="202438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Cambria"/>
                <a:cs typeface="Cambria"/>
              </a:rPr>
              <a:t>8086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Microprocessor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593" y="1688973"/>
            <a:ext cx="220091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170" indent="-34417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44170" algn="l"/>
              </a:tabLst>
            </a:pPr>
            <a:r>
              <a:rPr sz="1400" b="1" spc="-10" dirty="0">
                <a:solidFill>
                  <a:srgbClr val="FF0066"/>
                </a:solidFill>
                <a:latin typeface="Cambria"/>
                <a:cs typeface="Cambria"/>
              </a:rPr>
              <a:t>Register</a:t>
            </a:r>
            <a:r>
              <a:rPr sz="1400" b="1" spc="-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FF0066"/>
                </a:solidFill>
                <a:latin typeface="Cambria"/>
                <a:cs typeface="Cambria"/>
              </a:rPr>
              <a:t>Addressing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0066"/>
              </a:buClr>
              <a:buFont typeface="Cambria"/>
              <a:buAutoNum type="arabicPeriod"/>
            </a:pPr>
            <a:endParaRPr sz="1400" dirty="0">
              <a:latin typeface="Cambria"/>
              <a:cs typeface="Cambria"/>
            </a:endParaRPr>
          </a:p>
          <a:p>
            <a:pPr marL="344170" indent="-344170">
              <a:lnSpc>
                <a:spcPct val="100000"/>
              </a:lnSpc>
              <a:buAutoNum type="arabicPeriod"/>
              <a:tabLst>
                <a:tab pos="344170" algn="l"/>
              </a:tabLst>
            </a:pPr>
            <a:r>
              <a:rPr sz="1400" b="1" dirty="0">
                <a:solidFill>
                  <a:srgbClr val="FF0066"/>
                </a:solidFill>
                <a:latin typeface="Cambria"/>
                <a:cs typeface="Cambria"/>
              </a:rPr>
              <a:t>Immediate</a:t>
            </a:r>
            <a:r>
              <a:rPr sz="1400" b="1" spc="-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FF0066"/>
                </a:solidFill>
                <a:latin typeface="Cambria"/>
                <a:cs typeface="Cambria"/>
              </a:rPr>
              <a:t>Addressing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762000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2192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60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3058160" cy="3394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2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2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4836033"/>
            <a:ext cx="222186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95"/>
              </a:spcBef>
              <a:buAutoNum type="arabicPeriod" startAt="11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5"/>
              </a:spcBef>
              <a:buAutoNum type="arabicPeriod" startAt="11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809" y="871855"/>
            <a:ext cx="5106035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16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16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will</a:t>
            </a:r>
            <a:r>
              <a:rPr sz="1400" b="1" spc="16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specify</a:t>
            </a:r>
            <a:r>
              <a:rPr sz="1400" b="1" spc="15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16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name</a:t>
            </a:r>
            <a:r>
              <a:rPr sz="1400" b="1" spc="16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of</a:t>
            </a:r>
            <a:r>
              <a:rPr sz="1400" b="1" spc="165" dirty="0">
                <a:latin typeface="Verdana"/>
                <a:cs typeface="Verdana"/>
              </a:rPr>
              <a:t>  </a:t>
            </a:r>
            <a:r>
              <a:rPr sz="1400" b="1" spc="-25" dirty="0">
                <a:latin typeface="Verdana"/>
                <a:cs typeface="Verdana"/>
              </a:rPr>
              <a:t>the </a:t>
            </a:r>
            <a:r>
              <a:rPr sz="1400" b="1" dirty="0">
                <a:latin typeface="Verdana"/>
                <a:cs typeface="Verdana"/>
              </a:rPr>
              <a:t>register</a:t>
            </a:r>
            <a:r>
              <a:rPr sz="1400" b="1" spc="29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which</a:t>
            </a:r>
            <a:r>
              <a:rPr sz="1400" b="1" spc="2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holds</a:t>
            </a:r>
            <a:r>
              <a:rPr sz="1400" b="1" spc="2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29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data</a:t>
            </a:r>
            <a:r>
              <a:rPr sz="1400" b="1" spc="3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to</a:t>
            </a:r>
            <a:r>
              <a:rPr sz="1400" b="1" spc="28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</a:t>
            </a:r>
            <a:r>
              <a:rPr sz="1400" b="1" spc="27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operated</a:t>
            </a:r>
            <a:r>
              <a:rPr sz="1400" b="1" spc="28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by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10" dirty="0">
                <a:latin typeface="Verdana"/>
                <a:cs typeface="Verdana"/>
              </a:rPr>
              <a:t> instruction.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3809" y="1725549"/>
            <a:ext cx="94741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2088" y="2118360"/>
            <a:ext cx="1609725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572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360"/>
              </a:spcBef>
            </a:pPr>
            <a:r>
              <a:rPr sz="1400" b="1" dirty="0">
                <a:latin typeface="Verdana"/>
                <a:cs typeface="Verdana"/>
              </a:rPr>
              <a:t>MOV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CL,</a:t>
            </a:r>
            <a:r>
              <a:rPr sz="1400" b="1" spc="-25" dirty="0">
                <a:latin typeface="Verdana"/>
                <a:cs typeface="Verdana"/>
              </a:rPr>
              <a:t> DH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3809" y="2579369"/>
            <a:ext cx="510032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524510" algn="l"/>
                <a:tab pos="1426845" algn="l"/>
                <a:tab pos="1771650" algn="l"/>
                <a:tab pos="2393950" algn="l"/>
                <a:tab pos="3320415" algn="l"/>
                <a:tab pos="3763010" algn="l"/>
                <a:tab pos="4073525" algn="l"/>
                <a:tab pos="4887595" algn="l"/>
              </a:tabLst>
            </a:pPr>
            <a:r>
              <a:rPr sz="1400" b="1" spc="-25" dirty="0">
                <a:latin typeface="Verdana"/>
                <a:cs typeface="Verdana"/>
              </a:rPr>
              <a:t>The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content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of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8-bit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register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DH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is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moved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40" dirty="0">
                <a:latin typeface="Verdana"/>
                <a:cs typeface="Verdana"/>
              </a:rPr>
              <a:t>to </a:t>
            </a:r>
            <a:r>
              <a:rPr sz="1400" b="1" dirty="0">
                <a:latin typeface="Verdana"/>
                <a:cs typeface="Verdana"/>
              </a:rPr>
              <a:t>another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8-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register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CL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3809" y="3219704"/>
            <a:ext cx="12465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(CL)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(DH)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4592" y="3886200"/>
            <a:ext cx="7211695" cy="2822575"/>
            <a:chOff x="164592" y="3886200"/>
            <a:chExt cx="7211695" cy="28225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3886200"/>
              <a:ext cx="2575559" cy="2532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592" y="6129527"/>
              <a:ext cx="4962144" cy="5791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138164" y="151256"/>
            <a:ext cx="2774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register 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immediate</a:t>
            </a:r>
            <a:r>
              <a:rPr sz="1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0" y="1191767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882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5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3058160" cy="2998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3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5"/>
              </a:spcBef>
              <a:buAutoNum type="arabicPeriod" startAt="3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13809" y="1114170"/>
            <a:ext cx="510032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immediate</a:t>
            </a:r>
            <a:r>
              <a:rPr sz="1400" b="1" spc="1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addressing</a:t>
            </a:r>
            <a:r>
              <a:rPr sz="1400" b="1" spc="1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mode,</a:t>
            </a:r>
            <a:r>
              <a:rPr sz="1400" b="1" spc="1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an</a:t>
            </a:r>
            <a:r>
              <a:rPr sz="1400" b="1" spc="9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8-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10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or</a:t>
            </a:r>
            <a:r>
              <a:rPr sz="1400" b="1" spc="114" dirty="0">
                <a:latin typeface="Verdana"/>
                <a:cs typeface="Verdana"/>
              </a:rPr>
              <a:t> </a:t>
            </a:r>
            <a:r>
              <a:rPr sz="1400" b="1" spc="-30" dirty="0">
                <a:latin typeface="Verdana"/>
                <a:cs typeface="Verdana"/>
              </a:rPr>
              <a:t>16-</a:t>
            </a:r>
            <a:r>
              <a:rPr sz="1400" b="1" spc="-25" dirty="0">
                <a:latin typeface="Verdana"/>
                <a:cs typeface="Verdana"/>
              </a:rPr>
              <a:t>bit </a:t>
            </a:r>
            <a:r>
              <a:rPr sz="1400" b="1" dirty="0">
                <a:latin typeface="Verdana"/>
                <a:cs typeface="Verdana"/>
              </a:rPr>
              <a:t>data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specified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part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of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instruction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3809" y="1754505"/>
            <a:ext cx="94741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2088" y="2118360"/>
            <a:ext cx="1609725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7429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585"/>
              </a:spcBef>
            </a:pPr>
            <a:r>
              <a:rPr sz="1400" b="1" dirty="0">
                <a:latin typeface="Verdana"/>
                <a:cs typeface="Verdana"/>
              </a:rPr>
              <a:t>MOV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DL,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08H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8409" y="2608325"/>
            <a:ext cx="51549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30" dirty="0">
                <a:latin typeface="Verdana"/>
                <a:cs typeface="Verdana"/>
              </a:rPr>
              <a:t> </a:t>
            </a:r>
            <a:r>
              <a:rPr sz="1400" b="1" spc="-30" dirty="0">
                <a:latin typeface="Verdana"/>
                <a:cs typeface="Verdana"/>
              </a:rPr>
              <a:t>8-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4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data</a:t>
            </a:r>
            <a:r>
              <a:rPr sz="1400" b="1" spc="4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(08</a:t>
            </a:r>
            <a:r>
              <a:rPr sz="1350" b="1" baseline="-21604" dirty="0">
                <a:latin typeface="Verdana"/>
                <a:cs typeface="Verdana"/>
              </a:rPr>
              <a:t>H</a:t>
            </a:r>
            <a:r>
              <a:rPr sz="1400" b="1" dirty="0">
                <a:latin typeface="Verdana"/>
                <a:cs typeface="Verdana"/>
              </a:rPr>
              <a:t>)</a:t>
            </a:r>
            <a:r>
              <a:rPr sz="1400" b="1" spc="409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given</a:t>
            </a:r>
            <a:r>
              <a:rPr sz="1400" b="1" spc="3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4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0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39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is</a:t>
            </a:r>
            <a:endParaRPr sz="1400" dirty="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moved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to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DL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8409" y="3248660"/>
            <a:ext cx="11760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(DL)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08</a:t>
            </a:r>
            <a:r>
              <a:rPr sz="1350" b="1" spc="-37" baseline="-21604" dirty="0">
                <a:latin typeface="Verdana"/>
                <a:cs typeface="Verdana"/>
              </a:rPr>
              <a:t>H</a:t>
            </a:r>
            <a:endParaRPr sz="1350" baseline="-21604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88664" y="3858767"/>
            <a:ext cx="1609725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19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Verdana"/>
                <a:cs typeface="Verdana"/>
              </a:rPr>
              <a:t>MOV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AX,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0A9FH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88409" y="4316095"/>
            <a:ext cx="51549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5" dirty="0">
                <a:latin typeface="Verdana"/>
                <a:cs typeface="Verdana"/>
              </a:rPr>
              <a:t> </a:t>
            </a:r>
            <a:r>
              <a:rPr sz="1400" b="1" spc="-30" dirty="0">
                <a:latin typeface="Verdana"/>
                <a:cs typeface="Verdana"/>
              </a:rPr>
              <a:t>16-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data</a:t>
            </a:r>
            <a:r>
              <a:rPr sz="1400" b="1" spc="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(0A9F</a:t>
            </a:r>
            <a:r>
              <a:rPr sz="1350" b="1" baseline="-21604" dirty="0">
                <a:latin typeface="Verdana"/>
                <a:cs typeface="Verdana"/>
              </a:rPr>
              <a:t>H</a:t>
            </a:r>
            <a:r>
              <a:rPr sz="1400" b="1" dirty="0">
                <a:latin typeface="Verdana"/>
                <a:cs typeface="Verdana"/>
              </a:rPr>
              <a:t>)</a:t>
            </a:r>
            <a:r>
              <a:rPr sz="1400" b="1" spc="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given</a:t>
            </a:r>
            <a:r>
              <a:rPr sz="1400" b="1" spc="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4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is </a:t>
            </a:r>
            <a:r>
              <a:rPr sz="1400" b="1" dirty="0">
                <a:latin typeface="Verdana"/>
                <a:cs typeface="Verdana"/>
              </a:rPr>
              <a:t>moved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to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AX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register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88409" y="4956428"/>
            <a:ext cx="14446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(AX)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dirty="0">
                <a:latin typeface="Symbol"/>
                <a:cs typeface="Symbol"/>
              </a:rPr>
              <a:t>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0A9F</a:t>
            </a:r>
            <a:r>
              <a:rPr sz="1350" b="1" spc="-30" baseline="-21604" dirty="0">
                <a:latin typeface="Verdana"/>
                <a:cs typeface="Verdana"/>
              </a:rPr>
              <a:t>H</a:t>
            </a:r>
            <a:endParaRPr sz="1350" baseline="-21604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8164" y="151256"/>
            <a:ext cx="2774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register 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immediate</a:t>
            </a:r>
            <a:r>
              <a:rPr sz="1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1888" y="5181600"/>
            <a:ext cx="2859023" cy="151485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47459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0" y="1572767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0350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15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2061210"/>
            <a:ext cx="3058160" cy="2601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4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5"/>
              </a:spcBef>
              <a:buAutoNum type="arabicPeriod" startAt="4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7609" y="1557908"/>
            <a:ext cx="5104130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Here,</a:t>
            </a:r>
            <a:r>
              <a:rPr sz="1400" b="1" spc="19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19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effective</a:t>
            </a:r>
            <a:r>
              <a:rPr sz="1400" b="1" spc="415" dirty="0">
                <a:latin typeface="Verdana"/>
                <a:cs typeface="Verdana"/>
              </a:rPr>
              <a:t>   </a:t>
            </a:r>
            <a:r>
              <a:rPr sz="1400" b="1" dirty="0">
                <a:latin typeface="Verdana"/>
                <a:cs typeface="Verdana"/>
              </a:rPr>
              <a:t>address</a:t>
            </a:r>
            <a:r>
              <a:rPr sz="1400" b="1" spc="18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of</a:t>
            </a:r>
            <a:r>
              <a:rPr sz="1400" b="1" spc="19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190" dirty="0">
                <a:latin typeface="Verdana"/>
                <a:cs typeface="Verdana"/>
              </a:rPr>
              <a:t>  </a:t>
            </a:r>
            <a:r>
              <a:rPr sz="1400" b="1" spc="-10" dirty="0">
                <a:latin typeface="Verdana"/>
                <a:cs typeface="Verdana"/>
              </a:rPr>
              <a:t>memory </a:t>
            </a:r>
            <a:r>
              <a:rPr sz="1400" b="1" dirty="0">
                <a:latin typeface="Verdana"/>
                <a:cs typeface="Verdana"/>
              </a:rPr>
              <a:t>location</a:t>
            </a:r>
            <a:r>
              <a:rPr sz="1400" b="1" spc="2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at</a:t>
            </a:r>
            <a:r>
              <a:rPr sz="1400" b="1" spc="29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which</a:t>
            </a:r>
            <a:r>
              <a:rPr sz="1400" b="1" spc="3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3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data</a:t>
            </a:r>
            <a:r>
              <a:rPr sz="1400" b="1" spc="3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operand</a:t>
            </a:r>
            <a:r>
              <a:rPr sz="1400" b="1" spc="3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28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stored</a:t>
            </a:r>
            <a:r>
              <a:rPr sz="1400" b="1" spc="310" dirty="0">
                <a:latin typeface="Verdana"/>
                <a:cs typeface="Verdana"/>
              </a:rPr>
              <a:t>  </a:t>
            </a:r>
            <a:r>
              <a:rPr sz="1400" b="1" spc="-25" dirty="0">
                <a:latin typeface="Verdana"/>
                <a:cs typeface="Verdana"/>
              </a:rPr>
              <a:t>is </a:t>
            </a:r>
            <a:r>
              <a:rPr sz="1400" b="1" dirty="0">
                <a:latin typeface="Verdana"/>
                <a:cs typeface="Verdana"/>
              </a:rPr>
              <a:t>given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instruction.</a:t>
            </a:r>
            <a:endParaRPr sz="14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685"/>
              </a:spcBef>
            </a:pP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175" dirty="0">
                <a:latin typeface="Verdana"/>
                <a:cs typeface="Verdana"/>
              </a:rPr>
              <a:t>   </a:t>
            </a:r>
            <a:r>
              <a:rPr sz="1400" b="1" dirty="0">
                <a:latin typeface="Verdana"/>
                <a:cs typeface="Verdana"/>
              </a:rPr>
              <a:t>effective</a:t>
            </a:r>
            <a:r>
              <a:rPr sz="1400" b="1" spc="2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address</a:t>
            </a:r>
            <a:r>
              <a:rPr sz="1400" b="1" spc="1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49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just</a:t>
            </a:r>
            <a:r>
              <a:rPr sz="1400" b="1" spc="484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15" dirty="0">
                <a:latin typeface="Verdana"/>
                <a:cs typeface="Verdana"/>
              </a:rPr>
              <a:t>  </a:t>
            </a:r>
            <a:r>
              <a:rPr sz="1400" b="1" spc="-30" dirty="0">
                <a:latin typeface="Verdana"/>
                <a:cs typeface="Verdana"/>
              </a:rPr>
              <a:t>16-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20" dirty="0">
                <a:latin typeface="Verdana"/>
                <a:cs typeface="Verdana"/>
              </a:rPr>
              <a:t>  </a:t>
            </a:r>
            <a:r>
              <a:rPr sz="1400" b="1" spc="-10" dirty="0">
                <a:latin typeface="Verdana"/>
                <a:cs typeface="Verdana"/>
              </a:rPr>
              <a:t>number</a:t>
            </a:r>
            <a:endParaRPr sz="14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written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directly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10" dirty="0">
                <a:latin typeface="Verdana"/>
                <a:cs typeface="Verdana"/>
              </a:rPr>
              <a:t> instruction.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7609" y="3052063"/>
            <a:ext cx="94741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4655" y="3429000"/>
            <a:ext cx="1963420" cy="5549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1594" rIns="0" bIns="0" rtlCol="0">
            <a:spAutoFit/>
          </a:bodyPr>
          <a:lstStyle/>
          <a:p>
            <a:pPr marL="25400" marR="14604">
              <a:lnSpc>
                <a:spcPct val="100000"/>
              </a:lnSpc>
              <a:spcBef>
                <a:spcPts val="484"/>
              </a:spcBef>
              <a:tabLst>
                <a:tab pos="662305" algn="l"/>
              </a:tabLst>
            </a:pPr>
            <a:r>
              <a:rPr sz="1400" b="1" spc="-25" dirty="0">
                <a:latin typeface="Verdana"/>
                <a:cs typeface="Verdana"/>
              </a:rPr>
              <a:t>MOV</a:t>
            </a:r>
            <a:r>
              <a:rPr sz="1400" b="1" dirty="0">
                <a:latin typeface="Verdana"/>
                <a:cs typeface="Verdana"/>
              </a:rPr>
              <a:t>	BX,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[1354H] </a:t>
            </a:r>
            <a:r>
              <a:rPr sz="1400" b="1" spc="-25" dirty="0">
                <a:latin typeface="Verdana"/>
                <a:cs typeface="Verdana"/>
              </a:rPr>
              <a:t>MOV</a:t>
            </a:r>
            <a:r>
              <a:rPr sz="1400" b="1" dirty="0">
                <a:latin typeface="Verdana"/>
                <a:cs typeface="Verdana"/>
              </a:rPr>
              <a:t>	BL,</a:t>
            </a:r>
            <a:r>
              <a:rPr sz="1400" b="1" spc="45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[0400H]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7609" y="4119498"/>
            <a:ext cx="389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1000" y="4126991"/>
            <a:ext cx="1752600" cy="216535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3810" rIns="0" bIns="0" rtlCol="0">
            <a:spAutoFit/>
          </a:bodyPr>
          <a:lstStyle/>
          <a:p>
            <a:pPr marL="31750">
              <a:lnSpc>
                <a:spcPts val="1670"/>
              </a:lnSpc>
              <a:spcBef>
                <a:spcPts val="30"/>
              </a:spcBef>
            </a:pPr>
            <a:r>
              <a:rPr sz="1400" b="1" dirty="0">
                <a:latin typeface="Verdana"/>
                <a:cs typeface="Verdana"/>
              </a:rPr>
              <a:t>square</a:t>
            </a:r>
            <a:r>
              <a:rPr sz="1400" b="1" spc="30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brackets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5090" y="4119498"/>
            <a:ext cx="29273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84935" algn="l"/>
              </a:tabLst>
            </a:pPr>
            <a:r>
              <a:rPr sz="1400" b="1" dirty="0">
                <a:latin typeface="Verdana"/>
                <a:cs typeface="Verdana"/>
              </a:rPr>
              <a:t>around</a:t>
            </a:r>
            <a:r>
              <a:rPr sz="1400" b="1" spc="29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the</a:t>
            </a:r>
            <a:r>
              <a:rPr sz="1400" b="1" dirty="0">
                <a:latin typeface="Verdana"/>
                <a:cs typeface="Verdana"/>
              </a:rPr>
              <a:t>	1354</a:t>
            </a:r>
            <a:r>
              <a:rPr sz="1350" b="1" baseline="-21604" dirty="0">
                <a:latin typeface="Verdana"/>
                <a:cs typeface="Verdana"/>
              </a:rPr>
              <a:t>H</a:t>
            </a:r>
            <a:r>
              <a:rPr sz="1350" b="1" spc="735" baseline="-21604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denotes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7609" y="4332858"/>
            <a:ext cx="347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2815" y="4343400"/>
            <a:ext cx="2822575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63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5"/>
              </a:spcBef>
              <a:tabLst>
                <a:tab pos="1064895" algn="l"/>
                <a:tab pos="1449070" algn="l"/>
                <a:tab pos="1958339" algn="l"/>
              </a:tabLst>
            </a:pPr>
            <a:r>
              <a:rPr sz="1400" b="1" spc="-10" dirty="0">
                <a:latin typeface="Verdana"/>
                <a:cs typeface="Verdana"/>
              </a:rPr>
              <a:t>contents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of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the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memory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98232" y="4332858"/>
            <a:ext cx="16402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55370" algn="l"/>
              </a:tabLst>
            </a:pPr>
            <a:r>
              <a:rPr sz="1400" b="1" spc="-10" dirty="0">
                <a:latin typeface="Verdana"/>
                <a:cs typeface="Verdana"/>
              </a:rPr>
              <a:t>location.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0" dirty="0">
                <a:latin typeface="Verdana"/>
                <a:cs typeface="Verdana"/>
              </a:rPr>
              <a:t>When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7609" y="4546219"/>
            <a:ext cx="51009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executed,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this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will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copy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contents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of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7609" y="4759274"/>
            <a:ext cx="37820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memory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location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into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BX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register.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37609" y="5186552"/>
            <a:ext cx="31489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This</a:t>
            </a:r>
            <a:r>
              <a:rPr sz="1400" b="1" spc="9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addressing</a:t>
            </a:r>
            <a:r>
              <a:rPr sz="1400" b="1" spc="1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mode</a:t>
            </a:r>
            <a:r>
              <a:rPr sz="1400" b="1" spc="114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9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called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34200" y="5193791"/>
            <a:ext cx="1487805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444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35"/>
              </a:spcBef>
            </a:pPr>
            <a:r>
              <a:rPr sz="1400" b="1" dirty="0">
                <a:latin typeface="Verdana"/>
                <a:cs typeface="Verdana"/>
              </a:rPr>
              <a:t>direct</a:t>
            </a:r>
            <a:r>
              <a:rPr sz="1400" b="1" spc="7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because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88171" y="5186552"/>
            <a:ext cx="347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37609" y="5399633"/>
            <a:ext cx="5099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Verdana"/>
                <a:cs typeface="Verdana"/>
              </a:rPr>
              <a:t>displacement</a:t>
            </a:r>
            <a:r>
              <a:rPr sz="1400" b="1" spc="4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of</a:t>
            </a:r>
            <a:r>
              <a:rPr sz="1400" b="1" spc="459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6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operand</a:t>
            </a:r>
            <a:r>
              <a:rPr sz="1400" b="1" spc="4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from</a:t>
            </a:r>
            <a:r>
              <a:rPr sz="1400" b="1" spc="4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59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segment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base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specified</a:t>
            </a:r>
            <a:r>
              <a:rPr sz="1400" b="1" spc="-6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directly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instruction.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229603" y="151256"/>
            <a:ext cx="2597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" y="1941576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3144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35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457704"/>
            <a:ext cx="3058160" cy="2205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5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5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5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5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5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5809" y="1030605"/>
            <a:ext cx="26308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register</a:t>
            </a:r>
            <a:r>
              <a:rPr sz="1400" b="1" spc="4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which</a:t>
            </a:r>
            <a:r>
              <a:rPr sz="1400" b="1" spc="434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holds</a:t>
            </a:r>
            <a:r>
              <a:rPr sz="1400" b="1" spc="43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7000" y="1066800"/>
            <a:ext cx="2505710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485"/>
              </a:lnSpc>
            </a:pPr>
            <a:r>
              <a:rPr sz="1400" b="1" dirty="0">
                <a:latin typeface="Verdana"/>
                <a:cs typeface="Verdana"/>
              </a:rPr>
              <a:t>effective</a:t>
            </a:r>
            <a:r>
              <a:rPr sz="1400" b="1" spc="4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address</a:t>
            </a:r>
            <a:r>
              <a:rPr sz="1400" b="1" spc="409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(EA)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5809" y="1243964"/>
            <a:ext cx="34620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will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specified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instruction.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5809" y="151256"/>
            <a:ext cx="509841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509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81915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05765" algn="l"/>
                <a:tab pos="1409065" algn="l"/>
                <a:tab pos="2341880" algn="l"/>
                <a:tab pos="3674110" algn="l"/>
                <a:tab pos="4393565" algn="l"/>
                <a:tab pos="4763135" algn="l"/>
              </a:tabLst>
            </a:pPr>
            <a:r>
              <a:rPr sz="1400" b="1" spc="-25" dirty="0">
                <a:latin typeface="Verdana"/>
                <a:cs typeface="Verdana"/>
              </a:rPr>
              <a:t>In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Register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indirect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addressing,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0" dirty="0">
                <a:latin typeface="Verdana"/>
                <a:cs typeface="Verdana"/>
              </a:rPr>
              <a:t>name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of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5809" y="1671066"/>
            <a:ext cx="509968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Registers</a:t>
            </a:r>
            <a:r>
              <a:rPr sz="1400" b="1" spc="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used</a:t>
            </a:r>
            <a:r>
              <a:rPr sz="1400" b="1" spc="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to</a:t>
            </a:r>
            <a:r>
              <a:rPr sz="1400" b="1" spc="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hold</a:t>
            </a:r>
            <a:r>
              <a:rPr sz="1400" b="1" spc="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EA</a:t>
            </a:r>
            <a:r>
              <a:rPr sz="1400" b="1" spc="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are</a:t>
            </a:r>
            <a:r>
              <a:rPr sz="1400" b="1" spc="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any</a:t>
            </a:r>
            <a:r>
              <a:rPr sz="1400" b="1" spc="4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of</a:t>
            </a:r>
            <a:r>
              <a:rPr sz="1400" b="1" spc="5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4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following registers: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9520" y="2322576"/>
            <a:ext cx="1981200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Verdana"/>
                <a:cs typeface="Verdana"/>
              </a:rPr>
              <a:t>BX,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BP,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DI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and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SI.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05809" y="2737815"/>
            <a:ext cx="165925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60755" algn="l"/>
                <a:tab pos="1323340" algn="l"/>
              </a:tabLst>
            </a:pPr>
            <a:r>
              <a:rPr sz="1400" b="1" spc="-10" dirty="0">
                <a:latin typeface="Verdana"/>
                <a:cs typeface="Verdana"/>
              </a:rPr>
              <a:t>Content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of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1640" y="2743200"/>
            <a:ext cx="1353820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635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50"/>
              </a:spcBef>
              <a:tabLst>
                <a:tab pos="557530" algn="l"/>
              </a:tabLst>
            </a:pPr>
            <a:r>
              <a:rPr sz="1400" b="1" spc="-25" dirty="0">
                <a:latin typeface="Verdana"/>
                <a:cs typeface="Verdana"/>
              </a:rPr>
              <a:t>DS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10" dirty="0">
                <a:latin typeface="Verdana"/>
                <a:cs typeface="Verdana"/>
              </a:rPr>
              <a:t>register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5286" y="2737815"/>
            <a:ext cx="12807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1630" algn="l"/>
                <a:tab pos="981710" algn="l"/>
              </a:tabLst>
            </a:pPr>
            <a:r>
              <a:rPr sz="1400" b="1" spc="-25" dirty="0">
                <a:latin typeface="Verdana"/>
                <a:cs typeface="Verdana"/>
              </a:rPr>
              <a:t>is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0" dirty="0">
                <a:latin typeface="Verdana"/>
                <a:cs typeface="Verdana"/>
              </a:rPr>
              <a:t>used</a:t>
            </a:r>
            <a:r>
              <a:rPr sz="1400" b="1" dirty="0">
                <a:latin typeface="Verdana"/>
                <a:cs typeface="Verdana"/>
              </a:rPr>
              <a:t>	</a:t>
            </a:r>
            <a:r>
              <a:rPr sz="1400" b="1" spc="-25" dirty="0">
                <a:latin typeface="Verdana"/>
                <a:cs typeface="Verdana"/>
              </a:rPr>
              <a:t>for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66759" y="2755392"/>
            <a:ext cx="534035" cy="2286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35"/>
              </a:lnSpc>
            </a:pPr>
            <a:r>
              <a:rPr sz="1400" b="1" spc="-20" dirty="0">
                <a:latin typeface="Verdana"/>
                <a:cs typeface="Verdana"/>
              </a:rPr>
              <a:t>base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6471" y="2971800"/>
            <a:ext cx="2179320" cy="22606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614"/>
              </a:lnSpc>
            </a:pPr>
            <a:r>
              <a:rPr sz="1400" b="1" dirty="0">
                <a:latin typeface="Verdana"/>
                <a:cs typeface="Verdana"/>
              </a:rPr>
              <a:t>address</a:t>
            </a:r>
            <a:r>
              <a:rPr sz="1400" b="1" spc="-5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calculation.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05809" y="3378149"/>
            <a:ext cx="94741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2088" y="3773423"/>
            <a:ext cx="1609725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381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45"/>
              </a:spcBef>
            </a:pPr>
            <a:r>
              <a:rPr sz="1400" b="1" dirty="0">
                <a:latin typeface="Verdana"/>
                <a:cs typeface="Verdana"/>
              </a:rPr>
              <a:t>MOV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CX,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[BX]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48734" y="4232528"/>
            <a:ext cx="1188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Operations: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69790" y="4659248"/>
            <a:ext cx="1824989" cy="1732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EA</a:t>
            </a:r>
            <a:r>
              <a:rPr sz="1400" b="1" spc="-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= 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(BX)</a:t>
            </a:r>
            <a:endParaRPr sz="1400" dirty="0">
              <a:latin typeface="Verdana"/>
              <a:cs typeface="Verdana"/>
            </a:endParaRPr>
          </a:p>
          <a:p>
            <a:pPr marL="63500" marR="762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BA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(DS)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400" b="1" spc="-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16</a:t>
            </a:r>
            <a:r>
              <a:rPr sz="1350" b="1" spc="-30" baseline="-21604" dirty="0">
                <a:solidFill>
                  <a:srgbClr val="C00000"/>
                </a:solidFill>
                <a:latin typeface="Verdana"/>
                <a:cs typeface="Verdana"/>
              </a:rPr>
              <a:t>10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MA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1400" b="1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BA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+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 EA</a:t>
            </a:r>
            <a:endParaRPr sz="1400" dirty="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  <a:spcBef>
                <a:spcPts val="1680"/>
              </a:spcBef>
              <a:tabLst>
                <a:tab pos="1499235" algn="l"/>
              </a:tabLst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(CX)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4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(MA)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or,</a:t>
            </a:r>
            <a:endParaRPr sz="1400" dirty="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(CL)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4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(MA)</a:t>
            </a:r>
            <a:endParaRPr sz="1400" dirty="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(CH)</a:t>
            </a:r>
            <a:r>
              <a:rPr sz="14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400" spc="114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(MA</a:t>
            </a:r>
            <a:r>
              <a:rPr sz="1400" b="1" spc="-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+1)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727446" y="3930141"/>
            <a:ext cx="982980" cy="801370"/>
          </a:xfrm>
          <a:custGeom>
            <a:avLst/>
            <a:gdLst/>
            <a:ahLst/>
            <a:cxnLst/>
            <a:rect l="l" t="t" r="r" b="b"/>
            <a:pathLst>
              <a:path w="982979" h="801370">
                <a:moveTo>
                  <a:pt x="982979" y="0"/>
                </a:moveTo>
                <a:lnTo>
                  <a:pt x="0" y="801115"/>
                </a:lnTo>
              </a:path>
            </a:pathLst>
          </a:custGeom>
          <a:ln w="6096">
            <a:solidFill>
              <a:srgbClr val="CC0066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6726935" y="3505200"/>
            <a:ext cx="2286000" cy="853440"/>
          </a:xfrm>
          <a:prstGeom prst="rect">
            <a:avLst/>
          </a:prstGeom>
          <a:solidFill>
            <a:srgbClr val="FFFFCC"/>
          </a:solidFill>
          <a:ln w="6096">
            <a:solidFill>
              <a:srgbClr val="CC0066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92710" marR="82550" algn="just">
              <a:lnSpc>
                <a:spcPct val="100000"/>
              </a:lnSpc>
              <a:spcBef>
                <a:spcPts val="1145"/>
              </a:spcBef>
            </a:pPr>
            <a:r>
              <a:rPr sz="1200" dirty="0">
                <a:latin typeface="Calibri"/>
                <a:cs typeface="Calibri"/>
              </a:rPr>
              <a:t>Note</a:t>
            </a:r>
            <a:r>
              <a:rPr sz="1200" spc="310" dirty="0">
                <a:latin typeface="Calibri"/>
                <a:cs typeface="Calibri"/>
              </a:rPr>
              <a:t>  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05" dirty="0">
                <a:latin typeface="Calibri"/>
                <a:cs typeface="Calibri"/>
              </a:rPr>
              <a:t>   </a:t>
            </a:r>
            <a:r>
              <a:rPr sz="1200" dirty="0">
                <a:latin typeface="Calibri"/>
                <a:cs typeface="Calibri"/>
              </a:rPr>
              <a:t>Register/</a:t>
            </a:r>
            <a:r>
              <a:rPr sz="1200" spc="310" dirty="0">
                <a:latin typeface="Calibri"/>
                <a:cs typeface="Calibri"/>
              </a:rPr>
              <a:t>   </a:t>
            </a:r>
            <a:r>
              <a:rPr sz="1200" spc="-10" dirty="0">
                <a:latin typeface="Calibri"/>
                <a:cs typeface="Calibri"/>
              </a:rPr>
              <a:t>memory </a:t>
            </a:r>
            <a:r>
              <a:rPr sz="1200" dirty="0">
                <a:latin typeface="Calibri"/>
                <a:cs typeface="Calibri"/>
              </a:rPr>
              <a:t>enclosed</a:t>
            </a:r>
            <a:r>
              <a:rPr sz="1200" spc="19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8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brackets</a:t>
            </a:r>
            <a:r>
              <a:rPr sz="1200" spc="19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refer</a:t>
            </a:r>
            <a:r>
              <a:rPr sz="1200" spc="175" dirty="0">
                <a:latin typeface="Calibri"/>
                <a:cs typeface="Calibri"/>
              </a:rPr>
              <a:t> 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spc="-10" dirty="0">
                <a:latin typeface="Calibri"/>
                <a:cs typeface="Calibri"/>
              </a:rPr>
              <a:t>content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register/</a:t>
            </a:r>
            <a:r>
              <a:rPr sz="1200" spc="-10" dirty="0">
                <a:latin typeface="Calibri"/>
                <a:cs typeface="Calibri"/>
              </a:rPr>
              <a:t> memory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2400" y="2398776"/>
            <a:ext cx="3264535" cy="421005"/>
          </a:xfrm>
          <a:custGeom>
            <a:avLst/>
            <a:gdLst/>
            <a:ahLst/>
            <a:cxnLst/>
            <a:rect l="l" t="t" r="r" b="b"/>
            <a:pathLst>
              <a:path w="3264535" h="421005">
                <a:moveTo>
                  <a:pt x="3264408" y="0"/>
                </a:moveTo>
                <a:lnTo>
                  <a:pt x="0" y="0"/>
                </a:lnTo>
                <a:lnTo>
                  <a:pt x="0" y="420624"/>
                </a:lnTo>
                <a:lnTo>
                  <a:pt x="3264408" y="42062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061210"/>
            <a:ext cx="30353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5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2597911"/>
            <a:ext cx="8414385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1854" indent="-285750">
              <a:lnSpc>
                <a:spcPts val="2085"/>
              </a:lnSpc>
              <a:spcBef>
                <a:spcPts val="100"/>
              </a:spcBef>
              <a:buFont typeface="Wingdings"/>
              <a:buChar char=""/>
              <a:tabLst>
                <a:tab pos="3411854" algn="l"/>
              </a:tabLst>
            </a:pPr>
            <a:r>
              <a:rPr sz="1800" dirty="0">
                <a:latin typeface="Cambria"/>
                <a:cs typeface="Cambria"/>
              </a:rPr>
              <a:t>When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there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8-bit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displacement,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16-</a:t>
            </a:r>
            <a:endParaRPr sz="1800" dirty="0">
              <a:latin typeface="Cambria"/>
              <a:cs typeface="Cambria"/>
            </a:endParaRPr>
          </a:p>
          <a:p>
            <a:pPr marL="356870" indent="-344170">
              <a:lnSpc>
                <a:spcPts val="1320"/>
              </a:lnSpc>
              <a:buAutoNum type="arabicPeriod" startAt="6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412490">
              <a:lnSpc>
                <a:spcPts val="1860"/>
              </a:lnSpc>
            </a:pPr>
            <a:r>
              <a:rPr sz="1800" dirty="0">
                <a:latin typeface="Cambria"/>
                <a:cs typeface="Cambria"/>
              </a:rPr>
              <a:t>bit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extended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before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being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added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 the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value.</a:t>
            </a:r>
            <a:endParaRPr sz="1800" dirty="0">
              <a:latin typeface="Cambria"/>
              <a:cs typeface="Cambria"/>
            </a:endParaRPr>
          </a:p>
          <a:p>
            <a:pPr marL="356870" indent="-344170">
              <a:lnSpc>
                <a:spcPts val="1425"/>
              </a:lnSpc>
              <a:buAutoNum type="arabicPeriod" startAt="7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3646373"/>
            <a:ext cx="2023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8.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4043298"/>
            <a:ext cx="305625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2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9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2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29603" y="151256"/>
            <a:ext cx="2597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6609" y="813262"/>
            <a:ext cx="5133975" cy="126174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b="1" dirty="0">
                <a:latin typeface="Cambria"/>
                <a:cs typeface="Cambria"/>
              </a:rPr>
              <a:t>Based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Addressing</a:t>
            </a:r>
            <a:r>
              <a:rPr sz="1800" b="1" spc="-65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Mode</a:t>
            </a:r>
            <a:endParaRPr sz="1800" dirty="0">
              <a:latin typeface="Cambria"/>
              <a:cs typeface="Cambria"/>
            </a:endParaRPr>
          </a:p>
          <a:p>
            <a:pPr marL="297815" marR="5080" indent="-285750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Based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Addressing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specifies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signed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8-bit or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 	</a:t>
            </a:r>
            <a:r>
              <a:rPr sz="1800" dirty="0">
                <a:latin typeface="Cambria"/>
                <a:cs typeface="Cambria"/>
              </a:rPr>
              <a:t>unsigned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16-</a:t>
            </a:r>
            <a:r>
              <a:rPr sz="1800" dirty="0">
                <a:latin typeface="Cambria"/>
                <a:cs typeface="Cambria"/>
              </a:rPr>
              <a:t>bit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displacement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stores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base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3121" y="2185873"/>
            <a:ext cx="4092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value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effective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address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BX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BP.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3800" y="3489959"/>
            <a:ext cx="4800600" cy="2710180"/>
          </a:xfrm>
          <a:prstGeom prst="rect">
            <a:avLst/>
          </a:prstGeom>
          <a:solidFill>
            <a:srgbClr val="EBEEF9"/>
          </a:solidFill>
        </p:spPr>
        <p:txBody>
          <a:bodyPr vert="horz" wrap="square" lIns="0" tIns="25844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2035"/>
              </a:spcBef>
            </a:pP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400" b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AX,</a:t>
            </a: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[BX</a:t>
            </a:r>
            <a:r>
              <a:rPr sz="2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4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04]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400" dirty="0">
              <a:latin typeface="Cambria"/>
              <a:cs typeface="Cambria"/>
            </a:endParaRPr>
          </a:p>
          <a:p>
            <a:pPr marL="1270" marR="134620">
              <a:lnSpc>
                <a:spcPct val="200100"/>
              </a:lnSpc>
              <a:spcBef>
                <a:spcPts val="5"/>
              </a:spcBef>
            </a:pPr>
            <a:r>
              <a:rPr sz="1600" spc="-10" dirty="0">
                <a:latin typeface="Cambria"/>
                <a:cs typeface="Cambria"/>
              </a:rPr>
              <a:t>Given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-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indicates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there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value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stored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 BX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added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4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bits </a:t>
            </a:r>
            <a:r>
              <a:rPr sz="1600" dirty="0">
                <a:latin typeface="Cambria"/>
                <a:cs typeface="Cambria"/>
              </a:rPr>
              <a:t>displacement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value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store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AX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register.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2061210"/>
            <a:ext cx="3036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2743200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2255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65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6.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3250437"/>
            <a:ext cx="3058160" cy="1412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7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7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7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7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29603" y="151256"/>
            <a:ext cx="2597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96436" y="810419"/>
            <a:ext cx="5356860" cy="55137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95"/>
              </a:spcBef>
            </a:pPr>
            <a:r>
              <a:rPr sz="2000" b="1" spc="-10" dirty="0">
                <a:latin typeface="Cambria"/>
                <a:cs typeface="Cambria"/>
              </a:rPr>
              <a:t>Indexed</a:t>
            </a:r>
            <a:r>
              <a:rPr sz="2000" b="1" spc="-90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Mode</a:t>
            </a:r>
            <a:endParaRPr sz="2000" dirty="0">
              <a:latin typeface="Cambria"/>
              <a:cs typeface="Cambria"/>
            </a:endParaRPr>
          </a:p>
          <a:p>
            <a:pPr marL="12700" marR="387350" algn="just">
              <a:lnSpc>
                <a:spcPts val="3600"/>
              </a:lnSpc>
              <a:spcBef>
                <a:spcPts val="320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register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stores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index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for </a:t>
            </a:r>
            <a:r>
              <a:rPr sz="2000" dirty="0">
                <a:latin typeface="Cambria"/>
                <a:cs typeface="Cambria"/>
              </a:rPr>
              <a:t>memory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data,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specify </a:t>
            </a:r>
            <a:r>
              <a:rPr sz="2000" dirty="0">
                <a:latin typeface="Cambria"/>
                <a:cs typeface="Cambria"/>
              </a:rPr>
              <a:t>either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signed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8-bit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unsigned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16-</a:t>
            </a:r>
            <a:r>
              <a:rPr sz="2000" spc="-25" dirty="0">
                <a:latin typeface="Cambria"/>
                <a:cs typeface="Cambria"/>
              </a:rPr>
              <a:t>bit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000" spc="-10" dirty="0">
                <a:latin typeface="Cambria"/>
                <a:cs typeface="Cambria"/>
              </a:rPr>
              <a:t>displacement.</a:t>
            </a:r>
            <a:endParaRPr sz="2000" dirty="0">
              <a:latin typeface="Cambria"/>
              <a:cs typeface="Cambria"/>
            </a:endParaRPr>
          </a:p>
          <a:p>
            <a:pPr marL="12700" marR="160020">
              <a:lnSpc>
                <a:spcPct val="150100"/>
              </a:lnSpc>
            </a:pPr>
            <a:r>
              <a:rPr sz="2000" spc="-85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produce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EA,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displacement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added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index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register.</a:t>
            </a:r>
            <a:endParaRPr sz="2000" dirty="0">
              <a:latin typeface="Cambria"/>
              <a:cs typeface="Cambria"/>
            </a:endParaRPr>
          </a:p>
          <a:p>
            <a:pPr marL="213360" algn="ctr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CX,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[SI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0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16]</a:t>
            </a:r>
            <a:endParaRPr sz="2000" dirty="0">
              <a:latin typeface="Cambria"/>
              <a:cs typeface="Cambria"/>
            </a:endParaRPr>
          </a:p>
          <a:p>
            <a:pPr marL="12700" marR="5080">
              <a:lnSpc>
                <a:spcPct val="150100"/>
              </a:lnSpc>
            </a:pPr>
            <a:r>
              <a:rPr sz="2000" spc="-10" dirty="0">
                <a:latin typeface="Cambria"/>
                <a:cs typeface="Cambria"/>
              </a:rPr>
              <a:t>Given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indicates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there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value </a:t>
            </a:r>
            <a:r>
              <a:rPr sz="2000" dirty="0">
                <a:latin typeface="Cambria"/>
                <a:cs typeface="Cambria"/>
              </a:rPr>
              <a:t>stored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SI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(Source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Index)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register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is </a:t>
            </a:r>
            <a:r>
              <a:rPr sz="2000" dirty="0">
                <a:latin typeface="Cambria"/>
                <a:cs typeface="Cambria"/>
              </a:rPr>
              <a:t>added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16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bits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displacement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will </a:t>
            </a:r>
            <a:r>
              <a:rPr sz="2000" dirty="0">
                <a:latin typeface="Cambria"/>
                <a:cs typeface="Cambria"/>
              </a:rPr>
              <a:t>store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BX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register.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853943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6.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3160776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016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00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7.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3646373"/>
            <a:ext cx="3058160" cy="1016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8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5"/>
              </a:spcBef>
              <a:buAutoNum type="arabicPeriod" startAt="8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8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29603" y="151256"/>
            <a:ext cx="2597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1023" y="1066800"/>
            <a:ext cx="5029200" cy="5233670"/>
          </a:xfrm>
          <a:custGeom>
            <a:avLst/>
            <a:gdLst/>
            <a:ahLst/>
            <a:cxnLst/>
            <a:rect l="l" t="t" r="r" b="b"/>
            <a:pathLst>
              <a:path w="5029200" h="5233670">
                <a:moveTo>
                  <a:pt x="5029200" y="0"/>
                </a:moveTo>
                <a:lnTo>
                  <a:pt x="0" y="0"/>
                </a:lnTo>
                <a:lnTo>
                  <a:pt x="0" y="5233416"/>
                </a:lnTo>
                <a:lnTo>
                  <a:pt x="5029200" y="5233416"/>
                </a:lnTo>
                <a:lnTo>
                  <a:pt x="5029200" y="0"/>
                </a:lnTo>
                <a:close/>
              </a:path>
            </a:pathLst>
          </a:custGeom>
          <a:solidFill>
            <a:srgbClr val="EBEE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3610483" y="1262583"/>
            <a:ext cx="2183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Based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Indexed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Mode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2722" y="1758552"/>
            <a:ext cx="8427720" cy="5257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380104">
              <a:lnSpc>
                <a:spcPct val="100000"/>
              </a:lnSpc>
              <a:spcBef>
                <a:spcPts val="359"/>
              </a:spcBef>
            </a:pPr>
            <a:r>
              <a:rPr sz="1600" dirty="0">
                <a:latin typeface="Cambria"/>
                <a:cs typeface="Cambria"/>
              </a:rPr>
              <a:t>In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index addressing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 8086,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(BX</a:t>
            </a:r>
            <a:endParaRPr sz="16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10483" y="2278506"/>
            <a:ext cx="50584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or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BP),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index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(SI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DI),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displacement</a:t>
            </a:r>
            <a:r>
              <a:rPr sz="1600" spc="-25" dirty="0">
                <a:latin typeface="Cambria"/>
                <a:cs typeface="Cambria"/>
              </a:rPr>
              <a:t> are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10483" y="2766441"/>
            <a:ext cx="35921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added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determine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effective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address.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10483" y="3253816"/>
            <a:ext cx="506095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Cambria"/>
                <a:cs typeface="Cambria"/>
              </a:rPr>
              <a:t>Examples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Indexed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Addressing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Modes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given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10483" y="3742182"/>
            <a:ext cx="5886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Cambria"/>
                <a:cs typeface="Cambria"/>
              </a:rPr>
              <a:t>below.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14950" y="4230116"/>
            <a:ext cx="16452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16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DX,</a:t>
            </a:r>
            <a:r>
              <a:rPr sz="16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[BX</a:t>
            </a:r>
            <a:r>
              <a:rPr sz="1600" b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16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Cambria"/>
                <a:cs typeface="Cambria"/>
              </a:rPr>
              <a:t>SI]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10483" y="4961890"/>
            <a:ext cx="50615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Given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instruction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indicates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there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value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stored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in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0483" y="5449925"/>
            <a:ext cx="5058410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mbria"/>
                <a:cs typeface="Cambria"/>
              </a:rPr>
              <a:t>the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(Source</a:t>
            </a:r>
            <a:r>
              <a:rPr sz="1600" spc="3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Index)</a:t>
            </a:r>
            <a:r>
              <a:rPr sz="1600" spc="3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3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this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added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31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the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value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BX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register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store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DX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register.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1829" y="1075766"/>
            <a:ext cx="52165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Indexed</a:t>
            </a:r>
            <a:r>
              <a:rPr sz="2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Displacement</a:t>
            </a:r>
            <a:r>
              <a:rPr sz="2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975" y="2183130"/>
            <a:ext cx="7080884" cy="2616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MOV</a:t>
            </a:r>
            <a:r>
              <a:rPr sz="20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AX,</a:t>
            </a:r>
            <a:r>
              <a:rPr sz="20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[BX+SI+08]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000" dirty="0">
              <a:latin typeface="Cambria"/>
              <a:cs typeface="Cambria"/>
            </a:endParaRPr>
          </a:p>
          <a:p>
            <a:pPr marL="12700" marR="5080" algn="just">
              <a:lnSpc>
                <a:spcPct val="150100"/>
              </a:lnSpc>
            </a:pPr>
            <a:r>
              <a:rPr sz="2000" dirty="0">
                <a:latin typeface="Cambria"/>
                <a:cs typeface="Cambria"/>
              </a:rPr>
              <a:t>Given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indicates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there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stored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SI </a:t>
            </a:r>
            <a:r>
              <a:rPr sz="2000" dirty="0">
                <a:latin typeface="Cambria"/>
                <a:cs typeface="Cambria"/>
              </a:rPr>
              <a:t>(Source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Index)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register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added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BX </a:t>
            </a:r>
            <a:r>
              <a:rPr sz="2000" dirty="0">
                <a:latin typeface="Cambria"/>
                <a:cs typeface="Cambria"/>
              </a:rPr>
              <a:t>register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along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8-</a:t>
            </a:r>
            <a:r>
              <a:rPr sz="2000" dirty="0">
                <a:latin typeface="Cambria"/>
                <a:cs typeface="Cambria"/>
              </a:rPr>
              <a:t>bit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displacement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store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in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AX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register.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2061210"/>
            <a:ext cx="3036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2853943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6.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3250437"/>
            <a:ext cx="26212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7.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400" y="3581400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7747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10"/>
              </a:spcBef>
              <a:tabLst>
                <a:tab pos="44704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8.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4043298"/>
            <a:ext cx="305816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9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4996" y="171957"/>
            <a:ext cx="551688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287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1200" dirty="0">
              <a:latin typeface="Calibri"/>
              <a:cs typeface="Calibri"/>
            </a:endParaRPr>
          </a:p>
          <a:p>
            <a:pPr marR="99695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728980" algn="l"/>
                <a:tab pos="2137410" algn="l"/>
                <a:tab pos="2979420" algn="l"/>
                <a:tab pos="3409315" algn="l"/>
                <a:tab pos="4418330" algn="l"/>
                <a:tab pos="4881880" algn="l"/>
              </a:tabLst>
            </a:pPr>
            <a:r>
              <a:rPr sz="1800" b="1" spc="-20" dirty="0">
                <a:solidFill>
                  <a:srgbClr val="273139"/>
                </a:solidFill>
                <a:latin typeface="Cambria"/>
                <a:cs typeface="Cambria"/>
              </a:rPr>
              <a:t>This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10" dirty="0">
                <a:solidFill>
                  <a:srgbClr val="273139"/>
                </a:solidFill>
                <a:latin typeface="Cambria"/>
                <a:cs typeface="Cambria"/>
              </a:rPr>
              <a:t>addressing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20" dirty="0">
                <a:solidFill>
                  <a:srgbClr val="273139"/>
                </a:solidFill>
                <a:latin typeface="Cambria"/>
                <a:cs typeface="Cambria"/>
              </a:rPr>
              <a:t>mode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25" dirty="0">
                <a:solidFill>
                  <a:srgbClr val="273139"/>
                </a:solidFill>
                <a:latin typeface="Cambria"/>
                <a:cs typeface="Cambria"/>
              </a:rPr>
              <a:t>is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10" dirty="0">
                <a:solidFill>
                  <a:srgbClr val="273139"/>
                </a:solidFill>
                <a:latin typeface="Cambria"/>
                <a:cs typeface="Cambria"/>
              </a:rPr>
              <a:t>related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25" dirty="0">
                <a:solidFill>
                  <a:srgbClr val="273139"/>
                </a:solidFill>
                <a:latin typeface="Cambria"/>
                <a:cs typeface="Cambria"/>
              </a:rPr>
              <a:t>to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	</a:t>
            </a:r>
            <a:r>
              <a:rPr sz="1800" b="1" spc="-10" dirty="0">
                <a:solidFill>
                  <a:srgbClr val="273139"/>
                </a:solidFill>
                <a:latin typeface="Cambria"/>
                <a:cs typeface="Cambria"/>
              </a:rPr>
              <a:t>string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instructions.</a:t>
            </a:r>
            <a:r>
              <a:rPr sz="1800" b="1" spc="19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In</a:t>
            </a:r>
            <a:r>
              <a:rPr sz="1800" b="1" spc="19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this</a:t>
            </a:r>
            <a:r>
              <a:rPr sz="1800" b="1" spc="19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the</a:t>
            </a:r>
            <a:r>
              <a:rPr sz="1800" b="1" spc="20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value</a:t>
            </a:r>
            <a:r>
              <a:rPr sz="1800" b="1" spc="21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of</a:t>
            </a:r>
            <a:r>
              <a:rPr sz="1800" b="1" spc="190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SI</a:t>
            </a:r>
            <a:r>
              <a:rPr sz="1800" b="1" spc="19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and</a:t>
            </a:r>
            <a:r>
              <a:rPr sz="1800" b="1" spc="20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DI</a:t>
            </a:r>
            <a:r>
              <a:rPr sz="1800" b="1" spc="200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are</a:t>
            </a:r>
            <a:r>
              <a:rPr sz="1800" b="1" spc="20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273139"/>
                </a:solidFill>
                <a:latin typeface="Cambria"/>
                <a:cs typeface="Cambria"/>
              </a:rPr>
              <a:t>auto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77032" y="5183251"/>
            <a:ext cx="628015" cy="540385"/>
          </a:xfrm>
          <a:custGeom>
            <a:avLst/>
            <a:gdLst/>
            <a:ahLst/>
            <a:cxnLst/>
            <a:rect l="l" t="t" r="r" b="b"/>
            <a:pathLst>
              <a:path w="628014" h="540385">
                <a:moveTo>
                  <a:pt x="0" y="539813"/>
                </a:moveTo>
                <a:lnTo>
                  <a:pt x="627507" y="0"/>
                </a:lnTo>
              </a:path>
            </a:pathLst>
          </a:custGeom>
          <a:ln w="6096">
            <a:solidFill>
              <a:srgbClr val="CC0066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914400" y="5715000"/>
            <a:ext cx="2286000" cy="426720"/>
          </a:xfrm>
          <a:prstGeom prst="rect">
            <a:avLst/>
          </a:prstGeom>
          <a:solidFill>
            <a:srgbClr val="FFFFCC"/>
          </a:solidFill>
          <a:ln w="6096">
            <a:solidFill>
              <a:srgbClr val="CC0066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 marR="86360">
              <a:lnSpc>
                <a:spcPct val="100000"/>
              </a:lnSpc>
              <a:spcBef>
                <a:spcPts val="190"/>
              </a:spcBef>
            </a:pPr>
            <a:r>
              <a:rPr sz="1200" dirty="0">
                <a:latin typeface="Calibri"/>
                <a:cs typeface="Calibri"/>
              </a:rPr>
              <a:t>Note</a:t>
            </a:r>
            <a:r>
              <a:rPr sz="1200" spc="3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3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Effective</a:t>
            </a:r>
            <a:r>
              <a:rPr sz="1200" spc="3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3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3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Extra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segment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register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4996" y="2056333"/>
            <a:ext cx="5516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incremented</a:t>
            </a:r>
            <a:r>
              <a:rPr sz="1800" b="1" spc="130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and</a:t>
            </a:r>
            <a:r>
              <a:rPr sz="1800" b="1" spc="11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decremented</a:t>
            </a:r>
            <a:r>
              <a:rPr sz="1800" b="1" spc="130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depending</a:t>
            </a:r>
            <a:r>
              <a:rPr sz="1800" b="1" spc="11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upon</a:t>
            </a:r>
            <a:r>
              <a:rPr sz="1800" b="1" spc="114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273139"/>
                </a:solidFill>
                <a:latin typeface="Cambria"/>
                <a:cs typeface="Cambria"/>
              </a:rPr>
              <a:t>the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4996" y="2742387"/>
            <a:ext cx="2542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value</a:t>
            </a:r>
            <a:r>
              <a:rPr sz="1800" b="1" spc="-15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273139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273139"/>
                </a:solidFill>
                <a:latin typeface="Cambria"/>
                <a:cs typeface="Cambria"/>
              </a:rPr>
              <a:t> directional</a:t>
            </a:r>
            <a:r>
              <a:rPr sz="1800" b="1" spc="-40" dirty="0">
                <a:solidFill>
                  <a:srgbClr val="273139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273139"/>
                </a:solidFill>
                <a:latin typeface="Cambria"/>
                <a:cs typeface="Cambria"/>
              </a:rPr>
              <a:t>flag.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19778" y="4115180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Example: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9778" y="4801361"/>
            <a:ext cx="829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MOVS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B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9778" y="5487416"/>
            <a:ext cx="901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MOVS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2061210"/>
            <a:ext cx="3036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2853943"/>
            <a:ext cx="2621280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6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56870" indent="-344170">
              <a:lnSpc>
                <a:spcPct val="100000"/>
              </a:lnSpc>
              <a:spcBef>
                <a:spcPts val="1560"/>
              </a:spcBef>
              <a:buAutoNum type="arabicPeriod" startAt="6"/>
              <a:tabLst>
                <a:tab pos="356870" algn="l"/>
              </a:tabLst>
            </a:pP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00" y="4038600"/>
            <a:ext cx="3264535" cy="68008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6510" rIns="0" bIns="0" rtlCol="0">
            <a:spAutoFit/>
          </a:bodyPr>
          <a:lstStyle/>
          <a:p>
            <a:pPr marL="447040" indent="-344170">
              <a:lnSpc>
                <a:spcPct val="100000"/>
              </a:lnSpc>
              <a:spcBef>
                <a:spcPts val="130"/>
              </a:spcBef>
              <a:buAutoNum type="arabicPeriod" startAt="9"/>
              <a:tabLst>
                <a:tab pos="44704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455930" indent="-353060">
              <a:lnSpc>
                <a:spcPct val="100000"/>
              </a:lnSpc>
              <a:spcBef>
                <a:spcPts val="1565"/>
              </a:spcBef>
              <a:buAutoNum type="arabicPeriod" startAt="9"/>
              <a:tabLst>
                <a:tab pos="45593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951223" y="896239"/>
            <a:ext cx="1289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AL,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[80H]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9153" y="1697812"/>
            <a:ext cx="4890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reads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one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byte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data</a:t>
            </a:r>
            <a:r>
              <a:rPr sz="1800" b="1" spc="-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from</a:t>
            </a:r>
            <a:r>
              <a:rPr sz="1800" b="1" spc="-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I/O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port</a:t>
            </a:r>
            <a:r>
              <a:rPr sz="1800" b="1" spc="-5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mbria"/>
                <a:cs typeface="Cambria"/>
              </a:rPr>
              <a:t>address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1264" y="2383993"/>
            <a:ext cx="1098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80H</a:t>
            </a:r>
            <a:r>
              <a:rPr sz="1800" b="1" spc="3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1800" b="1" spc="-1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AL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99153" y="3985386"/>
            <a:ext cx="1517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OUT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[82H],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AL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99153" y="4784217"/>
            <a:ext cx="4616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sz="18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sends</a:t>
            </a:r>
            <a:r>
              <a:rPr sz="1800" b="1" spc="-3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one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byte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data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from</a:t>
            </a:r>
            <a:r>
              <a:rPr sz="1800" b="1" spc="-4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AL</a:t>
            </a:r>
            <a:r>
              <a:rPr sz="1800" b="1" spc="-55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to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I/O</a:t>
            </a:r>
            <a:r>
              <a:rPr sz="1800" b="1" spc="-3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Cambria"/>
                <a:cs typeface="Cambria"/>
              </a:rPr>
              <a:t>port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1264" y="5470347"/>
            <a:ext cx="133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mbria"/>
                <a:cs typeface="Cambria"/>
              </a:rPr>
              <a:t>address</a:t>
            </a:r>
            <a:r>
              <a:rPr sz="1800" b="1" spc="-60" dirty="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001F5F"/>
                </a:solidFill>
                <a:latin typeface="Cambria"/>
                <a:cs typeface="Cambria"/>
              </a:rPr>
              <a:t>82H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67983" y="171957"/>
            <a:ext cx="2312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III :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r>
              <a:rPr sz="1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I/O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ports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94760" y="1877567"/>
            <a:ext cx="5139055" cy="457200"/>
          </a:xfrm>
          <a:custGeom>
            <a:avLst/>
            <a:gdLst/>
            <a:ahLst/>
            <a:cxnLst/>
            <a:rect l="l" t="t" r="r" b="b"/>
            <a:pathLst>
              <a:path w="5139055" h="457200">
                <a:moveTo>
                  <a:pt x="2834640" y="228600"/>
                </a:moveTo>
                <a:lnTo>
                  <a:pt x="0" y="228600"/>
                </a:lnTo>
                <a:lnTo>
                  <a:pt x="0" y="457200"/>
                </a:lnTo>
                <a:lnTo>
                  <a:pt x="2834640" y="457200"/>
                </a:lnTo>
                <a:lnTo>
                  <a:pt x="2834640" y="228600"/>
                </a:lnTo>
                <a:close/>
              </a:path>
              <a:path w="5139055" h="457200">
                <a:moveTo>
                  <a:pt x="5138928" y="0"/>
                </a:moveTo>
                <a:lnTo>
                  <a:pt x="2834640" y="0"/>
                </a:lnTo>
                <a:lnTo>
                  <a:pt x="2834640" y="228600"/>
                </a:lnTo>
                <a:lnTo>
                  <a:pt x="5138928" y="228600"/>
                </a:lnTo>
                <a:lnTo>
                  <a:pt x="5138928" y="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061210"/>
            <a:ext cx="3036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2853943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6.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3250437"/>
            <a:ext cx="26212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7.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3646373"/>
            <a:ext cx="2023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8.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722" y="4043298"/>
            <a:ext cx="305816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9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400" y="4724400"/>
            <a:ext cx="3264535" cy="4210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1238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7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13809" y="1009014"/>
            <a:ext cx="502793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Verdana"/>
                <a:cs typeface="Verdana"/>
              </a:rPr>
              <a:t>In</a:t>
            </a:r>
            <a:r>
              <a:rPr sz="1400" b="1" spc="6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this</a:t>
            </a:r>
            <a:r>
              <a:rPr sz="1400" b="1" spc="6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addressing</a:t>
            </a:r>
            <a:r>
              <a:rPr sz="1400" b="1" spc="8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mode,</a:t>
            </a:r>
            <a:r>
              <a:rPr sz="1400" b="1" spc="7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the</a:t>
            </a:r>
            <a:r>
              <a:rPr sz="1400" b="1" spc="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effective</a:t>
            </a:r>
            <a:r>
              <a:rPr sz="1400" b="1" spc="8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address</a:t>
            </a:r>
            <a:r>
              <a:rPr sz="1400" b="1" spc="6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of 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10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program</a:t>
            </a:r>
            <a:r>
              <a:rPr sz="1400" b="1" spc="10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10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is</a:t>
            </a:r>
            <a:r>
              <a:rPr sz="1400" b="1" spc="10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specified</a:t>
            </a:r>
            <a:r>
              <a:rPr sz="1400" b="1" spc="114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relative</a:t>
            </a:r>
            <a:r>
              <a:rPr sz="1400" b="1" spc="100" dirty="0">
                <a:latin typeface="Verdana"/>
                <a:cs typeface="Verdana"/>
              </a:rPr>
              <a:t>  </a:t>
            </a:r>
            <a:r>
              <a:rPr sz="1400" b="1" spc="-25" dirty="0">
                <a:latin typeface="Verdana"/>
                <a:cs typeface="Verdana"/>
              </a:rPr>
              <a:t>to </a:t>
            </a:r>
            <a:r>
              <a:rPr sz="1400" b="1" dirty="0">
                <a:latin typeface="Verdana"/>
                <a:cs typeface="Verdana"/>
              </a:rPr>
              <a:t>Instruction</a:t>
            </a:r>
            <a:r>
              <a:rPr sz="1400" b="1" spc="229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Pointer</a:t>
            </a:r>
            <a:r>
              <a:rPr sz="1400" b="1" spc="240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(IP)</a:t>
            </a:r>
            <a:r>
              <a:rPr sz="1400" b="1" spc="24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by</a:t>
            </a:r>
            <a:r>
              <a:rPr sz="1400" b="1" spc="225" dirty="0">
                <a:latin typeface="Verdana"/>
                <a:cs typeface="Verdana"/>
              </a:rPr>
              <a:t>  </a:t>
            </a:r>
            <a:r>
              <a:rPr sz="1400" b="1" dirty="0">
                <a:latin typeface="Verdana"/>
                <a:cs typeface="Verdana"/>
              </a:rPr>
              <a:t>an</a:t>
            </a:r>
            <a:r>
              <a:rPr sz="1400" b="1" spc="229" dirty="0">
                <a:latin typeface="Verdana"/>
                <a:cs typeface="Verdana"/>
              </a:rPr>
              <a:t>  </a:t>
            </a:r>
            <a:r>
              <a:rPr sz="1400" b="1" spc="-20" dirty="0">
                <a:latin typeface="Verdana"/>
                <a:cs typeface="Verdana"/>
              </a:rPr>
              <a:t>8-</a:t>
            </a:r>
            <a:r>
              <a:rPr sz="1400" b="1" dirty="0">
                <a:latin typeface="Verdana"/>
                <a:cs typeface="Verdana"/>
              </a:rPr>
              <a:t>bit</a:t>
            </a:r>
            <a:r>
              <a:rPr sz="1400" b="1" spc="229" dirty="0">
                <a:latin typeface="Verdana"/>
                <a:cs typeface="Verdana"/>
              </a:rPr>
              <a:t>  </a:t>
            </a:r>
            <a:r>
              <a:rPr sz="1400" b="1" spc="-10" dirty="0">
                <a:latin typeface="Verdana"/>
                <a:cs typeface="Verdana"/>
              </a:rPr>
              <a:t>signed displacement.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3809" y="2075764"/>
            <a:ext cx="17589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Example</a:t>
            </a:r>
            <a:r>
              <a:rPr sz="1400" b="1" dirty="0">
                <a:solidFill>
                  <a:srgbClr val="6F2F9F"/>
                </a:solidFill>
                <a:latin typeface="Verdana"/>
                <a:cs typeface="Verdana"/>
              </a:rPr>
              <a:t>:</a:t>
            </a:r>
            <a:r>
              <a:rPr sz="1400" b="1" spc="425" dirty="0">
                <a:solidFill>
                  <a:srgbClr val="6F2F9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6F2F9F"/>
                </a:solidFill>
                <a:latin typeface="Verdana"/>
                <a:cs typeface="Verdana"/>
              </a:rPr>
              <a:t>JZ</a:t>
            </a:r>
            <a:r>
              <a:rPr sz="1400" b="1" spc="-25" dirty="0">
                <a:solidFill>
                  <a:srgbClr val="6F2F9F"/>
                </a:solidFill>
                <a:latin typeface="Verdana"/>
                <a:cs typeface="Verdana"/>
              </a:rPr>
              <a:t> 0AH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4855" y="2673553"/>
            <a:ext cx="7620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Verdana"/>
                <a:cs typeface="Verdana"/>
              </a:rPr>
              <a:t>Jump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if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0600" y="2663951"/>
            <a:ext cx="893444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70"/>
              </a:spcBef>
            </a:pPr>
            <a:r>
              <a:rPr sz="1400" b="1" spc="-20" dirty="0">
                <a:latin typeface="Verdana"/>
                <a:cs typeface="Verdana"/>
              </a:rPr>
              <a:t>zero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13809" y="3313887"/>
            <a:ext cx="207327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4515" algn="l"/>
              </a:tabLst>
            </a:pPr>
            <a:r>
              <a:rPr sz="1400" b="1" spc="-25" dirty="0">
                <a:solidFill>
                  <a:srgbClr val="6F2F9F"/>
                </a:solidFill>
                <a:latin typeface="Verdana"/>
                <a:cs typeface="Verdana"/>
              </a:rPr>
              <a:t>JNZ</a:t>
            </a:r>
            <a:r>
              <a:rPr sz="1400" b="1" dirty="0">
                <a:solidFill>
                  <a:srgbClr val="6F2F9F"/>
                </a:solidFill>
                <a:latin typeface="Verdana"/>
                <a:cs typeface="Verdana"/>
              </a:rPr>
              <a:t>	</a:t>
            </a:r>
            <a:r>
              <a:rPr sz="1400" b="1" dirty="0">
                <a:latin typeface="Verdana"/>
                <a:cs typeface="Verdana"/>
              </a:rPr>
              <a:t>Jum if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not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zero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13809" y="3954221"/>
            <a:ext cx="21590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0230" algn="l"/>
              </a:tabLst>
            </a:pPr>
            <a:r>
              <a:rPr sz="1400" b="1" spc="-25" dirty="0">
                <a:solidFill>
                  <a:srgbClr val="6F2F9F"/>
                </a:solidFill>
                <a:latin typeface="Verdana"/>
                <a:cs typeface="Verdana"/>
              </a:rPr>
              <a:t>JNC</a:t>
            </a:r>
            <a:r>
              <a:rPr sz="1400" b="1" dirty="0">
                <a:solidFill>
                  <a:srgbClr val="6F2F9F"/>
                </a:solidFill>
                <a:latin typeface="Verdana"/>
                <a:cs typeface="Verdana"/>
              </a:rPr>
              <a:t>	</a:t>
            </a:r>
            <a:r>
              <a:rPr sz="1400" b="1" dirty="0">
                <a:latin typeface="Verdana"/>
                <a:cs typeface="Verdana"/>
              </a:rPr>
              <a:t>Jum if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not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carry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1264" y="4567554"/>
            <a:ext cx="45637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4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ZF</a:t>
            </a:r>
            <a:r>
              <a:rPr sz="1400" b="1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14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1,</a:t>
            </a:r>
            <a:r>
              <a:rPr sz="14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then</a:t>
            </a:r>
            <a:r>
              <a:rPr sz="1400" b="1" spc="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140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program</a:t>
            </a:r>
            <a:r>
              <a:rPr sz="1400" b="1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control</a:t>
            </a:r>
            <a:r>
              <a:rPr sz="140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jumps</a:t>
            </a:r>
            <a:r>
              <a:rPr sz="1400" b="1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1264" y="4994528"/>
            <a:ext cx="30924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new</a:t>
            </a:r>
            <a:r>
              <a:rPr sz="1400" b="1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address</a:t>
            </a:r>
            <a:r>
              <a:rPr sz="14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calculated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above.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3415" y="5848299"/>
            <a:ext cx="4028440" cy="973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90"/>
              </a:spcBef>
              <a:tabLst>
                <a:tab pos="655320" algn="l"/>
                <a:tab pos="1054735" algn="l"/>
                <a:tab pos="1369060" algn="l"/>
                <a:tab pos="1719580" algn="l"/>
                <a:tab pos="2329180" algn="l"/>
                <a:tab pos="2933065" algn="l"/>
              </a:tabLst>
            </a:pP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ZF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50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0,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then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0" dirty="0">
                <a:solidFill>
                  <a:srgbClr val="C00000"/>
                </a:solidFill>
                <a:latin typeface="Verdana"/>
                <a:cs typeface="Verdana"/>
              </a:rPr>
              <a:t>next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instruct</a:t>
            </a:r>
            <a:r>
              <a:rPr lang="en-IN" sz="1400" b="1" spc="-10" dirty="0">
                <a:solidFill>
                  <a:srgbClr val="C00000"/>
                </a:solidFill>
                <a:latin typeface="Verdana"/>
                <a:cs typeface="Verdana"/>
              </a:rPr>
              <a:t>ion</a:t>
            </a:r>
            <a:endParaRPr lang="it-IT" sz="1400" dirty="0">
              <a:latin typeface="Verdana"/>
              <a:cs typeface="Verdana"/>
            </a:endParaRPr>
          </a:p>
          <a:p>
            <a:pPr marL="320040">
              <a:lnSpc>
                <a:spcPct val="100000"/>
              </a:lnSpc>
              <a:spcBef>
                <a:spcPts val="1685"/>
              </a:spcBef>
            </a:pPr>
            <a:r>
              <a:rPr lang="en-IN" sz="1400" b="1" dirty="0">
                <a:solidFill>
                  <a:srgbClr val="C00000"/>
                </a:solidFill>
                <a:latin typeface="Verdana"/>
                <a:cs typeface="Verdana"/>
              </a:rPr>
              <a:t>program</a:t>
            </a:r>
            <a:r>
              <a:rPr lang="en-IN" sz="1400" b="1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IN" sz="1400" b="1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lang="en-IN" sz="14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IN" sz="1400" b="1" spc="-10" dirty="0">
                <a:solidFill>
                  <a:srgbClr val="C00000"/>
                </a:solidFill>
                <a:latin typeface="Verdana"/>
                <a:cs typeface="Verdana"/>
              </a:rPr>
              <a:t>executed.</a:t>
            </a:r>
            <a:endParaRPr lang="it-IT"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IN" sz="1200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endParaRPr lang="it-IT" sz="12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28254" y="5848299"/>
            <a:ext cx="7073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882765" y="151256"/>
            <a:ext cx="1940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 IV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Relative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567" y="0"/>
            <a:ext cx="7266432" cy="6736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2400" y="5181600"/>
            <a:ext cx="3264535" cy="421005"/>
          </a:xfrm>
          <a:custGeom>
            <a:avLst/>
            <a:gdLst/>
            <a:ahLst/>
            <a:cxnLst/>
            <a:rect l="l" t="t" r="r" b="b"/>
            <a:pathLst>
              <a:path w="3264535" h="421004">
                <a:moveTo>
                  <a:pt x="3264408" y="0"/>
                </a:moveTo>
                <a:lnTo>
                  <a:pt x="0" y="0"/>
                </a:lnTo>
                <a:lnTo>
                  <a:pt x="0" y="420624"/>
                </a:lnTo>
                <a:lnTo>
                  <a:pt x="3264408" y="42062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64058" y="89357"/>
            <a:ext cx="20320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Ebrima"/>
                <a:cs typeface="Ebrima"/>
              </a:rPr>
              <a:t>8086</a:t>
            </a:r>
            <a:r>
              <a:rPr sz="1600" b="1" spc="-40" dirty="0">
                <a:latin typeface="Ebrima"/>
                <a:cs typeface="Ebrima"/>
              </a:rPr>
              <a:t> </a:t>
            </a:r>
            <a:r>
              <a:rPr sz="1600" b="1" spc="-10" dirty="0">
                <a:latin typeface="Ebrima"/>
                <a:cs typeface="Ebrima"/>
              </a:rPr>
              <a:t>Microprocessor</a:t>
            </a:r>
            <a:endParaRPr sz="1600" dirty="0">
              <a:latin typeface="Ebrima"/>
              <a:cs typeface="Ebri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722" y="871854"/>
            <a:ext cx="2233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1.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722" y="1268348"/>
            <a:ext cx="2474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2.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	Immediate</a:t>
            </a:r>
            <a:r>
              <a:rPr sz="1300" b="1" spc="-7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722" y="1664284"/>
            <a:ext cx="2017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3.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Direct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2061210"/>
            <a:ext cx="3036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4.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Register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Indirect</a:t>
            </a:r>
            <a:r>
              <a:rPr sz="1300" b="1" spc="-4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722" y="2457704"/>
            <a:ext cx="2018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5.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3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722" y="2853943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6.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Indexed</a:t>
            </a:r>
            <a:r>
              <a:rPr sz="1300" b="1" spc="-7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3250437"/>
            <a:ext cx="26212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7.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Based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Index</a:t>
            </a: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722" y="3646373"/>
            <a:ext cx="2023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sz="1300" b="1" spc="-25" dirty="0">
                <a:solidFill>
                  <a:srgbClr val="990033"/>
                </a:solidFill>
                <a:latin typeface="Verdana"/>
                <a:cs typeface="Verdana"/>
              </a:rPr>
              <a:t>8.</a:t>
            </a:r>
            <a:r>
              <a:rPr sz="1300" b="1" dirty="0">
                <a:solidFill>
                  <a:srgbClr val="990033"/>
                </a:solidFill>
                <a:latin typeface="Verdana"/>
                <a:cs typeface="Verdana"/>
              </a:rPr>
              <a:t>	String</a:t>
            </a:r>
            <a:r>
              <a:rPr sz="1300" b="1" spc="-40" dirty="0">
                <a:solidFill>
                  <a:srgbClr val="990033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990033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722" y="4043298"/>
            <a:ext cx="305816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35687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Direct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1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  <a:p>
            <a:pPr marL="365760" indent="-353060">
              <a:lnSpc>
                <a:spcPct val="100000"/>
              </a:lnSpc>
              <a:spcBef>
                <a:spcPts val="1560"/>
              </a:spcBef>
              <a:buAutoNum type="arabicPeriod" startAt="9"/>
              <a:tabLst>
                <a:tab pos="365760" algn="l"/>
              </a:tabLst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Indirect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I/O</a:t>
            </a:r>
            <a:r>
              <a:rPr sz="1300" b="1" spc="-4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port</a:t>
            </a:r>
            <a:r>
              <a:rPr sz="1300" b="1" spc="-3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22" y="4836033"/>
            <a:ext cx="22218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11.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Relative</a:t>
            </a:r>
            <a:r>
              <a:rPr sz="1300" b="1" spc="-25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722" y="5232653"/>
            <a:ext cx="21882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12.</a:t>
            </a:r>
            <a:r>
              <a:rPr sz="1300" b="1" spc="-40" dirty="0">
                <a:solidFill>
                  <a:srgbClr val="FF0066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FF0066"/>
                </a:solidFill>
                <a:latin typeface="Verdana"/>
                <a:cs typeface="Verdana"/>
              </a:rPr>
              <a:t>Implied</a:t>
            </a:r>
            <a:r>
              <a:rPr sz="1300" b="1" spc="-10" dirty="0">
                <a:solidFill>
                  <a:srgbClr val="FF0066"/>
                </a:solidFill>
                <a:latin typeface="Verdana"/>
                <a:cs typeface="Verdana"/>
              </a:rPr>
              <a:t> Addressing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61409" y="1368374"/>
            <a:ext cx="2320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115" algn="l"/>
                <a:tab pos="991235" algn="l"/>
              </a:tabLst>
            </a:pPr>
            <a:r>
              <a:rPr sz="1800" b="1" spc="-25" dirty="0">
                <a:latin typeface="Cambria"/>
                <a:cs typeface="Cambria"/>
              </a:rPr>
              <a:t>In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b="1" spc="-20" dirty="0">
                <a:latin typeface="Cambria"/>
                <a:cs typeface="Cambria"/>
              </a:rPr>
              <a:t>this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b="1" spc="-10" dirty="0">
                <a:latin typeface="Cambria"/>
                <a:cs typeface="Cambria"/>
              </a:rPr>
              <a:t>Addressing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mbria"/>
                <a:cs typeface="Cambria"/>
              </a:rPr>
              <a:t>implied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in </a:t>
            </a:r>
            <a:r>
              <a:rPr sz="1800" b="1" spc="-10" dirty="0">
                <a:latin typeface="Cambria"/>
                <a:cs typeface="Cambria"/>
              </a:rPr>
              <a:t>instruction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0115" y="1368374"/>
            <a:ext cx="2617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  <a:tab pos="1356995" algn="l"/>
                <a:tab pos="2424430" algn="l"/>
              </a:tabLst>
            </a:pPr>
            <a:r>
              <a:rPr sz="1800" b="1" spc="-10" dirty="0">
                <a:latin typeface="Cambria"/>
                <a:cs typeface="Cambria"/>
              </a:rPr>
              <a:t>mode,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b="1" spc="-25" dirty="0">
                <a:latin typeface="Cambria"/>
                <a:cs typeface="Cambria"/>
              </a:rPr>
              <a:t>the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b="1" spc="-10" dirty="0">
                <a:latin typeface="Cambria"/>
                <a:cs typeface="Cambria"/>
              </a:rPr>
              <a:t>operand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b="1" spc="-25" dirty="0">
                <a:latin typeface="Cambria"/>
                <a:cs typeface="Cambria"/>
              </a:rPr>
              <a:t>is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61409" y="2466594"/>
            <a:ext cx="9918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Example: </a:t>
            </a:r>
            <a:r>
              <a:rPr sz="1800" b="1" spc="-25" dirty="0">
                <a:solidFill>
                  <a:srgbClr val="6F2F9F"/>
                </a:solidFill>
                <a:latin typeface="Cambria"/>
                <a:cs typeface="Cambria"/>
              </a:rPr>
              <a:t>CLC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1409" y="3289503"/>
            <a:ext cx="3435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This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clears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the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carry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flag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to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zero.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1409" y="3838397"/>
            <a:ext cx="4102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F2F9F"/>
                </a:solidFill>
                <a:latin typeface="Cambria"/>
                <a:cs typeface="Cambria"/>
              </a:rPr>
              <a:t>STC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1409" y="4387722"/>
            <a:ext cx="1788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Set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the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carry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flag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61409" y="4936617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6F2F9F"/>
                </a:solidFill>
                <a:latin typeface="Cambria"/>
                <a:cs typeface="Cambria"/>
              </a:rPr>
              <a:t>CLD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1409" y="5485587"/>
            <a:ext cx="2214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Clear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directional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flag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512" y="5547359"/>
            <a:ext cx="1322832" cy="13014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907148" y="151256"/>
            <a:ext cx="19164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sz="1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IV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Implied</a:t>
            </a:r>
            <a:r>
              <a:rPr sz="1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Addressing</a:t>
            </a:r>
            <a:endParaRPr sz="1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7947" y="2249373"/>
            <a:ext cx="8611870" cy="1047115"/>
            <a:chOff x="417947" y="2249373"/>
            <a:chExt cx="8611870" cy="10471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947" y="2347290"/>
              <a:ext cx="8611254" cy="7229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2249373"/>
              <a:ext cx="6036309" cy="1046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724" y="2363723"/>
              <a:ext cx="8534400" cy="6461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8723" y="2363723"/>
            <a:ext cx="8534400" cy="646430"/>
          </a:xfrm>
          <a:prstGeom prst="rect">
            <a:avLst/>
          </a:prstGeom>
          <a:ln w="9144">
            <a:solidFill>
              <a:srgbClr val="97B853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60"/>
              </a:spcBef>
            </a:pPr>
            <a:r>
              <a:rPr sz="3600" b="1" dirty="0">
                <a:solidFill>
                  <a:srgbClr val="FF0000"/>
                </a:solidFill>
                <a:latin typeface="Cambria"/>
                <a:cs typeface="Cambria"/>
              </a:rPr>
              <a:t>Find</a:t>
            </a:r>
            <a:r>
              <a:rPr sz="3600" b="1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3600" b="1" spc="-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3600" b="1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0000"/>
                </a:solidFill>
                <a:latin typeface="Cambria"/>
                <a:cs typeface="Cambria"/>
              </a:rPr>
              <a:t>???</a:t>
            </a:r>
            <a:endParaRPr sz="3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44753"/>
            <a:ext cx="693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Determine</a:t>
            </a:r>
            <a:r>
              <a:rPr sz="1800" b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when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CS=5300H and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IP=0200H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42669"/>
            <a:ext cx="693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Determine</a:t>
            </a:r>
            <a:r>
              <a:rPr sz="1800" b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when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ES=6500H and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IP=4767H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2640025"/>
            <a:ext cx="69386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Determine</a:t>
            </a:r>
            <a:r>
              <a:rPr sz="1800" b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when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CS=24F6H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IP=634AH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3738117"/>
            <a:ext cx="6380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DS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locate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18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43657H.</a:t>
            </a:r>
            <a:r>
              <a:rPr sz="18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Assume</a:t>
            </a:r>
            <a:r>
              <a:rPr sz="1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IP</a:t>
            </a:r>
            <a:r>
              <a:rPr sz="18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8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2057H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4836032"/>
            <a:ext cx="8535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componenet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b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b="1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segment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DS</a:t>
            </a:r>
            <a:r>
              <a:rPr sz="1800" b="1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b="1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locate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1800" b="1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Cambria"/>
              <a:cs typeface="Cambria"/>
            </a:endParaRPr>
          </a:p>
          <a:p>
            <a:pPr marL="299085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43657H.Assume</a:t>
            </a:r>
            <a:r>
              <a:rPr sz="18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content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IP</a:t>
            </a:r>
            <a:r>
              <a:rPr sz="1800" b="1" spc="3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18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2057H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7947" y="2249423"/>
            <a:ext cx="8611870" cy="1595755"/>
            <a:chOff x="417947" y="2249423"/>
            <a:chExt cx="8611870" cy="1595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947" y="2347281"/>
              <a:ext cx="8611254" cy="12778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992" y="2249423"/>
              <a:ext cx="8145526" cy="15953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724" y="2363723"/>
              <a:ext cx="8534400" cy="120091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8723" y="2363723"/>
            <a:ext cx="8534400" cy="1201420"/>
          </a:xfrm>
          <a:prstGeom prst="rect">
            <a:avLst/>
          </a:prstGeom>
          <a:ln w="9144">
            <a:solidFill>
              <a:srgbClr val="97B853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014345" marR="549275" indent="-2454910">
              <a:lnSpc>
                <a:spcPct val="100000"/>
              </a:lnSpc>
              <a:spcBef>
                <a:spcPts val="260"/>
              </a:spcBef>
            </a:pPr>
            <a:r>
              <a:rPr sz="3600" b="1" dirty="0">
                <a:solidFill>
                  <a:srgbClr val="FF0000"/>
                </a:solidFill>
                <a:latin typeface="Cambria"/>
                <a:cs typeface="Cambria"/>
              </a:rPr>
              <a:t>8086</a:t>
            </a:r>
            <a:r>
              <a:rPr sz="3600" b="1" spc="-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ambria"/>
                <a:cs typeface="Cambria"/>
              </a:rPr>
              <a:t>MICROPROCESSOR</a:t>
            </a:r>
            <a:r>
              <a:rPr sz="3600" b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mbria"/>
                <a:cs typeface="Cambria"/>
              </a:rPr>
              <a:t>MODES</a:t>
            </a:r>
            <a:r>
              <a:rPr sz="3600" b="1" spc="-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600" b="1" spc="-25" dirty="0">
                <a:solidFill>
                  <a:srgbClr val="FF0000"/>
                </a:solidFill>
                <a:latin typeface="Cambria"/>
                <a:cs typeface="Cambria"/>
              </a:rPr>
              <a:t>OF </a:t>
            </a:r>
            <a:r>
              <a:rPr sz="3600" b="1" spc="-10" dirty="0">
                <a:solidFill>
                  <a:srgbClr val="FF0000"/>
                </a:solidFill>
                <a:latin typeface="Cambria"/>
                <a:cs typeface="Cambria"/>
              </a:rPr>
              <a:t>OPERATION</a:t>
            </a:r>
            <a:endParaRPr sz="3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1756" y="6321776"/>
            <a:ext cx="1764664" cy="2940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Cambria"/>
                <a:cs typeface="Cambria"/>
              </a:rPr>
              <a:t>private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4939" y="-2077"/>
            <a:ext cx="8917305" cy="62014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8086 has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8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operating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Modes:</a:t>
            </a:r>
            <a:endParaRPr sz="1800" dirty="0">
              <a:latin typeface="Cambria"/>
              <a:cs typeface="Cambria"/>
            </a:endParaRPr>
          </a:p>
          <a:p>
            <a:pPr marL="412115" indent="-399415">
              <a:lnSpc>
                <a:spcPct val="100000"/>
              </a:lnSpc>
              <a:spcBef>
                <a:spcPts val="1080"/>
              </a:spcBef>
              <a:buAutoNum type="romanUcPeriod"/>
              <a:tabLst>
                <a:tab pos="412115" algn="l"/>
              </a:tabLst>
            </a:pP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</a:t>
            </a:r>
            <a:endParaRPr sz="1800" dirty="0">
              <a:latin typeface="Cambria"/>
              <a:cs typeface="Cambria"/>
            </a:endParaRPr>
          </a:p>
          <a:p>
            <a:pPr marL="412115" indent="-399415">
              <a:lnSpc>
                <a:spcPct val="100000"/>
              </a:lnSpc>
              <a:spcBef>
                <a:spcPts val="1080"/>
              </a:spcBef>
              <a:buAutoNum type="romanUcPeriod"/>
              <a:tabLst>
                <a:tab pos="412115" algn="l"/>
              </a:tabLst>
            </a:pPr>
            <a:r>
              <a:rPr sz="1800" dirty="0">
                <a:latin typeface="Cambria"/>
                <a:cs typeface="Cambria"/>
              </a:rPr>
              <a:t>Maximum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Minimum</a:t>
            </a:r>
            <a:r>
              <a:rPr sz="18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mode:</a:t>
            </a:r>
            <a:endParaRPr sz="1800" dirty="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only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10" dirty="0">
                <a:latin typeface="Cambria"/>
                <a:cs typeface="Cambria"/>
              </a:rPr>
              <a:t> system</a:t>
            </a:r>
            <a:r>
              <a:rPr sz="1800" dirty="0">
                <a:latin typeface="Cambria"/>
                <a:cs typeface="Cambria"/>
              </a:rPr>
              <a:t> .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system.</a:t>
            </a:r>
            <a:endParaRPr sz="1800" dirty="0">
              <a:latin typeface="Cambria"/>
              <a:cs typeface="Cambria"/>
            </a:endParaRPr>
          </a:p>
          <a:p>
            <a:pPr marL="299085" lvl="1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8086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operated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minimum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when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MN/MX’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pin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logic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1.</a:t>
            </a:r>
            <a:endParaRPr sz="1800" dirty="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signals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given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itself.</a:t>
            </a:r>
            <a:endParaRPr sz="1800" dirty="0">
              <a:latin typeface="Cambria"/>
              <a:cs typeface="Cambria"/>
            </a:endParaRPr>
          </a:p>
          <a:p>
            <a:pPr marL="6413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Maximum</a:t>
            </a:r>
            <a:r>
              <a:rPr sz="18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mbria"/>
                <a:cs typeface="Cambria"/>
              </a:rPr>
              <a:t>mode:</a:t>
            </a:r>
            <a:endParaRPr sz="1800" dirty="0">
              <a:latin typeface="Cambria"/>
              <a:cs typeface="Cambria"/>
            </a:endParaRPr>
          </a:p>
          <a:p>
            <a:pPr marL="298450" lvl="1" indent="-285750" algn="just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connect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8086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(8087/8089).</a:t>
            </a:r>
            <a:endParaRPr sz="1800" dirty="0">
              <a:latin typeface="Cambria"/>
              <a:cs typeface="Cambria"/>
            </a:endParaRPr>
          </a:p>
          <a:p>
            <a:pPr marL="297815" marR="5080" lvl="1" indent="-285750" algn="just">
              <a:lnSpc>
                <a:spcPct val="1501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8086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max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basically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implementation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allocation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global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resources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 	</a:t>
            </a:r>
            <a:r>
              <a:rPr sz="1800" dirty="0">
                <a:latin typeface="Cambria"/>
                <a:cs typeface="Cambria"/>
              </a:rPr>
              <a:t>passing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coprocessor(i.e.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second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system),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because 	</a:t>
            </a:r>
            <a:r>
              <a:rPr sz="1800" dirty="0">
                <a:latin typeface="Cambria"/>
                <a:cs typeface="Cambria"/>
              </a:rPr>
              <a:t>two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access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system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bus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same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instant.</a:t>
            </a:r>
            <a:endParaRPr sz="1800" dirty="0">
              <a:latin typeface="Cambria"/>
              <a:cs typeface="Cambria"/>
            </a:endParaRPr>
          </a:p>
          <a:p>
            <a:pPr marL="298450" lvl="1" indent="-285750" algn="just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All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execute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their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own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program.</a:t>
            </a:r>
            <a:endParaRPr sz="1800" dirty="0">
              <a:latin typeface="Cambria"/>
              <a:cs typeface="Cambria"/>
            </a:endParaRPr>
          </a:p>
          <a:p>
            <a:pPr marL="299085" lvl="1" indent="-28638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common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global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resources.</a:t>
            </a:r>
            <a:endParaRPr sz="1800" dirty="0">
              <a:latin typeface="Cambria"/>
              <a:cs typeface="Cambria"/>
            </a:endParaRPr>
          </a:p>
          <a:p>
            <a:pPr marL="298450" lvl="1" indent="-28575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resources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allocated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particular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processor</a:t>
            </a:r>
            <a:r>
              <a:rPr sz="1800" spc="3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known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local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or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1716023"/>
            <a:ext cx="6545580" cy="3241675"/>
            <a:chOff x="1371600" y="1716023"/>
            <a:chExt cx="6545580" cy="3241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944" y="1813926"/>
              <a:ext cx="6230771" cy="29388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1716023"/>
              <a:ext cx="6545453" cy="32414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1724" y="1830323"/>
              <a:ext cx="6153912" cy="28620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01724" y="1830323"/>
            <a:ext cx="6154420" cy="2862580"/>
          </a:xfrm>
          <a:prstGeom prst="rect">
            <a:avLst/>
          </a:prstGeom>
          <a:ln w="9144">
            <a:solidFill>
              <a:srgbClr val="97B853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59435">
              <a:lnSpc>
                <a:spcPct val="100000"/>
              </a:lnSpc>
              <a:spcBef>
                <a:spcPts val="260"/>
              </a:spcBef>
            </a:pPr>
            <a:r>
              <a:rPr sz="3600" b="1" spc="-25" dirty="0">
                <a:solidFill>
                  <a:srgbClr val="FFFFFF"/>
                </a:solidFill>
                <a:latin typeface="Cambria"/>
                <a:cs typeface="Cambria"/>
              </a:rPr>
              <a:t>INSTRUCTIONS</a:t>
            </a:r>
            <a:r>
              <a:rPr sz="36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600" b="1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8086</a:t>
            </a:r>
            <a:endParaRPr sz="3600" dirty="0">
              <a:latin typeface="Cambria"/>
              <a:cs typeface="Cambria"/>
            </a:endParaRPr>
          </a:p>
          <a:p>
            <a:pPr marL="90170" marR="147320" indent="2625090">
              <a:lnSpc>
                <a:spcPts val="8640"/>
              </a:lnSpc>
              <a:spcBef>
                <a:spcPts val="810"/>
              </a:spcBef>
            </a:pPr>
            <a:r>
              <a:rPr sz="3600" b="1" spc="-25" dirty="0">
                <a:solidFill>
                  <a:srgbClr val="FF0000"/>
                </a:solidFill>
                <a:latin typeface="Cambria"/>
                <a:cs typeface="Cambria"/>
              </a:rPr>
              <a:t>OR </a:t>
            </a:r>
            <a:r>
              <a:rPr sz="3600" b="1" spc="-10" dirty="0">
                <a:solidFill>
                  <a:srgbClr val="FFFFFF"/>
                </a:solidFill>
                <a:latin typeface="Cambria"/>
                <a:cs typeface="Cambria"/>
              </a:rPr>
              <a:t>INSTRUCTION</a:t>
            </a:r>
            <a:r>
              <a:rPr sz="36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mbria"/>
                <a:cs typeface="Cambria"/>
              </a:rPr>
              <a:t>SETS</a:t>
            </a:r>
            <a:r>
              <a:rPr sz="3600" b="1" spc="-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600" b="1" spc="-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mbria"/>
                <a:cs typeface="Cambria"/>
              </a:rPr>
              <a:t>8086</a:t>
            </a:r>
            <a:endParaRPr sz="3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492" y="581609"/>
            <a:ext cx="8068945" cy="382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00"/>
              </a:spcBef>
              <a:buClr>
                <a:srgbClr val="E7BA29"/>
              </a:buClr>
              <a:buSzPct val="77083"/>
              <a:buFont typeface="Segoe UI Symbol"/>
              <a:buChar char="●"/>
              <a:tabLst>
                <a:tab pos="296545" algn="l"/>
                <a:tab pos="869315" algn="l"/>
                <a:tab pos="2519045" algn="l"/>
                <a:tab pos="2945765" algn="l"/>
                <a:tab pos="3305175" algn="l"/>
                <a:tab pos="4366260" algn="l"/>
                <a:tab pos="5537200" algn="l"/>
                <a:tab pos="6912609" algn="l"/>
                <a:tab pos="7906384" algn="l"/>
              </a:tabLst>
            </a:pP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instruction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binary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pattern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designed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E7BA29"/>
              </a:buClr>
              <a:buFont typeface="Segoe UI Symbol"/>
              <a:buChar char="●"/>
            </a:pPr>
            <a:endParaRPr sz="2400" dirty="0">
              <a:latin typeface="Cambria"/>
              <a:cs typeface="Cambria"/>
            </a:endParaRPr>
          </a:p>
          <a:p>
            <a:pPr marL="295910">
              <a:lnSpc>
                <a:spcPct val="100000"/>
              </a:lnSpc>
            </a:pPr>
            <a:r>
              <a:rPr sz="2400" spc="-45" dirty="0">
                <a:solidFill>
                  <a:srgbClr val="FF0000"/>
                </a:solidFill>
                <a:latin typeface="Cambria"/>
                <a:cs typeface="Cambria"/>
              </a:rPr>
              <a:t>microprocessor</a:t>
            </a:r>
            <a:r>
              <a:rPr sz="2400" spc="-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-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perform</a:t>
            </a:r>
            <a:r>
              <a:rPr sz="2400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spc="-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specific</a:t>
            </a:r>
            <a:r>
              <a:rPr sz="24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  <a:p>
            <a:pPr marL="295910" marR="1123950" indent="-283845">
              <a:lnSpc>
                <a:spcPct val="200100"/>
              </a:lnSpc>
              <a:spcBef>
                <a:spcPts val="1995"/>
              </a:spcBef>
              <a:buClr>
                <a:srgbClr val="E7BA29"/>
              </a:buClr>
              <a:buSzPct val="77083"/>
              <a:buFont typeface="Segoe UI Symbol"/>
              <a:buChar char="●"/>
              <a:tabLst>
                <a:tab pos="295910" algn="l"/>
                <a:tab pos="1143635" algn="l"/>
                <a:tab pos="2268220" algn="l"/>
                <a:tab pos="3384550" algn="l"/>
                <a:tab pos="3990975" algn="l"/>
                <a:tab pos="5911850" algn="l"/>
                <a:tab pos="6786880" algn="l"/>
              </a:tabLst>
            </a:pP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entire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group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instructions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that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Cambria"/>
                <a:cs typeface="Cambria"/>
              </a:rPr>
              <a:t>a </a:t>
            </a:r>
            <a:r>
              <a:rPr sz="2400" spc="-45" dirty="0">
                <a:solidFill>
                  <a:srgbClr val="FF0000"/>
                </a:solidFill>
                <a:latin typeface="Cambria"/>
                <a:cs typeface="Cambria"/>
              </a:rPr>
              <a:t>microprocessor</a:t>
            </a:r>
            <a:r>
              <a:rPr sz="2400" spc="-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supports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400" spc="-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called</a:t>
            </a:r>
            <a:r>
              <a:rPr sz="24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Instruction</a:t>
            </a:r>
            <a:r>
              <a:rPr sz="2400" b="1" spc="-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mbria"/>
                <a:cs typeface="Cambria"/>
              </a:rPr>
              <a:t>Set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85"/>
              </a:spcBef>
              <a:buClr>
                <a:srgbClr val="E7BA29"/>
              </a:buClr>
              <a:buFont typeface="Segoe UI Symbol"/>
              <a:buChar char="●"/>
            </a:pPr>
            <a:endParaRPr sz="2400" dirty="0">
              <a:latin typeface="Cambria"/>
              <a:cs typeface="Cambria"/>
            </a:endParaRPr>
          </a:p>
          <a:p>
            <a:pPr marL="296545" indent="-283845">
              <a:lnSpc>
                <a:spcPct val="100000"/>
              </a:lnSpc>
              <a:buClr>
                <a:srgbClr val="E7BA29"/>
              </a:buClr>
              <a:buSzPct val="77083"/>
              <a:buFont typeface="Segoe UI Symbol"/>
              <a:buChar char="●"/>
              <a:tabLst>
                <a:tab pos="296545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8086</a:t>
            </a:r>
            <a:r>
              <a:rPr sz="2400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has</a:t>
            </a:r>
            <a:r>
              <a:rPr sz="2400" spc="-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more</a:t>
            </a:r>
            <a:r>
              <a:rPr sz="2400" spc="-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than</a:t>
            </a:r>
            <a:r>
              <a:rPr sz="2400" spc="-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20,000</a:t>
            </a:r>
            <a:r>
              <a:rPr sz="24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instructions.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465785"/>
            <a:ext cx="6519545" cy="3989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8086</a:t>
            </a:r>
            <a:r>
              <a:rPr sz="2000" spc="-10" dirty="0">
                <a:latin typeface="Cambria"/>
                <a:cs typeface="Cambria"/>
              </a:rPr>
              <a:t> microprocessor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supports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8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types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−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Arithmetic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Data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Transfer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Logical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Cambria"/>
              <a:buAutoNum type="arabicPeriod"/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Control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Transfer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String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Manipulation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Cambria"/>
              <a:buAutoNum type="arabicPeriod"/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Processor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Control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763" rIns="0" bIns="0" rtlCol="0">
            <a:spAutoFit/>
          </a:bodyPr>
          <a:lstStyle/>
          <a:p>
            <a:pPr marL="135382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1.Arithmetic</a:t>
            </a:r>
            <a:r>
              <a:rPr sz="2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8086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microprocessor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582" y="999870"/>
            <a:ext cx="8647430" cy="1549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Wingdings"/>
              <a:buChar char=""/>
              <a:tabLst>
                <a:tab pos="356870" algn="l"/>
              </a:tabLst>
            </a:pPr>
            <a:r>
              <a:rPr sz="2000" dirty="0">
                <a:latin typeface="Cambria"/>
                <a:cs typeface="Cambria"/>
              </a:rPr>
              <a:t>Arithmetic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Instructions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instructions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perform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basic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arithmetic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"/>
            </a:pPr>
            <a:endParaRPr sz="200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mbria"/>
                <a:cs typeface="Cambria"/>
              </a:rPr>
              <a:t>operations</a:t>
            </a:r>
            <a:r>
              <a:rPr sz="2000" dirty="0">
                <a:latin typeface="Cambria"/>
                <a:cs typeface="Cambria"/>
              </a:rPr>
              <a:t> such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addition,</a:t>
            </a:r>
            <a:r>
              <a:rPr sz="2000" spc="-10" dirty="0">
                <a:latin typeface="Cambria"/>
                <a:cs typeface="Cambria"/>
              </a:rPr>
              <a:t> subtraction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few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more.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"/>
              <a:tabLst>
                <a:tab pos="356870" algn="l"/>
              </a:tabLst>
            </a:pPr>
            <a:r>
              <a:rPr sz="2000" spc="-10" dirty="0">
                <a:latin typeface="Cambria"/>
                <a:cs typeface="Cambria"/>
              </a:rPr>
              <a:t>Following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table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showing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list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arithmetic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instructions: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966681"/>
            <a:ext cx="5715000" cy="37415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51021" y="6375298"/>
            <a:ext cx="244221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482" y="457200"/>
            <a:ext cx="7184266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847" y="685800"/>
            <a:ext cx="7714247" cy="510573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655" y="420623"/>
            <a:ext cx="781105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494" y="3441191"/>
            <a:ext cx="5325217" cy="32831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31" y="76200"/>
            <a:ext cx="5201364" cy="320557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36" y="381000"/>
            <a:ext cx="8186928" cy="54254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9844" y="441401"/>
            <a:ext cx="257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CC00CC"/>
                </a:solidFill>
                <a:latin typeface="Calibri"/>
                <a:cs typeface="Calibri"/>
              </a:rPr>
              <a:t>2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095" y="697991"/>
            <a:ext cx="8351519" cy="546201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22268"/>
            <a:ext cx="8619236" cy="51175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4210" y="392633"/>
            <a:ext cx="354202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3.Logical</a:t>
            </a:r>
            <a:r>
              <a:rPr sz="2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Instructions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0"/>
            <a:ext cx="8768503" cy="35467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962398"/>
            <a:ext cx="6464808" cy="2895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51021" y="6375298"/>
            <a:ext cx="244221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III-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46640"/>
            <a:ext cx="6381271" cy="24938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200400"/>
            <a:ext cx="7232904" cy="3276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51021" y="6375298"/>
            <a:ext cx="244221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460663"/>
            <a:ext cx="8446008" cy="3044536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06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-25" dirty="0">
                <a:solidFill>
                  <a:srgbClr val="CC00CC"/>
                </a:solidFill>
                <a:latin typeface="Cambria"/>
                <a:cs typeface="Cambria"/>
              </a:rPr>
              <a:t>7.ROL</a:t>
            </a:r>
            <a:r>
              <a:rPr sz="2000" b="1" spc="-85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C00CC"/>
                </a:solidFill>
                <a:latin typeface="Cambria"/>
                <a:cs typeface="Cambria"/>
              </a:rPr>
              <a:t>Des,</a:t>
            </a:r>
            <a:r>
              <a:rPr sz="2000" b="1" spc="-75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C00CC"/>
                </a:solidFill>
                <a:latin typeface="Cambria"/>
                <a:cs typeface="Cambria"/>
              </a:rPr>
              <a:t>Count: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428" y="810894"/>
            <a:ext cx="4799330" cy="1015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258445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rotates</a:t>
            </a:r>
            <a:r>
              <a:rPr sz="2000" spc="-16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bits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byte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or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word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left,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by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count.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A3B592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258445" indent="-245745">
              <a:lnSpc>
                <a:spcPct val="100000"/>
              </a:lnSpc>
              <a:spcBef>
                <a:spcPts val="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258445" algn="l"/>
              </a:tabLst>
            </a:pPr>
            <a:r>
              <a:rPr sz="2000" dirty="0">
                <a:latin typeface="Cambria"/>
                <a:cs typeface="Cambria"/>
              </a:rPr>
              <a:t>MSB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transferred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to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LSB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and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also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to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CF.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139695"/>
            <a:ext cx="5684520" cy="2133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5029200"/>
            <a:ext cx="7566728" cy="1185016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26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00" b="1" spc="-20" dirty="0">
                <a:solidFill>
                  <a:srgbClr val="CC00CC"/>
                </a:solidFill>
                <a:latin typeface="Cambria"/>
                <a:cs typeface="Cambria"/>
              </a:rPr>
              <a:t>8.ROR</a:t>
            </a:r>
            <a:r>
              <a:rPr sz="2000" b="1" spc="-90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CC00CC"/>
                </a:solidFill>
                <a:latin typeface="Cambria"/>
                <a:cs typeface="Cambria"/>
              </a:rPr>
              <a:t>Des,</a:t>
            </a:r>
            <a:r>
              <a:rPr sz="2000" b="1" spc="-80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2000" b="1" spc="-10" dirty="0">
                <a:solidFill>
                  <a:srgbClr val="CC00CC"/>
                </a:solidFill>
                <a:latin typeface="Cambria"/>
                <a:cs typeface="Cambria"/>
              </a:rPr>
              <a:t>Count: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428" y="887094"/>
            <a:ext cx="4956175" cy="1015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258445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rotates</a:t>
            </a:r>
            <a:r>
              <a:rPr sz="2000" spc="-16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bits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byte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or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word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right,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35" dirty="0">
                <a:latin typeface="Cambria"/>
                <a:cs typeface="Cambria"/>
              </a:rPr>
              <a:t>by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count.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A3B592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258445" indent="-245745">
              <a:lnSpc>
                <a:spcPct val="100000"/>
              </a:lnSpc>
              <a:spcBef>
                <a:spcPts val="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258445" algn="l"/>
              </a:tabLst>
            </a:pPr>
            <a:r>
              <a:rPr sz="2000" dirty="0">
                <a:latin typeface="Cambria"/>
                <a:cs typeface="Cambria"/>
              </a:rPr>
              <a:t>LSB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transferred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to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MSB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and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also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to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CF.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05000"/>
            <a:ext cx="618744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50" y="4800600"/>
            <a:ext cx="8958549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348" y="706958"/>
            <a:ext cx="575119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0" dirty="0">
                <a:solidFill>
                  <a:srgbClr val="CC00CC"/>
                </a:solidFill>
                <a:latin typeface="Cambria"/>
                <a:cs typeface="Cambria"/>
              </a:rPr>
              <a:t>4.Control</a:t>
            </a:r>
            <a:r>
              <a:rPr sz="3200" b="1" spc="-90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3200" b="1" spc="-85" dirty="0">
                <a:solidFill>
                  <a:srgbClr val="CC00CC"/>
                </a:solidFill>
                <a:latin typeface="Cambria"/>
                <a:cs typeface="Cambria"/>
              </a:rPr>
              <a:t>Transfer</a:t>
            </a:r>
            <a:r>
              <a:rPr sz="3200" b="1" spc="-80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CC00CC"/>
                </a:solidFill>
                <a:latin typeface="Cambria"/>
                <a:cs typeface="Cambria"/>
              </a:rPr>
              <a:t>Instructions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948" y="1525397"/>
            <a:ext cx="8248650" cy="322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5080" indent="-276225">
              <a:lnSpc>
                <a:spcPct val="150100"/>
              </a:lnSpc>
              <a:spcBef>
                <a:spcPts val="100"/>
              </a:spcBef>
              <a:buClr>
                <a:srgbClr val="E7BA29"/>
              </a:buClr>
              <a:buSzPct val="93750"/>
              <a:buFont typeface="Segoe UI Symbol"/>
              <a:buChar char="●"/>
              <a:tabLst>
                <a:tab pos="289560" algn="l"/>
                <a:tab pos="1243965" algn="l"/>
                <a:tab pos="2978785" algn="l"/>
                <a:tab pos="3884295" algn="l"/>
                <a:tab pos="4975860" algn="l"/>
                <a:tab pos="5408930" algn="l"/>
                <a:tab pos="6006465" algn="l"/>
                <a:tab pos="7390765" algn="l"/>
                <a:tab pos="7820659" algn="l"/>
              </a:tabLst>
            </a:pPr>
            <a:r>
              <a:rPr sz="2400" spc="-10" dirty="0">
                <a:latin typeface="Cambria"/>
                <a:cs typeface="Cambria"/>
              </a:rPr>
              <a:t>These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instructions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cause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change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sequence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of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35" dirty="0">
                <a:latin typeface="Cambria"/>
                <a:cs typeface="Cambria"/>
              </a:rPr>
              <a:t>the 	</a:t>
            </a:r>
            <a:r>
              <a:rPr sz="2400" spc="-25" dirty="0">
                <a:latin typeface="Cambria"/>
                <a:cs typeface="Cambria"/>
              </a:rPr>
              <a:t>execution</a:t>
            </a:r>
            <a:r>
              <a:rPr sz="2400" spc="-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instruction.</a:t>
            </a:r>
            <a:endParaRPr sz="2400" dirty="0">
              <a:latin typeface="Cambria"/>
              <a:cs typeface="Cambria"/>
            </a:endParaRPr>
          </a:p>
          <a:p>
            <a:pPr marL="288290" marR="191770" indent="-276225">
              <a:lnSpc>
                <a:spcPct val="150100"/>
              </a:lnSpc>
              <a:spcBef>
                <a:spcPts val="1800"/>
              </a:spcBef>
              <a:buClr>
                <a:srgbClr val="E7BA29"/>
              </a:buClr>
              <a:buSzPct val="93750"/>
              <a:buFont typeface="Segoe UI Symbol"/>
              <a:buChar char="●"/>
              <a:tabLst>
                <a:tab pos="289560" algn="l"/>
                <a:tab pos="1030605" algn="l"/>
                <a:tab pos="2110105" algn="l"/>
                <a:tab pos="2741295" algn="l"/>
                <a:tab pos="3235325" algn="l"/>
                <a:tab pos="4448810" algn="l"/>
                <a:tab pos="4772025" algn="l"/>
                <a:tab pos="6180455" algn="l"/>
                <a:tab pos="6640830" algn="l"/>
              </a:tabLst>
            </a:pPr>
            <a:r>
              <a:rPr sz="2400" spc="-20" dirty="0">
                <a:latin typeface="Cambria"/>
                <a:cs typeface="Cambria"/>
              </a:rPr>
              <a:t>This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change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can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through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condition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sometimes 	</a:t>
            </a:r>
            <a:r>
              <a:rPr sz="2400" spc="-10" dirty="0">
                <a:latin typeface="Cambria"/>
                <a:cs typeface="Cambria"/>
              </a:rPr>
              <a:t>unconditional.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E7BA29"/>
              </a:buClr>
              <a:buFont typeface="Segoe UI Symbol"/>
              <a:buChar char="●"/>
            </a:pPr>
            <a:endParaRPr sz="2400" dirty="0">
              <a:latin typeface="Cambria"/>
              <a:cs typeface="Cambria"/>
            </a:endParaRPr>
          </a:p>
          <a:p>
            <a:pPr marL="288925" indent="-273685">
              <a:lnSpc>
                <a:spcPct val="100000"/>
              </a:lnSpc>
              <a:buClr>
                <a:srgbClr val="E7BA29"/>
              </a:buClr>
              <a:buSzPct val="93750"/>
              <a:buFont typeface="Segoe UI Symbol"/>
              <a:buChar char="●"/>
              <a:tabLst>
                <a:tab pos="288925" algn="l"/>
              </a:tabLst>
            </a:pP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spc="-1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conditions</a:t>
            </a:r>
            <a:r>
              <a:rPr sz="2400" spc="-2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are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represented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by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flags.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92" y="70561"/>
            <a:ext cx="8428990" cy="608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6385" algn="l"/>
              </a:tabLst>
            </a:pPr>
            <a:r>
              <a:rPr sz="2000" b="1" dirty="0">
                <a:latin typeface="Cambria"/>
                <a:cs typeface="Cambria"/>
              </a:rPr>
              <a:t>CALL</a:t>
            </a:r>
            <a:r>
              <a:rPr sz="2000" b="1" spc="-95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Des: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spc="-10" dirty="0">
                <a:latin typeface="Cambria"/>
                <a:cs typeface="Cambria"/>
              </a:rPr>
              <a:t>This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to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call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subroutine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or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function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or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procedure.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spc="-20" dirty="0">
                <a:latin typeface="Cambria"/>
                <a:cs typeface="Cambria"/>
              </a:rPr>
              <a:t>The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address</a:t>
            </a:r>
            <a:r>
              <a:rPr sz="2000" spc="-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next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instruction</a:t>
            </a:r>
            <a:r>
              <a:rPr sz="2000" spc="-204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after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CALL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saved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onto</a:t>
            </a:r>
            <a:r>
              <a:rPr sz="2000" spc="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stack.</a:t>
            </a: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180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RET: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returns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control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from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procedure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to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calling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program.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spc="-40" dirty="0">
                <a:latin typeface="Cambria"/>
                <a:cs typeface="Cambria"/>
              </a:rPr>
              <a:t>Every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CALL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spc="-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should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75" dirty="0">
                <a:latin typeface="Cambria"/>
                <a:cs typeface="Cambria"/>
              </a:rPr>
              <a:t>have</a:t>
            </a:r>
            <a:r>
              <a:rPr sz="2000" spc="-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RET.</a:t>
            </a:r>
            <a:endParaRPr sz="20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955"/>
              </a:spcBef>
              <a:buClr>
                <a:srgbClr val="A3B592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dirty="0">
                <a:latin typeface="Cambria"/>
                <a:cs typeface="Cambria"/>
              </a:rPr>
              <a:t>JMP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Des: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spc="-20" dirty="0">
                <a:latin typeface="Cambria"/>
                <a:cs typeface="Cambria"/>
              </a:rPr>
              <a:t>This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for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unconditional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jump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from</a:t>
            </a:r>
            <a:r>
              <a:rPr sz="2000" spc="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one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place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to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another.</a:t>
            </a:r>
            <a:endParaRPr sz="20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A3B592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E7BA29"/>
              </a:buClr>
              <a:buSzPct val="95000"/>
              <a:buFont typeface="Segoe UI Symbol"/>
              <a:buChar char="●"/>
              <a:tabLst>
                <a:tab pos="286385" algn="l"/>
              </a:tabLst>
            </a:pPr>
            <a:r>
              <a:rPr sz="2000" b="1" dirty="0">
                <a:latin typeface="Cambria"/>
                <a:cs typeface="Cambria"/>
              </a:rPr>
              <a:t>Jxx</a:t>
            </a:r>
            <a:r>
              <a:rPr sz="2000" b="1" spc="-9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Des</a:t>
            </a:r>
            <a:r>
              <a:rPr sz="2000" b="1" spc="-9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(Conditional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Jump):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E7BA29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dirty="0">
                <a:latin typeface="Cambria"/>
                <a:cs typeface="Cambria"/>
              </a:rPr>
              <a:t>All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conditional</a:t>
            </a:r>
            <a:r>
              <a:rPr sz="2000" spc="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jumps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follow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some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conditional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statements</a:t>
            </a:r>
            <a:r>
              <a:rPr sz="2000" spc="-30" dirty="0">
                <a:latin typeface="Cambria"/>
                <a:cs typeface="Cambria"/>
              </a:rPr>
              <a:t> or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any</a:t>
            </a:r>
            <a:endParaRPr sz="20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Cambria"/>
                <a:cs typeface="Cambria"/>
              </a:rPr>
              <a:t>instruction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that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affects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flag.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2060" y="770331"/>
            <a:ext cx="39274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32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Jump</a:t>
            </a:r>
            <a:r>
              <a:rPr sz="32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Table</a:t>
            </a:r>
            <a:endParaRPr sz="3200" dirty="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87550" y="1701800"/>
          <a:ext cx="6285865" cy="475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0" dirty="0">
                          <a:latin typeface="Constantia"/>
                          <a:cs typeface="Constantia"/>
                        </a:rPr>
                        <a:t>Mnemonic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7BA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10" dirty="0">
                          <a:latin typeface="Constantia"/>
                          <a:cs typeface="Constantia"/>
                        </a:rPr>
                        <a:t>Meaning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7BA29"/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20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b="1" spc="-1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b="1" spc="-10" dirty="0">
                          <a:latin typeface="Constantia"/>
                          <a:cs typeface="Constantia"/>
                        </a:rPr>
                        <a:t>Condition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7BA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JA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Above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0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and</a:t>
                      </a:r>
                      <a:r>
                        <a:rPr sz="18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JAE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Above</a:t>
                      </a:r>
                      <a:r>
                        <a:rPr sz="1800" spc="-1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1800" spc="-1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Equal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JB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Below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JBE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1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Belowor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Equal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4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1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1800" spc="-1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JC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Carry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Equal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 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JNC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Not</a:t>
                      </a:r>
                      <a:r>
                        <a:rPr sz="18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Carry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CF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JNE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Not</a:t>
                      </a:r>
                      <a:r>
                        <a:rPr sz="18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Equal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JNZ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Not</a:t>
                      </a:r>
                      <a:r>
                        <a:rPr sz="1800" spc="-13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Zero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JPE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Parity</a:t>
                      </a:r>
                      <a:r>
                        <a:rPr sz="1800" spc="-1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Even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PF</a:t>
                      </a:r>
                      <a:r>
                        <a:rPr sz="18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JPO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Parity</a:t>
                      </a:r>
                      <a:r>
                        <a:rPr sz="1800" spc="-1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5" dirty="0">
                          <a:latin typeface="Constantia"/>
                          <a:cs typeface="Constantia"/>
                        </a:rPr>
                        <a:t>Odd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PF</a:t>
                      </a:r>
                      <a:r>
                        <a:rPr sz="18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0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JZ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Jump</a:t>
                      </a:r>
                      <a:r>
                        <a:rPr sz="18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1800" spc="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Zero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ZF</a:t>
                      </a:r>
                      <a:r>
                        <a:rPr sz="1800" spc="-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1800" spc="-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1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4074" y="360375"/>
            <a:ext cx="64420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CC00CC"/>
                </a:solidFill>
                <a:latin typeface="Cambria"/>
                <a:cs typeface="Cambria"/>
              </a:rPr>
              <a:t>5.String</a:t>
            </a:r>
            <a:r>
              <a:rPr sz="3200" b="1" spc="-110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3200" b="1" spc="-20" dirty="0">
                <a:solidFill>
                  <a:srgbClr val="CC00CC"/>
                </a:solidFill>
                <a:latin typeface="Cambria"/>
                <a:cs typeface="Cambria"/>
              </a:rPr>
              <a:t>Manipulation</a:t>
            </a:r>
            <a:r>
              <a:rPr sz="3200" b="1" spc="-114" dirty="0">
                <a:solidFill>
                  <a:srgbClr val="CC00CC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CC00CC"/>
                </a:solidFill>
                <a:latin typeface="Cambria"/>
                <a:cs typeface="Cambria"/>
              </a:rPr>
              <a:t>Instructions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948" y="1577467"/>
            <a:ext cx="7661275" cy="3225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90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90195" algn="l"/>
              </a:tabLst>
            </a:pPr>
            <a:r>
              <a:rPr sz="2000" dirty="0">
                <a:latin typeface="Cambria"/>
                <a:cs typeface="Cambria"/>
              </a:rPr>
              <a:t>String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assembly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language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just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sequentially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stored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bytes</a:t>
            </a:r>
            <a:r>
              <a:rPr sz="2000" spc="27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or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7BA29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</a:pPr>
            <a:r>
              <a:rPr sz="2000" spc="-10" dirty="0">
                <a:latin typeface="Cambria"/>
                <a:cs typeface="Cambria"/>
              </a:rPr>
              <a:t>words.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000" dirty="0">
              <a:latin typeface="Cambria"/>
              <a:cs typeface="Cambria"/>
            </a:endParaRPr>
          </a:p>
          <a:p>
            <a:pPr marL="289560" indent="-274320">
              <a:lnSpc>
                <a:spcPct val="100000"/>
              </a:lnSpc>
              <a:buClr>
                <a:srgbClr val="E7BA29"/>
              </a:buClr>
              <a:buSzPct val="95000"/>
              <a:buFont typeface="Segoe UI Symbol"/>
              <a:buChar char="●"/>
              <a:tabLst>
                <a:tab pos="289560" algn="l"/>
              </a:tabLst>
            </a:pPr>
            <a:r>
              <a:rPr sz="2000" spc="-45" dirty="0">
                <a:latin typeface="Cambria"/>
                <a:cs typeface="Cambria"/>
              </a:rPr>
              <a:t>There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are</a:t>
            </a:r>
            <a:r>
              <a:rPr sz="2000" spc="-17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very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strong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set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string</a:t>
            </a:r>
            <a:r>
              <a:rPr sz="2000" spc="-10" dirty="0">
                <a:latin typeface="Cambria"/>
                <a:cs typeface="Cambria"/>
              </a:rPr>
              <a:t> instructions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8086.</a:t>
            </a:r>
            <a:endParaRPr sz="2000" dirty="0">
              <a:latin typeface="Cambria"/>
              <a:cs typeface="Cambria"/>
            </a:endParaRPr>
          </a:p>
          <a:p>
            <a:pPr marL="289560" marR="6985" indent="-277495">
              <a:lnSpc>
                <a:spcPct val="200100"/>
              </a:lnSpc>
              <a:spcBef>
                <a:spcPts val="1800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9560" algn="l"/>
                <a:tab pos="719455" algn="l"/>
                <a:tab pos="1451610" algn="l"/>
                <a:tab pos="2179955" algn="l"/>
                <a:tab pos="2963545" algn="l"/>
                <a:tab pos="4467225" algn="l"/>
                <a:tab pos="4963795" algn="l"/>
                <a:tab pos="5530850" algn="l"/>
                <a:tab pos="5890895" algn="l"/>
                <a:tab pos="6381750" algn="l"/>
                <a:tab pos="7466965" algn="l"/>
              </a:tabLst>
            </a:pPr>
            <a:r>
              <a:rPr sz="2000" spc="-25" dirty="0">
                <a:latin typeface="Cambria"/>
                <a:cs typeface="Cambria"/>
              </a:rPr>
              <a:t>By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using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these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string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instructions,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0" dirty="0">
                <a:latin typeface="Cambria"/>
                <a:cs typeface="Cambria"/>
              </a:rPr>
              <a:t>size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of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program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is considerably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reduced.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491" y="397256"/>
            <a:ext cx="8468995" cy="5742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0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dirty="0">
                <a:latin typeface="Cambria"/>
                <a:cs typeface="Cambria"/>
              </a:rPr>
              <a:t>CMPS</a:t>
            </a:r>
            <a:r>
              <a:rPr sz="2000" b="1" spc="-8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Des,</a:t>
            </a:r>
            <a:r>
              <a:rPr sz="2000" b="1" spc="-75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Src: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Clr>
                <a:srgbClr val="E7BA29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buClr>
                <a:srgbClr val="A3B592"/>
              </a:buClr>
              <a:buSzPct val="83333"/>
              <a:buFont typeface="Segoe UI Symbol"/>
              <a:buChar char="●"/>
              <a:tabLst>
                <a:tab pos="652145" algn="l"/>
              </a:tabLst>
            </a:pPr>
            <a:r>
              <a:rPr sz="1800" spc="-30" dirty="0">
                <a:latin typeface="Cambria"/>
                <a:cs typeface="Cambria"/>
              </a:rPr>
              <a:t>It</a:t>
            </a:r>
            <a:r>
              <a:rPr sz="1800" spc="-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comparesthe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string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bytes</a:t>
            </a:r>
            <a:r>
              <a:rPr sz="1800" spc="-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or</a:t>
            </a:r>
            <a:r>
              <a:rPr sz="1800" spc="-1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words.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860"/>
              </a:spcBef>
              <a:buClr>
                <a:srgbClr val="A3B592"/>
              </a:buClr>
              <a:buFont typeface="Segoe UI Symbol"/>
              <a:buChar char="●"/>
            </a:pPr>
            <a:endParaRPr sz="18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dirty="0">
                <a:latin typeface="Cambria"/>
                <a:cs typeface="Cambria"/>
              </a:rPr>
              <a:t>SCAS</a:t>
            </a:r>
            <a:r>
              <a:rPr sz="2000" b="1" spc="-8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String: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Clr>
                <a:srgbClr val="E7BA29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buClr>
                <a:srgbClr val="A3B592"/>
              </a:buClr>
              <a:buSzPct val="83333"/>
              <a:buFont typeface="Segoe UI Symbol"/>
              <a:buChar char="●"/>
              <a:tabLst>
                <a:tab pos="652145" algn="l"/>
              </a:tabLst>
            </a:pPr>
            <a:r>
              <a:rPr sz="1800" spc="-30" dirty="0">
                <a:latin typeface="Cambria"/>
                <a:cs typeface="Cambria"/>
              </a:rPr>
              <a:t>It</a:t>
            </a:r>
            <a:r>
              <a:rPr sz="1800" spc="-1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scans</a:t>
            </a:r>
            <a:r>
              <a:rPr sz="1800" spc="-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string.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770"/>
              </a:spcBef>
              <a:buClr>
                <a:srgbClr val="A3B592"/>
              </a:buClr>
              <a:buFont typeface="Segoe UI Symbol"/>
              <a:buChar char="●"/>
            </a:pPr>
            <a:endParaRPr sz="18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5"/>
              </a:spcBef>
              <a:buClr>
                <a:srgbClr val="A3B592"/>
              </a:buClr>
              <a:buSzPct val="83333"/>
              <a:buFont typeface="Segoe UI Symbol"/>
              <a:buChar char="●"/>
              <a:tabLst>
                <a:tab pos="652145" algn="l"/>
              </a:tabLst>
            </a:pPr>
            <a:r>
              <a:rPr sz="1800" spc="-30" dirty="0">
                <a:latin typeface="Cambria"/>
                <a:cs typeface="Cambria"/>
              </a:rPr>
              <a:t>It</a:t>
            </a:r>
            <a:r>
              <a:rPr sz="1800" spc="-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comparesthe</a:t>
            </a:r>
            <a:r>
              <a:rPr sz="1800" spc="-9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String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byte</a:t>
            </a:r>
            <a:r>
              <a:rPr sz="1800" spc="-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</a:t>
            </a:r>
            <a:r>
              <a:rPr sz="1800" spc="-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or</a:t>
            </a:r>
            <a:r>
              <a:rPr sz="1800" spc="-1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with</a:t>
            </a:r>
            <a:r>
              <a:rPr sz="1800" spc="-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word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AX.</a:t>
            </a:r>
            <a:endParaRPr sz="18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1260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40" dirty="0">
                <a:latin typeface="Cambria"/>
                <a:cs typeface="Cambria"/>
              </a:rPr>
              <a:t>MOVS</a:t>
            </a:r>
            <a:r>
              <a:rPr sz="2000" b="1" spc="-1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/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35" dirty="0">
                <a:latin typeface="Cambria"/>
                <a:cs typeface="Cambria"/>
              </a:rPr>
              <a:t>MOVSB</a:t>
            </a:r>
            <a:r>
              <a:rPr sz="2000" b="1" spc="-114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/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MOVSW: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Clr>
                <a:srgbClr val="E7BA29"/>
              </a:buClr>
              <a:buFont typeface="Segoe UI Symbol"/>
              <a:buChar char="●"/>
            </a:pPr>
            <a:endParaRPr sz="2000" dirty="0">
              <a:latin typeface="Cambria"/>
              <a:cs typeface="Cambria"/>
            </a:endParaRPr>
          </a:p>
          <a:p>
            <a:pPr marL="652780" lvl="1" indent="-247015">
              <a:lnSpc>
                <a:spcPct val="100000"/>
              </a:lnSpc>
              <a:buClr>
                <a:srgbClr val="A3B592"/>
              </a:buClr>
              <a:buSzPct val="83333"/>
              <a:buFont typeface="Segoe UI Symbol"/>
              <a:buChar char="●"/>
              <a:tabLst>
                <a:tab pos="652780" algn="l"/>
              </a:tabLst>
            </a:pPr>
            <a:r>
              <a:rPr sz="1800" spc="-30" dirty="0">
                <a:latin typeface="Cambria"/>
                <a:cs typeface="Cambria"/>
              </a:rPr>
              <a:t>It</a:t>
            </a:r>
            <a:r>
              <a:rPr sz="1800" spc="-1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causes</a:t>
            </a:r>
            <a:r>
              <a:rPr sz="1800" spc="-1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moving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 </a:t>
            </a:r>
            <a:r>
              <a:rPr sz="1800" spc="-50" dirty="0">
                <a:latin typeface="Cambria"/>
                <a:cs typeface="Cambria"/>
              </a:rPr>
              <a:t>byte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or</a:t>
            </a:r>
            <a:r>
              <a:rPr sz="1800" spc="-1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word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from</a:t>
            </a:r>
            <a:r>
              <a:rPr sz="1800" spc="-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onestring to </a:t>
            </a:r>
            <a:r>
              <a:rPr sz="1800" spc="-10" dirty="0">
                <a:latin typeface="Cambria"/>
                <a:cs typeface="Cambria"/>
              </a:rPr>
              <a:t>another.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770"/>
              </a:spcBef>
              <a:buClr>
                <a:srgbClr val="A3B592"/>
              </a:buClr>
              <a:buFont typeface="Segoe UI Symbol"/>
              <a:buChar char="●"/>
            </a:pPr>
            <a:endParaRPr sz="1800" dirty="0">
              <a:latin typeface="Cambria"/>
              <a:cs typeface="Cambria"/>
            </a:endParaRPr>
          </a:p>
          <a:p>
            <a:pPr marL="652780" lvl="1" indent="-247015">
              <a:lnSpc>
                <a:spcPct val="100000"/>
              </a:lnSpc>
              <a:spcBef>
                <a:spcPts val="5"/>
              </a:spcBef>
              <a:buClr>
                <a:srgbClr val="A3B592"/>
              </a:buClr>
              <a:buSzPct val="83333"/>
              <a:buFont typeface="Segoe UI Symbol"/>
              <a:buChar char="●"/>
              <a:tabLst>
                <a:tab pos="652780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instruction,</a:t>
            </a:r>
            <a:r>
              <a:rPr sz="1800" spc="-1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the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source</a:t>
            </a:r>
            <a:r>
              <a:rPr sz="1800" spc="-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string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Segment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destination</a:t>
            </a:r>
            <a:r>
              <a:rPr sz="1800" spc="-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string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in</a:t>
            </a:r>
            <a:endParaRPr sz="18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80"/>
              </a:spcBef>
            </a:pPr>
            <a:r>
              <a:rPr sz="1800" spc="-20" dirty="0">
                <a:latin typeface="Cambria"/>
                <a:cs typeface="Cambria"/>
              </a:rPr>
              <a:t>Extra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Segment.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5"/>
              </a:spcBef>
              <a:buClr>
                <a:srgbClr val="A3B592"/>
              </a:buClr>
              <a:buSzPct val="83333"/>
              <a:buFont typeface="Segoe UI Symbol"/>
              <a:buChar char="●"/>
              <a:tabLst>
                <a:tab pos="652145" algn="l"/>
              </a:tabLst>
            </a:pPr>
            <a:r>
              <a:rPr sz="1800" dirty="0">
                <a:latin typeface="Cambria"/>
                <a:cs typeface="Cambria"/>
              </a:rPr>
              <a:t>SI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store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the</a:t>
            </a:r>
            <a:r>
              <a:rPr sz="1800" spc="-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offsetvalues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for</a:t>
            </a:r>
            <a:r>
              <a:rPr sz="1800" spc="-125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source</a:t>
            </a:r>
            <a:r>
              <a:rPr sz="1800" spc="-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destination</a:t>
            </a:r>
            <a:r>
              <a:rPr sz="1800" spc="-1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index.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431" rIns="0" bIns="0" rtlCol="0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6.Processor</a:t>
            </a:r>
            <a:r>
              <a:rPr sz="2800" b="1" spc="-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800" b="1" spc="-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Instructions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6996" y="1557909"/>
            <a:ext cx="643890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E7BA29"/>
              </a:buClr>
              <a:buSzPct val="93750"/>
              <a:buFont typeface="Segoe UI Symbol"/>
              <a:buChar char="●"/>
              <a:tabLst>
                <a:tab pos="286385" algn="l"/>
              </a:tabLst>
            </a:pPr>
            <a:r>
              <a:rPr sz="2400" spc="-10" dirty="0">
                <a:latin typeface="Cambria"/>
                <a:cs typeface="Cambria"/>
              </a:rPr>
              <a:t>These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instructions</a:t>
            </a:r>
            <a:r>
              <a:rPr sz="2400" spc="-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processor</a:t>
            </a:r>
            <a:r>
              <a:rPr sz="2400" spc="-20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itself.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E7BA29"/>
              </a:buClr>
              <a:buFont typeface="Segoe UI Symbol"/>
              <a:buChar char="●"/>
            </a:pPr>
            <a:endParaRPr sz="2400" dirty="0">
              <a:latin typeface="Cambria"/>
              <a:cs typeface="Cambria"/>
            </a:endParaRPr>
          </a:p>
          <a:p>
            <a:pPr marL="285750" indent="-273050">
              <a:lnSpc>
                <a:spcPct val="100000"/>
              </a:lnSpc>
              <a:spcBef>
                <a:spcPts val="5"/>
              </a:spcBef>
              <a:buClr>
                <a:srgbClr val="E7BA29"/>
              </a:buClr>
              <a:buSzPct val="93750"/>
              <a:buFont typeface="Segoe UI Symbol"/>
              <a:buChar char="●"/>
              <a:tabLst>
                <a:tab pos="285750" algn="l"/>
              </a:tabLst>
            </a:pPr>
            <a:r>
              <a:rPr sz="2400" dirty="0">
                <a:latin typeface="Cambria"/>
                <a:cs typeface="Cambria"/>
              </a:rPr>
              <a:t>8086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allows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to</a:t>
            </a:r>
            <a:r>
              <a:rPr sz="2400" spc="-1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control</a:t>
            </a:r>
            <a:r>
              <a:rPr sz="2400" spc="-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certain</a:t>
            </a:r>
            <a:r>
              <a:rPr sz="2400" spc="-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flags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188" y="3112719"/>
            <a:ext cx="5754370" cy="17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0"/>
              </a:spcBef>
              <a:buClr>
                <a:srgbClr val="A3B592"/>
              </a:buClr>
              <a:buSzPct val="85416"/>
              <a:buFont typeface="Segoe UI Symbol"/>
              <a:buChar char="●"/>
              <a:tabLst>
                <a:tab pos="259079" algn="l"/>
              </a:tabLst>
            </a:pPr>
            <a:r>
              <a:rPr sz="2400" spc="-10" dirty="0">
                <a:latin typeface="Cambria"/>
                <a:cs typeface="Cambria"/>
              </a:rPr>
              <a:t>causes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processing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1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</a:t>
            </a:r>
            <a:r>
              <a:rPr sz="2400" spc="-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certain</a:t>
            </a:r>
            <a:r>
              <a:rPr sz="2400" spc="-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direction</a:t>
            </a:r>
            <a:endParaRPr sz="2400" dirty="0">
              <a:latin typeface="Cambria"/>
              <a:cs typeface="Cambria"/>
            </a:endParaRPr>
          </a:p>
          <a:p>
            <a:pPr marL="259079" marR="205740" indent="-247015">
              <a:lnSpc>
                <a:spcPct val="150100"/>
              </a:lnSpc>
              <a:spcBef>
                <a:spcPts val="1800"/>
              </a:spcBef>
              <a:buClr>
                <a:srgbClr val="A3B592"/>
              </a:buClr>
              <a:buSzPct val="85416"/>
              <a:buFont typeface="Segoe UI Symbol"/>
              <a:buChar char="●"/>
              <a:tabLst>
                <a:tab pos="259079" algn="l"/>
                <a:tab pos="1881505" algn="l"/>
                <a:tab pos="4323715" algn="l"/>
                <a:tab pos="4863465" algn="l"/>
              </a:tabLst>
            </a:pPr>
            <a:r>
              <a:rPr sz="2400" spc="-10" dirty="0">
                <a:latin typeface="Cambria"/>
                <a:cs typeface="Cambria"/>
              </a:rPr>
              <a:t>processor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synchronization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if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45" dirty="0">
                <a:latin typeface="Cambria"/>
                <a:cs typeface="Cambria"/>
              </a:rPr>
              <a:t>more </a:t>
            </a:r>
            <a:r>
              <a:rPr sz="2400" spc="-40" dirty="0">
                <a:latin typeface="Cambria"/>
                <a:cs typeface="Cambria"/>
              </a:rPr>
              <a:t>microprocessor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attached.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7984" y="3890213"/>
            <a:ext cx="144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0755" algn="l"/>
              </a:tabLst>
            </a:pPr>
            <a:r>
              <a:rPr sz="2400" spc="-20" dirty="0">
                <a:latin typeface="Cambria"/>
                <a:cs typeface="Cambria"/>
              </a:rPr>
              <a:t>than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one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892" y="243027"/>
            <a:ext cx="8414385" cy="596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STC: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51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sets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carry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flag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1.</a:t>
            </a: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CLC: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149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clears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carry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flag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to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0.</a:t>
            </a: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CMC: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151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complements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carry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flag.</a:t>
            </a: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168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STD: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51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sets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direction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flag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1.</a:t>
            </a:r>
            <a:endParaRPr sz="2000" dirty="0">
              <a:latin typeface="Cambria"/>
              <a:cs typeface="Cambria"/>
            </a:endParaRPr>
          </a:p>
          <a:p>
            <a:pPr marL="651510" lvl="1" indent="-245745">
              <a:lnSpc>
                <a:spcPct val="100000"/>
              </a:lnSpc>
              <a:spcBef>
                <a:spcPts val="1800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1510" algn="l"/>
              </a:tabLst>
            </a:pPr>
            <a:r>
              <a:rPr sz="2000" dirty="0">
                <a:latin typeface="Cambria"/>
                <a:cs typeface="Cambria"/>
              </a:rPr>
              <a:t>If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set,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string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bytes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are</a:t>
            </a:r>
            <a:r>
              <a:rPr sz="2000" spc="-16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accessed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from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higher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memory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address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to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lower</a:t>
            </a:r>
            <a:endParaRPr sz="2000" dirty="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000" spc="-25" dirty="0">
                <a:latin typeface="Cambria"/>
                <a:cs typeface="Cambria"/>
              </a:rPr>
              <a:t>memory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address.</a:t>
            </a:r>
            <a:endParaRPr sz="20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E7BA29"/>
              </a:buClr>
              <a:buSzPct val="95000"/>
              <a:buFont typeface="Segoe UI Symbol"/>
              <a:buChar char="●"/>
              <a:tabLst>
                <a:tab pos="287020" algn="l"/>
              </a:tabLst>
            </a:pPr>
            <a:r>
              <a:rPr sz="2000" b="1" spc="-20" dirty="0">
                <a:latin typeface="Cambria"/>
                <a:cs typeface="Cambria"/>
              </a:rPr>
              <a:t>CLD: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ct val="100000"/>
              </a:lnSpc>
              <a:spcBef>
                <a:spcPts val="148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clears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direction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flag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to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0.</a:t>
            </a:r>
            <a:endParaRPr sz="2000" dirty="0">
              <a:latin typeface="Cambria"/>
              <a:cs typeface="Cambria"/>
            </a:endParaRPr>
          </a:p>
          <a:p>
            <a:pPr marL="652145" lvl="1" indent="-246379">
              <a:lnSpc>
                <a:spcPts val="2355"/>
              </a:lnSpc>
              <a:spcBef>
                <a:spcPts val="1805"/>
              </a:spcBef>
              <a:buClr>
                <a:srgbClr val="A3B592"/>
              </a:buClr>
              <a:buSzPct val="85000"/>
              <a:buFont typeface="Segoe UI Symbol"/>
              <a:buChar char="●"/>
              <a:tabLst>
                <a:tab pos="652145" algn="l"/>
              </a:tabLst>
            </a:pPr>
            <a:r>
              <a:rPr sz="2000" dirty="0">
                <a:latin typeface="Cambria"/>
                <a:cs typeface="Cambria"/>
              </a:rPr>
              <a:t>If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is</a:t>
            </a:r>
            <a:r>
              <a:rPr sz="2000" spc="-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reset,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string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bytes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are</a:t>
            </a:r>
            <a:r>
              <a:rPr sz="2000" spc="-1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accessed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from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lower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memory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address</a:t>
            </a:r>
            <a:endParaRPr sz="2000" dirty="0">
              <a:latin typeface="Cambria"/>
              <a:cs typeface="Cambria"/>
            </a:endParaRPr>
          </a:p>
          <a:p>
            <a:pPr marL="652780">
              <a:lnSpc>
                <a:spcPts val="2835"/>
              </a:lnSpc>
            </a:pPr>
            <a:r>
              <a:rPr sz="2000" spc="-20" dirty="0">
                <a:latin typeface="Cambria"/>
                <a:cs typeface="Cambria"/>
              </a:rPr>
              <a:t>to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higher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memory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address</a:t>
            </a:r>
            <a:r>
              <a:rPr sz="2400" spc="-10" dirty="0">
                <a:latin typeface="Constantia"/>
                <a:cs typeface="Constantia"/>
              </a:rPr>
              <a:t>.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516A62-FCD3-6347-DD52-969FE46475E9}"/>
              </a:ext>
            </a:extLst>
          </p:cNvPr>
          <p:cNvSpPr txBox="1"/>
          <p:nvPr/>
        </p:nvSpPr>
        <p:spPr>
          <a:xfrm>
            <a:off x="833378" y="1247896"/>
            <a:ext cx="60354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Assembler Directives</a:t>
            </a:r>
          </a:p>
          <a:p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Definition Directives:</a:t>
            </a:r>
            <a:r>
              <a:rPr lang="en-US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DB (Define Byte)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DW (Define Word)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DD (Define Doubleword)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DQ (Define Quadword)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Segment Declaration Directives:</a:t>
            </a:r>
            <a:r>
              <a:rPr lang="en-US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SEGMENT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Procedure Declaration Directives:</a:t>
            </a:r>
            <a:r>
              <a:rPr lang="en-US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PROC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ENDP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Assembly Control Directives:</a:t>
            </a:r>
            <a:r>
              <a:rPr lang="en-US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ASSUME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67613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71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331" y="2145272"/>
            <a:ext cx="19537" cy="235823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94388" y="4496671"/>
            <a:ext cx="883196" cy="0"/>
          </a:xfrm>
          <a:custGeom>
            <a:avLst/>
            <a:gdLst/>
            <a:ahLst/>
            <a:cxnLst/>
            <a:rect l="l" t="t" r="r" b="b"/>
            <a:pathLst>
              <a:path w="1377950">
                <a:moveTo>
                  <a:pt x="0" y="0"/>
                </a:moveTo>
                <a:lnTo>
                  <a:pt x="1377788" y="0"/>
                </a:lnTo>
              </a:path>
            </a:pathLst>
          </a:custGeom>
          <a:ln w="9144">
            <a:solidFill>
              <a:srgbClr val="3F2B3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0764" y="6662457"/>
            <a:ext cx="1361760" cy="996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00829" y="2237102"/>
            <a:ext cx="876277" cy="116711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705" b="1" u="sng" spc="-22" dirty="0"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ASSEMBLER</a:t>
            </a:r>
            <a:r>
              <a:rPr sz="705" b="1" u="sng" spc="-6" dirty="0"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DIRECTIVES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9643" y="2444367"/>
            <a:ext cx="58608" cy="111774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673" spc="-32" dirty="0">
                <a:latin typeface="Calibri"/>
                <a:cs typeface="Calibri"/>
              </a:rPr>
              <a:t>4</a:t>
            </a:r>
            <a:endParaRPr sz="673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5494" y="2426783"/>
            <a:ext cx="3326435" cy="111774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24418">
              <a:spcBef>
                <a:spcPts val="64"/>
              </a:spcBef>
            </a:pPr>
            <a:r>
              <a:rPr sz="1009" spc="-10" baseline="-10582" dirty="0">
                <a:latin typeface="Calibri"/>
                <a:cs typeface="Calibri"/>
              </a:rPr>
              <a:t>Assembler</a:t>
            </a:r>
            <a:r>
              <a:rPr sz="1009" spc="125" baseline="-1058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directives</a:t>
            </a:r>
            <a:r>
              <a:rPr sz="673" spc="8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are</a:t>
            </a:r>
            <a:r>
              <a:rPr sz="673" spc="45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</a:t>
            </a:r>
            <a:r>
              <a:rPr sz="673" spc="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commands</a:t>
            </a:r>
            <a:r>
              <a:rPr sz="673" spc="87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to the</a:t>
            </a:r>
            <a:r>
              <a:rPr sz="673" spc="38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assembler</a:t>
            </a:r>
            <a:r>
              <a:rPr sz="673" spc="10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that</a:t>
            </a:r>
            <a:r>
              <a:rPr sz="673" spc="58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direct</a:t>
            </a:r>
            <a:r>
              <a:rPr sz="673" spc="8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</a:t>
            </a:r>
            <a:r>
              <a:rPr sz="673" spc="22" dirty="0">
                <a:latin typeface="Calibri"/>
                <a:cs typeface="Calibri"/>
              </a:rPr>
              <a:t> </a:t>
            </a:r>
            <a:r>
              <a:rPr sz="1009" baseline="7936" dirty="0">
                <a:latin typeface="Calibri"/>
                <a:cs typeface="Calibri"/>
              </a:rPr>
              <a:t>assembly</a:t>
            </a:r>
            <a:r>
              <a:rPr sz="1009" spc="38" baseline="7936" dirty="0">
                <a:latin typeface="Calibri"/>
                <a:cs typeface="Calibri"/>
              </a:rPr>
              <a:t> </a:t>
            </a:r>
            <a:r>
              <a:rPr sz="1009" spc="-10" baseline="10582" dirty="0">
                <a:latin typeface="Calibri"/>
                <a:cs typeface="Calibri"/>
              </a:rPr>
              <a:t>process.</a:t>
            </a:r>
            <a:endParaRPr sz="1009" baseline="10582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1907" y="2531312"/>
            <a:ext cx="4364700" cy="1829902"/>
          </a:xfrm>
          <a:prstGeom prst="rect">
            <a:avLst/>
          </a:prstGeom>
        </p:spPr>
        <p:txBody>
          <a:bodyPr vert="horz" wrap="square" lIns="0" tIns="28490" rIns="0" bIns="0" rtlCol="0">
            <a:spAutoFit/>
          </a:bodyPr>
          <a:lstStyle/>
          <a:p>
            <a:pPr marL="95638">
              <a:spcBef>
                <a:spcPts val="224"/>
              </a:spcBef>
            </a:pPr>
            <a:r>
              <a:rPr sz="1009" baseline="-10582" dirty="0">
                <a:latin typeface="Calibri"/>
                <a:cs typeface="Calibri"/>
              </a:rPr>
              <a:t>4</a:t>
            </a:r>
            <a:r>
              <a:rPr sz="1009" spc="134" baseline="-10582" dirty="0">
                <a:latin typeface="Calibri"/>
                <a:cs typeface="Calibri"/>
              </a:rPr>
              <a:t>  </a:t>
            </a:r>
            <a:r>
              <a:rPr sz="1009" baseline="-10582" dirty="0">
                <a:latin typeface="Calibri"/>
                <a:cs typeface="Calibri"/>
              </a:rPr>
              <a:t>They</a:t>
            </a:r>
            <a:r>
              <a:rPr sz="1009" spc="72" baseline="-10582" dirty="0">
                <a:latin typeface="Calibri"/>
                <a:cs typeface="Calibri"/>
              </a:rPr>
              <a:t> </a:t>
            </a:r>
            <a:r>
              <a:rPr sz="1009" baseline="-7936" dirty="0">
                <a:latin typeface="Calibri"/>
                <a:cs typeface="Calibri"/>
              </a:rPr>
              <a:t>indicate</a:t>
            </a:r>
            <a:r>
              <a:rPr sz="1009" spc="101" baseline="-793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how</a:t>
            </a:r>
            <a:r>
              <a:rPr sz="673" spc="51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an</a:t>
            </a:r>
            <a:r>
              <a:rPr sz="673" spc="19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operand</a:t>
            </a:r>
            <a:r>
              <a:rPr sz="673" spc="67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is</a:t>
            </a:r>
            <a:r>
              <a:rPr sz="673" spc="29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treated</a:t>
            </a:r>
            <a:r>
              <a:rPr sz="673" spc="35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by</a:t>
            </a:r>
            <a:r>
              <a:rPr sz="673" spc="7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</a:t>
            </a:r>
            <a:r>
              <a:rPr sz="673" spc="2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assembler</a:t>
            </a:r>
            <a:r>
              <a:rPr sz="673" spc="9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and</a:t>
            </a:r>
            <a:r>
              <a:rPr sz="673" spc="1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how</a:t>
            </a:r>
            <a:r>
              <a:rPr sz="673" spc="45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assembler</a:t>
            </a:r>
            <a:r>
              <a:rPr sz="673" spc="77" dirty="0">
                <a:latin typeface="Calibri"/>
                <a:cs typeface="Calibri"/>
              </a:rPr>
              <a:t> </a:t>
            </a:r>
            <a:r>
              <a:rPr sz="1009" baseline="7936" dirty="0">
                <a:latin typeface="Calibri"/>
                <a:cs typeface="Calibri"/>
              </a:rPr>
              <a:t>handles</a:t>
            </a:r>
            <a:r>
              <a:rPr sz="1009" spc="110" baseline="7936" dirty="0">
                <a:latin typeface="Calibri"/>
                <a:cs typeface="Calibri"/>
              </a:rPr>
              <a:t> </a:t>
            </a:r>
            <a:r>
              <a:rPr sz="1009" baseline="10582" dirty="0">
                <a:latin typeface="Calibri"/>
                <a:cs typeface="Calibri"/>
              </a:rPr>
              <a:t>the</a:t>
            </a:r>
            <a:r>
              <a:rPr sz="1009" spc="33" baseline="10582" dirty="0">
                <a:latin typeface="Calibri"/>
                <a:cs typeface="Calibri"/>
              </a:rPr>
              <a:t> </a:t>
            </a:r>
            <a:r>
              <a:rPr sz="1009" spc="-10" baseline="13227" dirty="0">
                <a:latin typeface="Calibri"/>
                <a:cs typeface="Calibri"/>
              </a:rPr>
              <a:t>program.</a:t>
            </a:r>
            <a:endParaRPr sz="1009" baseline="13227" dirty="0">
              <a:latin typeface="Calibri"/>
              <a:cs typeface="Calibri"/>
            </a:endParaRPr>
          </a:p>
          <a:p>
            <a:pPr marL="89534" marR="1090276" indent="3663">
              <a:lnSpc>
                <a:spcPts val="1032"/>
              </a:lnSpc>
              <a:spcBef>
                <a:spcPts val="10"/>
              </a:spcBef>
            </a:pPr>
            <a:r>
              <a:rPr sz="673" dirty="0">
                <a:latin typeface="Calibri"/>
                <a:cs typeface="Calibri"/>
              </a:rPr>
              <a:t>6</a:t>
            </a:r>
            <a:r>
              <a:rPr sz="673" spc="314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They</a:t>
            </a:r>
            <a:r>
              <a:rPr sz="673" spc="42" dirty="0">
                <a:latin typeface="Calibri"/>
                <a:cs typeface="Calibri"/>
              </a:rPr>
              <a:t> </a:t>
            </a:r>
            <a:r>
              <a:rPr sz="1009" baseline="-7936" dirty="0">
                <a:latin typeface="Calibri"/>
                <a:cs typeface="Calibri"/>
              </a:rPr>
              <a:t>also</a:t>
            </a:r>
            <a:r>
              <a:rPr sz="1009" spc="14" baseline="-793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direct</a:t>
            </a:r>
            <a:r>
              <a:rPr sz="673" spc="64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</a:t>
            </a:r>
            <a:r>
              <a:rPr sz="673" spc="4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assembler</a:t>
            </a:r>
            <a:r>
              <a:rPr sz="673" spc="103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how</a:t>
            </a:r>
            <a:r>
              <a:rPr sz="673" spc="4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program</a:t>
            </a:r>
            <a:r>
              <a:rPr sz="673" spc="9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and</a:t>
            </a:r>
            <a:r>
              <a:rPr sz="673" spc="2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data</a:t>
            </a:r>
            <a:r>
              <a:rPr sz="673" spc="1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should</a:t>
            </a:r>
            <a:r>
              <a:rPr sz="673" spc="19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arrange</a:t>
            </a:r>
            <a:r>
              <a:rPr sz="673" spc="77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in</a:t>
            </a:r>
            <a:r>
              <a:rPr sz="673" spc="-13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the</a:t>
            </a:r>
            <a:r>
              <a:rPr sz="673" spc="19" dirty="0">
                <a:latin typeface="Calibri"/>
                <a:cs typeface="Calibri"/>
              </a:rPr>
              <a:t> </a:t>
            </a:r>
            <a:r>
              <a:rPr sz="1009" spc="-10" baseline="7936" dirty="0">
                <a:latin typeface="Calibri"/>
                <a:cs typeface="Calibri"/>
              </a:rPr>
              <a:t>memory.</a:t>
            </a:r>
            <a:r>
              <a:rPr sz="1009" spc="481" baseline="793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ñ</a:t>
            </a:r>
            <a:r>
              <a:rPr sz="673" spc="83" dirty="0">
                <a:latin typeface="Calibri"/>
                <a:cs typeface="Calibri"/>
              </a:rPr>
              <a:t>  </a:t>
            </a:r>
            <a:r>
              <a:rPr sz="673" dirty="0">
                <a:latin typeface="Calibri"/>
                <a:cs typeface="Calibri"/>
              </a:rPr>
              <a:t>ALP's</a:t>
            </a:r>
            <a:r>
              <a:rPr sz="673" spc="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are</a:t>
            </a:r>
            <a:r>
              <a:rPr sz="673" spc="-16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composed</a:t>
            </a:r>
            <a:r>
              <a:rPr sz="673" spc="51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of</a:t>
            </a:r>
            <a:r>
              <a:rPr sz="673" spc="10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two</a:t>
            </a:r>
            <a:r>
              <a:rPr sz="673" spc="3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type</a:t>
            </a:r>
            <a:r>
              <a:rPr sz="673" spc="2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of</a:t>
            </a:r>
            <a:r>
              <a:rPr sz="673" spc="-3" dirty="0">
                <a:latin typeface="Calibri"/>
                <a:cs typeface="Calibri"/>
              </a:rPr>
              <a:t> </a:t>
            </a:r>
            <a:r>
              <a:rPr sz="673" spc="-6" dirty="0">
                <a:latin typeface="Calibri"/>
                <a:cs typeface="Calibri"/>
              </a:rPr>
              <a:t>statements.</a:t>
            </a:r>
            <a:endParaRPr sz="673" dirty="0">
              <a:latin typeface="Calibri"/>
              <a:cs typeface="Calibri"/>
            </a:endParaRPr>
          </a:p>
          <a:p>
            <a:pPr marL="359763" indent="-135115">
              <a:spcBef>
                <a:spcPts val="625"/>
              </a:spcBef>
              <a:buAutoNum type="romanLcParenBoth"/>
              <a:tabLst>
                <a:tab pos="359763" algn="l"/>
              </a:tabLst>
            </a:pPr>
            <a:r>
              <a:rPr sz="705" spc="-13" dirty="0">
                <a:latin typeface="Calibri"/>
                <a:cs typeface="Calibri"/>
              </a:rPr>
              <a:t>The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instructions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which </a:t>
            </a:r>
            <a:r>
              <a:rPr sz="705" spc="-13" dirty="0">
                <a:latin typeface="Calibri"/>
                <a:cs typeface="Calibri"/>
              </a:rPr>
              <a:t>are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translated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machine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codes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assembler.</a:t>
            </a:r>
            <a:endParaRPr sz="705" dirty="0">
              <a:latin typeface="Calibri"/>
              <a:cs typeface="Calibri"/>
            </a:endParaRPr>
          </a:p>
          <a:p>
            <a:pPr marL="357728" indent="-135115">
              <a:spcBef>
                <a:spcPts val="724"/>
              </a:spcBef>
              <a:buAutoNum type="romanLcParenBoth"/>
              <a:tabLst>
                <a:tab pos="357728" algn="l"/>
              </a:tabLst>
            </a:pPr>
            <a:r>
              <a:rPr sz="705" spc="-6" dirty="0">
                <a:latin typeface="Calibri"/>
                <a:cs typeface="Calibri"/>
              </a:rPr>
              <a:t>The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directives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the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during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assembly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process,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for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which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no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machine</a:t>
            </a:r>
            <a:r>
              <a:rPr sz="705" spc="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code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generated.</a:t>
            </a:r>
            <a:endParaRPr sz="705" dirty="0">
              <a:latin typeface="Calibri"/>
              <a:cs typeface="Calibri"/>
            </a:endParaRPr>
          </a:p>
          <a:p>
            <a:pPr marL="78139">
              <a:spcBef>
                <a:spcPts val="801"/>
              </a:spcBef>
            </a:pPr>
            <a:r>
              <a:rPr sz="705" dirty="0">
                <a:latin typeface="Calibri"/>
                <a:cs typeface="Calibri"/>
              </a:rPr>
              <a:t>1.</a:t>
            </a:r>
            <a:r>
              <a:rPr sz="705" spc="138" dirty="0">
                <a:latin typeface="Calibri"/>
                <a:cs typeface="Calibri"/>
              </a:rPr>
              <a:t> </a:t>
            </a:r>
            <a:r>
              <a:rPr sz="705" b="1" spc="-13" dirty="0">
                <a:latin typeface="Calibri"/>
                <a:cs typeface="Calibri"/>
              </a:rPr>
              <a:t>ASSUME:</a:t>
            </a:r>
            <a:r>
              <a:rPr sz="705" b="1" spc="29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Assume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logical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segment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name.</a:t>
            </a:r>
            <a:endParaRPr sz="705" dirty="0">
              <a:latin typeface="Calibri"/>
              <a:cs typeface="Calibri"/>
            </a:endParaRPr>
          </a:p>
          <a:p>
            <a:pPr marL="80580" marR="35813" indent="-1221">
              <a:lnSpc>
                <a:spcPts val="814"/>
              </a:lnSpc>
              <a:spcBef>
                <a:spcPts val="637"/>
              </a:spcBef>
            </a:pPr>
            <a:r>
              <a:rPr sz="705" spc="-19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ASSUME</a:t>
            </a:r>
            <a:r>
              <a:rPr sz="705" spc="-6" dirty="0">
                <a:latin typeface="Calibri"/>
                <a:cs typeface="Calibri"/>
              </a:rPr>
              <a:t> directive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51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inform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64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the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names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logical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segments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assumed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for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different </a:t>
            </a:r>
            <a:r>
              <a:rPr sz="705" spc="-16" dirty="0">
                <a:latin typeface="Calibri"/>
                <a:cs typeface="Calibri"/>
              </a:rPr>
              <a:t>segments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used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.In the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ALP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each </a:t>
            </a:r>
            <a:r>
              <a:rPr sz="705" dirty="0">
                <a:latin typeface="Calibri"/>
                <a:cs typeface="Calibri"/>
              </a:rPr>
              <a:t>segment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given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name.</a:t>
            </a:r>
            <a:endParaRPr sz="705" dirty="0">
              <a:latin typeface="Calibri"/>
              <a:cs typeface="Calibri"/>
            </a:endParaRPr>
          </a:p>
          <a:p>
            <a:pPr marL="78952">
              <a:spcBef>
                <a:spcPts val="593"/>
              </a:spcBef>
            </a:pPr>
            <a:r>
              <a:rPr sz="705" spc="-16" dirty="0">
                <a:latin typeface="Calibri"/>
                <a:cs typeface="Calibri"/>
              </a:rPr>
              <a:t>Syntax: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ASSUME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segreg:segname,...segreg:segname</a:t>
            </a:r>
            <a:endParaRPr sz="705" dirty="0">
              <a:latin typeface="Calibri"/>
              <a:cs typeface="Calibri"/>
            </a:endParaRPr>
          </a:p>
          <a:p>
            <a:pPr marL="78952">
              <a:spcBef>
                <a:spcPts val="602"/>
              </a:spcBef>
            </a:pPr>
            <a:r>
              <a:rPr sz="673" dirty="0">
                <a:latin typeface="Calibri"/>
                <a:cs typeface="Calibri"/>
              </a:rPr>
              <a:t>Ex:</a:t>
            </a:r>
            <a:r>
              <a:rPr sz="673" spc="-29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ASSUME</a:t>
            </a:r>
            <a:r>
              <a:rPr sz="673" spc="32" dirty="0">
                <a:latin typeface="Calibri"/>
                <a:cs typeface="Calibri"/>
              </a:rPr>
              <a:t> </a:t>
            </a:r>
            <a:r>
              <a:rPr sz="673" spc="-6" dirty="0">
                <a:latin typeface="Calibri"/>
                <a:cs typeface="Calibri"/>
              </a:rPr>
              <a:t>CS:CODE</a:t>
            </a:r>
            <a:endParaRPr sz="673" dirty="0">
              <a:latin typeface="Calibri"/>
              <a:cs typeface="Calibri"/>
            </a:endParaRPr>
          </a:p>
          <a:p>
            <a:pPr marL="193718">
              <a:spcBef>
                <a:spcPts val="653"/>
              </a:spcBef>
            </a:pPr>
            <a:r>
              <a:rPr sz="705" spc="-6" dirty="0">
                <a:latin typeface="Calibri"/>
                <a:cs typeface="Calibri"/>
              </a:rPr>
              <a:t>ASSUME</a:t>
            </a:r>
            <a:r>
              <a:rPr sz="705" spc="10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CS:CODE,DS:DATA,SS:STACK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3CBD4-1551-0163-2995-886EEEDCEF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</p:spPr>
        <p:txBody>
          <a:bodyPr/>
          <a:lstStyle/>
          <a:p>
            <a:pPr marL="57790">
              <a:lnSpc>
                <a:spcPts val="756"/>
              </a:lnSpc>
            </a:pPr>
            <a:r>
              <a:rPr lang="en-IN" dirty="0"/>
              <a:t>Page</a:t>
            </a:r>
            <a:r>
              <a:rPr lang="en-IN" spc="-16" dirty="0"/>
              <a:t> </a:t>
            </a:r>
            <a:fld id="{81D60167-4931-47E6-BA6A-407CBD079E47}" type="slidenum">
              <a:rPr spc="-32"/>
              <a:pPr marL="57790">
                <a:lnSpc>
                  <a:spcPts val="756"/>
                </a:lnSpc>
              </a:pPr>
              <a:t>116</a:t>
            </a:fld>
            <a:endParaRPr spc="-32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0660" y="234456"/>
            <a:ext cx="0" cy="6201504"/>
          </a:xfrm>
          <a:custGeom>
            <a:avLst/>
            <a:gdLst/>
            <a:ahLst/>
            <a:cxnLst/>
            <a:rect l="l" t="t" r="r" b="b"/>
            <a:pathLst>
              <a:path h="9675495">
                <a:moveTo>
                  <a:pt x="0" y="9675271"/>
                </a:moveTo>
                <a:lnTo>
                  <a:pt x="0" y="0"/>
                </a:lnTo>
              </a:path>
            </a:pathLst>
          </a:custGeom>
          <a:ln w="9144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337729" y="234456"/>
            <a:ext cx="4448949" cy="6201504"/>
            <a:chOff x="298724" y="365794"/>
            <a:chExt cx="6941184" cy="9675495"/>
          </a:xfrm>
        </p:grpSpPr>
        <p:sp>
          <p:nvSpPr>
            <p:cNvPr id="4" name="object 4"/>
            <p:cNvSpPr/>
            <p:nvPr/>
          </p:nvSpPr>
          <p:spPr>
            <a:xfrm>
              <a:off x="7234914" y="365794"/>
              <a:ext cx="0" cy="9675495"/>
            </a:xfrm>
            <a:custGeom>
              <a:avLst/>
              <a:gdLst/>
              <a:ahLst/>
              <a:cxnLst/>
              <a:rect l="l" t="t" r="r" b="b"/>
              <a:pathLst>
                <a:path h="9675495">
                  <a:moveTo>
                    <a:pt x="0" y="9675271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8724" y="370366"/>
              <a:ext cx="6941184" cy="0"/>
            </a:xfrm>
            <a:custGeom>
              <a:avLst/>
              <a:gdLst/>
              <a:ahLst/>
              <a:cxnLst/>
              <a:rect l="l" t="t" r="r" b="b"/>
              <a:pathLst>
                <a:path w="6941184">
                  <a:moveTo>
                    <a:pt x="0" y="0"/>
                  </a:moveTo>
                  <a:lnTo>
                    <a:pt x="694076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17604" y="10036493"/>
              <a:ext cx="6822440" cy="0"/>
            </a:xfrm>
            <a:custGeom>
              <a:avLst/>
              <a:gdLst/>
              <a:ahLst/>
              <a:cxnLst/>
              <a:rect l="l" t="t" r="r" b="b"/>
              <a:pathLst>
                <a:path w="6822440">
                  <a:moveTo>
                    <a:pt x="0" y="0"/>
                  </a:moveTo>
                  <a:lnTo>
                    <a:pt x="6821881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5931" y="6644873"/>
            <a:ext cx="1361760" cy="957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21360" y="316516"/>
            <a:ext cx="4286962" cy="5708498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26975" indent="-115987">
              <a:spcBef>
                <a:spcPts val="64"/>
              </a:spcBef>
              <a:buAutoNum type="arabicPeriod" startAt="2"/>
              <a:tabLst>
                <a:tab pos="126975" algn="l"/>
              </a:tabLst>
            </a:pPr>
            <a:r>
              <a:rPr sz="705" dirty="0">
                <a:latin typeface="Calibri"/>
                <a:cs typeface="Calibri"/>
              </a:rPr>
              <a:t>DB: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Define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Byte</a:t>
            </a:r>
            <a:endParaRPr sz="705" dirty="0">
              <a:latin typeface="Calibri"/>
              <a:cs typeface="Calibri"/>
            </a:endParaRPr>
          </a:p>
          <a:p>
            <a:pPr marL="11395">
              <a:spcBef>
                <a:spcPts val="644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DB</a:t>
            </a:r>
            <a:r>
              <a:rPr sz="705" spc="-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reserve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byte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or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b="1" spc="-13" dirty="0">
                <a:latin typeface="Calibri"/>
                <a:cs typeface="Calibri"/>
              </a:rPr>
              <a:t>bytes</a:t>
            </a:r>
            <a:r>
              <a:rPr sz="705" b="1" spc="26" dirty="0">
                <a:latin typeface="Calibri"/>
                <a:cs typeface="Calibri"/>
              </a:rPr>
              <a:t> </a:t>
            </a:r>
            <a:r>
              <a:rPr sz="705" b="1" spc="-13" dirty="0">
                <a:latin typeface="Calibri"/>
                <a:cs typeface="Calibri"/>
              </a:rPr>
              <a:t>of</a:t>
            </a:r>
            <a:r>
              <a:rPr sz="705" b="1" spc="-6" dirty="0">
                <a:latin typeface="Calibri"/>
                <a:cs typeface="Calibri"/>
              </a:rPr>
              <a:t> </a:t>
            </a:r>
            <a:r>
              <a:rPr sz="705" b="1" spc="-13" dirty="0">
                <a:latin typeface="Calibri"/>
                <a:cs typeface="Calibri"/>
              </a:rPr>
              <a:t>memory</a:t>
            </a:r>
            <a:r>
              <a:rPr sz="705" b="1" spc="3" dirty="0">
                <a:latin typeface="Calibri"/>
                <a:cs typeface="Calibri"/>
              </a:rPr>
              <a:t> </a:t>
            </a:r>
            <a:r>
              <a:rPr sz="705" b="1" spc="-32" dirty="0">
                <a:latin typeface="Calibri"/>
                <a:cs typeface="Calibri"/>
              </a:rPr>
              <a:t>IOEations</a:t>
            </a:r>
            <a:r>
              <a:rPr sz="705" b="1" spc="19" dirty="0">
                <a:latin typeface="Calibri"/>
                <a:cs typeface="Calibri"/>
              </a:rPr>
              <a:t> </a:t>
            </a:r>
            <a:r>
              <a:rPr sz="705" b="1" dirty="0">
                <a:latin typeface="Calibri"/>
                <a:cs typeface="Calibri"/>
              </a:rPr>
              <a:t>in</a:t>
            </a:r>
            <a:r>
              <a:rPr sz="705" b="1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available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memory.</a:t>
            </a:r>
            <a:endParaRPr sz="705" dirty="0">
              <a:latin typeface="Calibri"/>
              <a:cs typeface="Calibri"/>
            </a:endParaRPr>
          </a:p>
          <a:p>
            <a:pPr marL="303194" marR="2245668" indent="-1628">
              <a:lnSpc>
                <a:spcPct val="174600"/>
              </a:lnSpc>
              <a:spcBef>
                <a:spcPts val="48"/>
              </a:spcBef>
            </a:pPr>
            <a:r>
              <a:rPr sz="705" dirty="0">
                <a:latin typeface="Calibri"/>
                <a:cs typeface="Calibri"/>
              </a:rPr>
              <a:t>Syntax: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variable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DB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initialization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value. </a:t>
            </a:r>
            <a:r>
              <a:rPr sz="705" dirty="0">
                <a:latin typeface="Calibri"/>
                <a:cs typeface="Calibri"/>
              </a:rPr>
              <a:t>Ex: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MARXS DB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35H,30H,35H,40H</a:t>
            </a:r>
            <a:endParaRPr sz="705" dirty="0">
              <a:latin typeface="Calibri"/>
              <a:cs typeface="Calibri"/>
            </a:endParaRPr>
          </a:p>
          <a:p>
            <a:pPr marL="404937">
              <a:spcBef>
                <a:spcPts val="676"/>
              </a:spcBef>
            </a:pPr>
            <a:r>
              <a:rPr sz="705" spc="-6" dirty="0">
                <a:latin typeface="Calibri"/>
                <a:cs typeface="Calibri"/>
              </a:rPr>
              <a:t>NAME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DB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"VARDHAMAN"</a:t>
            </a:r>
            <a:endParaRPr sz="705" dirty="0">
              <a:latin typeface="Calibri"/>
              <a:cs typeface="Calibri"/>
            </a:endParaRPr>
          </a:p>
          <a:p>
            <a:pPr marL="123312" indent="-111917">
              <a:spcBef>
                <a:spcPts val="631"/>
              </a:spcBef>
              <a:buAutoNum type="arabicPeriod" startAt="3"/>
              <a:tabLst>
                <a:tab pos="123312" algn="l"/>
              </a:tabLst>
            </a:pPr>
            <a:r>
              <a:rPr sz="705" dirty="0">
                <a:latin typeface="Calibri"/>
                <a:cs typeface="Calibri"/>
              </a:rPr>
              <a:t>DW: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Define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Word</a:t>
            </a:r>
            <a:endParaRPr sz="705" dirty="0">
              <a:latin typeface="Calibri"/>
              <a:cs typeface="Calibri"/>
            </a:endParaRPr>
          </a:p>
          <a:p>
            <a:pPr marL="128196" marR="3256" indent="-117208">
              <a:lnSpc>
                <a:spcPct val="101800"/>
              </a:lnSpc>
              <a:spcBef>
                <a:spcPts val="615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DW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serves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same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puposes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DB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directive,but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it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now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makes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reserve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number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of </a:t>
            </a:r>
            <a:r>
              <a:rPr sz="705" dirty="0">
                <a:latin typeface="Calibri"/>
                <a:cs typeface="Calibri"/>
              </a:rPr>
              <a:t>memory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words[16-</a:t>
            </a:r>
            <a:r>
              <a:rPr sz="705" dirty="0">
                <a:latin typeface="Calibri"/>
                <a:cs typeface="Calibri"/>
              </a:rPr>
              <a:t>bit)</a:t>
            </a:r>
            <a:r>
              <a:rPr sz="705" spc="64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instead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bytes.</a:t>
            </a:r>
            <a:endParaRPr sz="705" dirty="0">
              <a:latin typeface="Calibri"/>
              <a:cs typeface="Calibri"/>
            </a:endParaRPr>
          </a:p>
          <a:p>
            <a:pPr marL="303194" marR="2289622" indent="-1628">
              <a:lnSpc>
                <a:spcPts val="1525"/>
              </a:lnSpc>
              <a:spcBef>
                <a:spcPts val="115"/>
              </a:spcBef>
            </a:pPr>
            <a:r>
              <a:rPr sz="705" dirty="0">
                <a:latin typeface="Calibri"/>
                <a:cs typeface="Calibri"/>
              </a:rPr>
              <a:t>Syntax: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variable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</a:t>
            </a:r>
            <a:r>
              <a:rPr sz="705" spc="54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DW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initialization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values. </a:t>
            </a:r>
            <a:r>
              <a:rPr sz="705" dirty="0">
                <a:latin typeface="Calibri"/>
                <a:cs typeface="Calibri"/>
              </a:rPr>
              <a:t>Ex.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WORDS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DW</a:t>
            </a:r>
            <a:r>
              <a:rPr sz="705" spc="1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1234H,4567H,2367H</a:t>
            </a:r>
            <a:endParaRPr sz="705" dirty="0">
              <a:latin typeface="Calibri"/>
              <a:cs typeface="Calibri"/>
            </a:endParaRPr>
          </a:p>
          <a:p>
            <a:pPr marL="448890">
              <a:spcBef>
                <a:spcPts val="481"/>
              </a:spcBef>
            </a:pPr>
            <a:r>
              <a:rPr sz="705" spc="-6" dirty="0">
                <a:latin typeface="Calibri"/>
                <a:cs typeface="Calibri"/>
              </a:rPr>
              <a:t>WDATA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DW 5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Dup(522h)</a:t>
            </a:r>
            <a:endParaRPr sz="705" dirty="0">
              <a:latin typeface="Calibri"/>
              <a:cs typeface="Calibri"/>
            </a:endParaRPr>
          </a:p>
          <a:p>
            <a:pPr marL="8139">
              <a:spcBef>
                <a:spcPts val="644"/>
              </a:spcBef>
            </a:pPr>
            <a:r>
              <a:rPr sz="705" spc="-38" dirty="0">
                <a:latin typeface="Cambria"/>
                <a:cs typeface="Cambria"/>
              </a:rPr>
              <a:t>(or)</a:t>
            </a:r>
            <a:r>
              <a:rPr sz="705" spc="6" dirty="0">
                <a:latin typeface="Cambria"/>
                <a:cs typeface="Cambria"/>
              </a:rPr>
              <a:t> </a:t>
            </a:r>
            <a:r>
              <a:rPr sz="705" spc="-6" dirty="0">
                <a:latin typeface="Cambria"/>
                <a:cs typeface="Cambria"/>
              </a:rPr>
              <a:t>Dup(?)</a:t>
            </a:r>
            <a:endParaRPr sz="705" dirty="0">
              <a:latin typeface="Cambria"/>
              <a:cs typeface="Cambria"/>
            </a:endParaRPr>
          </a:p>
          <a:p>
            <a:pPr marL="126161" indent="-116394">
              <a:spcBef>
                <a:spcPts val="631"/>
              </a:spcBef>
              <a:buAutoNum type="arabicPeriod" startAt="4"/>
              <a:tabLst>
                <a:tab pos="126161" algn="l"/>
              </a:tabLst>
            </a:pPr>
            <a:r>
              <a:rPr sz="705" dirty="0">
                <a:latin typeface="Calibri"/>
                <a:cs typeface="Calibri"/>
              </a:rPr>
              <a:t>OD: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Define Double:</a:t>
            </a:r>
            <a:endParaRPr sz="705" dirty="0">
              <a:latin typeface="Calibri"/>
              <a:cs typeface="Calibri"/>
            </a:endParaRPr>
          </a:p>
          <a:p>
            <a:pPr marL="11395">
              <a:spcBef>
                <a:spcPts val="692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DD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define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double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word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(4bytes)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variable.</a:t>
            </a:r>
            <a:endParaRPr sz="705" dirty="0">
              <a:latin typeface="Calibri"/>
              <a:cs typeface="Calibri"/>
            </a:endParaRPr>
          </a:p>
          <a:p>
            <a:pPr marL="12209" marR="2592408" indent="289356">
              <a:lnSpc>
                <a:spcPts val="1525"/>
              </a:lnSpc>
              <a:spcBef>
                <a:spcPts val="115"/>
              </a:spcBef>
            </a:pPr>
            <a:r>
              <a:rPr sz="705" dirty="0">
                <a:latin typeface="Calibri"/>
                <a:cs typeface="Calibri"/>
              </a:rPr>
              <a:t>Syntax:</a:t>
            </a:r>
            <a:r>
              <a:rPr sz="705" spc="9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variablename</a:t>
            </a:r>
            <a:r>
              <a:rPr sz="705" spc="18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DD </a:t>
            </a:r>
            <a:r>
              <a:rPr sz="705" spc="-6" dirty="0">
                <a:latin typeface="Calibri"/>
                <a:cs typeface="Calibri"/>
              </a:rPr>
              <a:t>12345678H Ex: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Data1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12345678H</a:t>
            </a:r>
            <a:endParaRPr sz="705" dirty="0">
              <a:latin typeface="Calibri"/>
              <a:cs typeface="Calibri"/>
            </a:endParaRPr>
          </a:p>
          <a:p>
            <a:pPr marL="126975" indent="-115580">
              <a:spcBef>
                <a:spcPts val="465"/>
              </a:spcBef>
              <a:buAutoNum type="arabicPeriod" startAt="5"/>
              <a:tabLst>
                <a:tab pos="126975" algn="l"/>
              </a:tabLst>
            </a:pPr>
            <a:r>
              <a:rPr sz="705" dirty="0">
                <a:latin typeface="Calibri"/>
                <a:cs typeface="Calibri"/>
              </a:rPr>
              <a:t>DQ: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Define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Quad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Word</a:t>
            </a:r>
            <a:endParaRPr sz="705" dirty="0">
              <a:latin typeface="Calibri"/>
              <a:cs typeface="Calibri"/>
            </a:endParaRPr>
          </a:p>
          <a:p>
            <a:pPr marL="128196" marR="123719" indent="-117208">
              <a:lnSpc>
                <a:spcPct val="101800"/>
              </a:lnSpc>
              <a:spcBef>
                <a:spcPts val="615"/>
              </a:spcBef>
            </a:pPr>
            <a:r>
              <a:rPr sz="705" dirty="0">
                <a:latin typeface="Calibri"/>
                <a:cs typeface="Calibri"/>
              </a:rPr>
              <a:t>This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assembler</a:t>
            </a:r>
            <a:r>
              <a:rPr sz="705" spc="54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reserve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4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words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(8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bytes)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memory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for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specified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variable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and </a:t>
            </a:r>
            <a:r>
              <a:rPr sz="705" spc="-6" dirty="0">
                <a:latin typeface="Calibri"/>
                <a:cs typeface="Calibri"/>
              </a:rPr>
              <a:t>may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initialize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it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specified </a:t>
            </a:r>
            <a:r>
              <a:rPr sz="705" spc="-6" dirty="0">
                <a:latin typeface="Calibri"/>
                <a:cs typeface="Calibri"/>
              </a:rPr>
              <a:t>values.</a:t>
            </a:r>
            <a:endParaRPr sz="705" dirty="0">
              <a:latin typeface="Calibri"/>
              <a:cs typeface="Calibri"/>
            </a:endParaRPr>
          </a:p>
          <a:p>
            <a:pPr marL="303194" marR="2344156" indent="-1628">
              <a:lnSpc>
                <a:spcPct val="174600"/>
              </a:lnSpc>
              <a:spcBef>
                <a:spcPts val="45"/>
              </a:spcBef>
              <a:tabLst>
                <a:tab pos="891268" algn="l"/>
              </a:tabLst>
            </a:pPr>
            <a:r>
              <a:rPr sz="705" dirty="0">
                <a:latin typeface="Calibri"/>
                <a:cs typeface="Calibri"/>
              </a:rPr>
              <a:t>Syntax: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variable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DQ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initialize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values. </a:t>
            </a:r>
            <a:r>
              <a:rPr sz="705" dirty="0">
                <a:latin typeface="Calibri"/>
                <a:cs typeface="Calibri"/>
              </a:rPr>
              <a:t>Ex.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Data1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DQ</a:t>
            </a:r>
            <a:r>
              <a:rPr sz="705" dirty="0">
                <a:latin typeface="Calibri"/>
                <a:cs typeface="Calibri"/>
              </a:rPr>
              <a:t>	</a:t>
            </a:r>
            <a:r>
              <a:rPr sz="705" spc="-6" dirty="0">
                <a:latin typeface="Calibri"/>
                <a:cs typeface="Calibri"/>
              </a:rPr>
              <a:t>123456789ABCDEF2H</a:t>
            </a:r>
            <a:endParaRPr sz="705" dirty="0">
              <a:latin typeface="Calibri"/>
              <a:cs typeface="Calibri"/>
            </a:endParaRPr>
          </a:p>
          <a:p>
            <a:pPr marL="122905" indent="-111917">
              <a:spcBef>
                <a:spcPts val="663"/>
              </a:spcBef>
              <a:buAutoNum type="arabicPeriod" startAt="6"/>
              <a:tabLst>
                <a:tab pos="122905" algn="l"/>
              </a:tabLst>
            </a:pPr>
            <a:r>
              <a:rPr sz="705" dirty="0">
                <a:latin typeface="Calibri"/>
                <a:cs typeface="Calibri"/>
              </a:rPr>
              <a:t>DT: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Define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Ten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Bytes</a:t>
            </a:r>
            <a:endParaRPr sz="705" dirty="0">
              <a:latin typeface="Calibri"/>
              <a:cs typeface="Calibri"/>
            </a:endParaRPr>
          </a:p>
          <a:p>
            <a:pPr marL="129824" marR="63895" indent="-118429">
              <a:lnSpc>
                <a:spcPct val="105500"/>
              </a:lnSpc>
              <a:spcBef>
                <a:spcPts val="583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DT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directs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29" dirty="0">
                <a:latin typeface="Calibri"/>
                <a:cs typeface="Calibri"/>
              </a:rPr>
              <a:t>assemb1er</a:t>
            </a:r>
            <a:r>
              <a:rPr sz="705" spc="54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define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specified variable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requiring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10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bytes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for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its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storage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initialize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10-</a:t>
            </a:r>
            <a:r>
              <a:rPr sz="705" dirty="0">
                <a:latin typeface="Calibri"/>
                <a:cs typeface="Calibri"/>
              </a:rPr>
              <a:t>bytes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specified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values.</a:t>
            </a:r>
            <a:endParaRPr sz="705" dirty="0">
              <a:latin typeface="Calibri"/>
              <a:cs typeface="Calibri"/>
            </a:endParaRPr>
          </a:p>
          <a:p>
            <a:pPr marL="303194" marR="2361655" indent="-1628">
              <a:lnSpc>
                <a:spcPct val="172700"/>
              </a:lnSpc>
              <a:spcBef>
                <a:spcPts val="32"/>
              </a:spcBef>
              <a:tabLst>
                <a:tab pos="891268" algn="l"/>
              </a:tabLst>
            </a:pPr>
            <a:r>
              <a:rPr sz="705" dirty="0">
                <a:latin typeface="Calibri"/>
                <a:cs typeface="Calibri"/>
              </a:rPr>
              <a:t>Syntax: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variable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DT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initialize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values. </a:t>
            </a:r>
            <a:r>
              <a:rPr sz="705" dirty="0">
                <a:latin typeface="Calibri"/>
                <a:cs typeface="Calibri"/>
              </a:rPr>
              <a:t>Ex: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Data1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DT</a:t>
            </a:r>
            <a:r>
              <a:rPr sz="705" dirty="0">
                <a:latin typeface="Calibri"/>
                <a:cs typeface="Calibri"/>
              </a:rPr>
              <a:t>	</a:t>
            </a:r>
            <a:r>
              <a:rPr sz="705" spc="-6" dirty="0">
                <a:latin typeface="Calibri"/>
                <a:cs typeface="Calibri"/>
              </a:rPr>
              <a:t>123456789ABCDEF34567H</a:t>
            </a:r>
            <a:endParaRPr sz="705" dirty="0">
              <a:latin typeface="Calibri"/>
              <a:cs typeface="Calibri"/>
            </a:endParaRPr>
          </a:p>
          <a:p>
            <a:pPr marL="126975" indent="-115580">
              <a:spcBef>
                <a:spcPts val="676"/>
              </a:spcBef>
              <a:buAutoNum type="arabicPeriod" startAt="7"/>
              <a:tabLst>
                <a:tab pos="126975" algn="l"/>
              </a:tabLst>
            </a:pPr>
            <a:r>
              <a:rPr sz="705" dirty="0">
                <a:latin typeface="Calibri"/>
                <a:cs typeface="Calibri"/>
              </a:rPr>
              <a:t>END: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</a:t>
            </a:r>
            <a:endParaRPr sz="705" dirty="0">
              <a:latin typeface="Calibri"/>
              <a:cs typeface="Calibri"/>
            </a:endParaRPr>
          </a:p>
          <a:p>
            <a:pPr marL="11395">
              <a:spcBef>
                <a:spcPts val="631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marks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</a:t>
            </a:r>
            <a:r>
              <a:rPr sz="705" spc="-6" dirty="0">
                <a:latin typeface="Calibri"/>
                <a:cs typeface="Calibri"/>
              </a:rPr>
              <a:t> ALP.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statement</a:t>
            </a:r>
            <a:r>
              <a:rPr sz="705" spc="314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ner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ENO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will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ignored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assembler.</a:t>
            </a:r>
            <a:endParaRPr sz="705" dirty="0">
              <a:latin typeface="Calibri"/>
              <a:cs typeface="Calibri"/>
            </a:endParaRPr>
          </a:p>
          <a:p>
            <a:pPr marL="122905" indent="-110289">
              <a:spcBef>
                <a:spcPts val="756"/>
              </a:spcBef>
              <a:buAutoNum type="arabicPeriod" startAt="8"/>
              <a:tabLst>
                <a:tab pos="122905" algn="l"/>
              </a:tabLst>
            </a:pPr>
            <a:r>
              <a:rPr sz="609" spc="61" dirty="0">
                <a:latin typeface="Calibri"/>
                <a:cs typeface="Calibri"/>
              </a:rPr>
              <a:t>ENDP:</a:t>
            </a:r>
            <a:r>
              <a:rPr sz="609" spc="38" dirty="0">
                <a:latin typeface="Calibri"/>
                <a:cs typeface="Calibri"/>
              </a:rPr>
              <a:t> </a:t>
            </a:r>
            <a:r>
              <a:rPr sz="609" dirty="0">
                <a:latin typeface="Calibri"/>
                <a:cs typeface="Calibri"/>
              </a:rPr>
              <a:t>End</a:t>
            </a:r>
            <a:r>
              <a:rPr sz="609" spc="103" dirty="0">
                <a:latin typeface="Calibri"/>
                <a:cs typeface="Calibri"/>
              </a:rPr>
              <a:t> </a:t>
            </a:r>
            <a:r>
              <a:rPr sz="609" dirty="0">
                <a:latin typeface="Calibri"/>
                <a:cs typeface="Calibri"/>
              </a:rPr>
              <a:t>of</a:t>
            </a:r>
            <a:r>
              <a:rPr sz="609" spc="122" dirty="0">
                <a:latin typeface="Calibri"/>
                <a:cs typeface="Calibri"/>
              </a:rPr>
              <a:t> </a:t>
            </a:r>
            <a:r>
              <a:rPr sz="609" spc="29" dirty="0">
                <a:latin typeface="Calibri"/>
                <a:cs typeface="Calibri"/>
              </a:rPr>
              <a:t>Procedure</a:t>
            </a:r>
            <a:endParaRPr sz="609" dirty="0">
              <a:latin typeface="Calibri"/>
              <a:cs typeface="Calibri"/>
            </a:endParaRPr>
          </a:p>
          <a:p>
            <a:pPr marL="128196" marR="266566" indent="-117208">
              <a:lnSpc>
                <a:spcPct val="101800"/>
              </a:lnSpc>
              <a:spcBef>
                <a:spcPts val="651"/>
              </a:spcBef>
            </a:pPr>
            <a:r>
              <a:rPr sz="705" dirty="0">
                <a:latin typeface="Calibri"/>
                <a:cs typeface="Calibri"/>
              </a:rPr>
              <a:t>The ENDP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 to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indicate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proEedure.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programming</a:t>
            </a:r>
            <a:r>
              <a:rPr sz="705" spc="5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subroutines</a:t>
            </a:r>
            <a:r>
              <a:rPr sz="705" spc="51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arB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EBIIBd procedures.</a:t>
            </a:r>
            <a:endParaRPr sz="705" dirty="0">
              <a:latin typeface="Calibri"/>
              <a:cs typeface="Calibri"/>
            </a:endParaRPr>
          </a:p>
          <a:p>
            <a:pPr marL="12209">
              <a:spcBef>
                <a:spcPts val="631"/>
              </a:spcBef>
            </a:pPr>
            <a:r>
              <a:rPr sz="705" spc="-6" dirty="0">
                <a:latin typeface="Calibri"/>
                <a:cs typeface="Calibri"/>
              </a:rPr>
              <a:t>Ex: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Procedure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Start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6126" y="6263883"/>
            <a:ext cx="412294" cy="116711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705" spc="-6" dirty="0">
                <a:latin typeface="Calibri"/>
                <a:cs typeface="Calibri"/>
              </a:rPr>
              <a:t>Start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ENDP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128AF-6645-5C76-5343-F3B6811A8D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</p:spPr>
        <p:txBody>
          <a:bodyPr/>
          <a:lstStyle/>
          <a:p>
            <a:pPr marL="57790">
              <a:lnSpc>
                <a:spcPts val="756"/>
              </a:lnSpc>
            </a:pPr>
            <a:r>
              <a:rPr lang="en-IN" dirty="0"/>
              <a:t>Page</a:t>
            </a:r>
            <a:r>
              <a:rPr lang="en-IN" spc="-16" dirty="0"/>
              <a:t> </a:t>
            </a:r>
            <a:fld id="{81D60167-4931-47E6-BA6A-407CBD079E47}" type="slidenum">
              <a:rPr spc="-32"/>
              <a:pPr marL="57790">
                <a:lnSpc>
                  <a:spcPts val="756"/>
                </a:lnSpc>
              </a:pPr>
              <a:t>117</a:t>
            </a:fld>
            <a:endParaRPr spc="-32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0660" y="234456"/>
            <a:ext cx="0" cy="6201504"/>
          </a:xfrm>
          <a:custGeom>
            <a:avLst/>
            <a:gdLst/>
            <a:ahLst/>
            <a:cxnLst/>
            <a:rect l="l" t="t" r="r" b="b"/>
            <a:pathLst>
              <a:path h="9675495">
                <a:moveTo>
                  <a:pt x="0" y="9675271"/>
                </a:moveTo>
                <a:lnTo>
                  <a:pt x="0" y="0"/>
                </a:lnTo>
              </a:path>
            </a:pathLst>
          </a:custGeom>
          <a:ln w="9144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337729" y="234456"/>
            <a:ext cx="4448949" cy="6201504"/>
            <a:chOff x="298724" y="365794"/>
            <a:chExt cx="6941184" cy="9675495"/>
          </a:xfrm>
        </p:grpSpPr>
        <p:sp>
          <p:nvSpPr>
            <p:cNvPr id="4" name="object 4"/>
            <p:cNvSpPr/>
            <p:nvPr/>
          </p:nvSpPr>
          <p:spPr>
            <a:xfrm>
              <a:off x="7234914" y="365794"/>
              <a:ext cx="0" cy="9675495"/>
            </a:xfrm>
            <a:custGeom>
              <a:avLst/>
              <a:gdLst/>
              <a:ahLst/>
              <a:cxnLst/>
              <a:rect l="l" t="t" r="r" b="b"/>
              <a:pathLst>
                <a:path h="9675495">
                  <a:moveTo>
                    <a:pt x="0" y="9675271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8724" y="370366"/>
              <a:ext cx="6941184" cy="0"/>
            </a:xfrm>
            <a:custGeom>
              <a:avLst/>
              <a:gdLst/>
              <a:ahLst/>
              <a:cxnLst/>
              <a:rect l="l" t="t" r="r" b="b"/>
              <a:pathLst>
                <a:path w="6941184">
                  <a:moveTo>
                    <a:pt x="0" y="0"/>
                  </a:moveTo>
                  <a:lnTo>
                    <a:pt x="694076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17604" y="10036493"/>
              <a:ext cx="6822440" cy="0"/>
            </a:xfrm>
            <a:custGeom>
              <a:avLst/>
              <a:gdLst/>
              <a:ahLst/>
              <a:cxnLst/>
              <a:rect l="l" t="t" r="r" b="b"/>
              <a:pathLst>
                <a:path w="6822440">
                  <a:moveTo>
                    <a:pt x="0" y="0"/>
                  </a:moveTo>
                  <a:lnTo>
                    <a:pt x="6821881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5931" y="6644873"/>
            <a:ext cx="1361760" cy="957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24666" y="318470"/>
            <a:ext cx="2125776" cy="477194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953">
              <a:spcBef>
                <a:spcPts val="64"/>
              </a:spcBef>
            </a:pPr>
            <a:r>
              <a:rPr sz="705" dirty="0">
                <a:latin typeface="Calibri"/>
                <a:cs typeface="Calibri"/>
              </a:rPr>
              <a:t>9.</a:t>
            </a:r>
            <a:r>
              <a:rPr sz="705" spc="157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ENDS: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 of </a:t>
            </a:r>
            <a:r>
              <a:rPr sz="705" spc="-6" dirty="0">
                <a:latin typeface="Calibri"/>
                <a:cs typeface="Calibri"/>
              </a:rPr>
              <a:t>segment</a:t>
            </a:r>
            <a:endParaRPr sz="705" dirty="0">
              <a:latin typeface="Calibri"/>
              <a:cs typeface="Calibri"/>
            </a:endParaRPr>
          </a:p>
          <a:p>
            <a:pPr marL="8953" marR="3256" indent="-1221">
              <a:lnSpc>
                <a:spcPts val="1525"/>
              </a:lnSpc>
              <a:spcBef>
                <a:spcPts val="13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ENDS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indicate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segment. Ex: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1621" y="1080453"/>
            <a:ext cx="2746456" cy="872302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27382">
              <a:spcBef>
                <a:spcPts val="64"/>
              </a:spcBef>
            </a:pPr>
            <a:r>
              <a:rPr sz="705" dirty="0">
                <a:latin typeface="Calibri"/>
                <a:cs typeface="Calibri"/>
              </a:rPr>
              <a:t>DATA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ENDS</a:t>
            </a:r>
            <a:endParaRPr sz="705" dirty="0">
              <a:latin typeface="Calibri"/>
              <a:cs typeface="Calibri"/>
            </a:endParaRPr>
          </a:p>
          <a:p>
            <a:pPr marL="8139">
              <a:spcBef>
                <a:spcPts val="631"/>
              </a:spcBef>
            </a:pPr>
            <a:r>
              <a:rPr sz="705" dirty="0">
                <a:latin typeface="Calibri"/>
                <a:cs typeface="Calibri"/>
              </a:rPr>
              <a:t>10.EVEN: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Align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on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Even</a:t>
            </a:r>
            <a:r>
              <a:rPr sz="705" spc="-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memory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address</a:t>
            </a:r>
            <a:endParaRPr sz="705" dirty="0">
              <a:latin typeface="Calibri"/>
              <a:cs typeface="Calibri"/>
            </a:endParaRPr>
          </a:p>
          <a:p>
            <a:pPr marL="11802" marR="3256" indent="-1221">
              <a:lnSpc>
                <a:spcPts val="1506"/>
              </a:lnSpc>
              <a:spcBef>
                <a:spcPts val="128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EVEN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directives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updates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location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counter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next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even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address. Ex: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EV£N</a:t>
            </a:r>
            <a:endParaRPr sz="705" dirty="0">
              <a:latin typeface="Calibri"/>
              <a:cs typeface="Calibri"/>
            </a:endParaRPr>
          </a:p>
          <a:p>
            <a:pPr marL="127382">
              <a:spcBef>
                <a:spcPts val="474"/>
              </a:spcBef>
            </a:pPr>
            <a:r>
              <a:rPr sz="705" spc="-6" dirty="0">
                <a:latin typeface="Calibri"/>
                <a:cs typeface="Calibri"/>
              </a:rPr>
              <a:t>Procedure</a:t>
            </a:r>
            <a:r>
              <a:rPr sz="705" dirty="0">
                <a:latin typeface="Calibri"/>
                <a:cs typeface="Calibri"/>
              </a:rPr>
              <a:t> </a:t>
            </a:r>
            <a:r>
              <a:rPr sz="705" spc="22" dirty="0">
                <a:latin typeface="Calibri"/>
                <a:cs typeface="Calibri"/>
              </a:rPr>
              <a:t>Stan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1621" y="2213656"/>
            <a:ext cx="4326035" cy="4197187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27789">
              <a:spcBef>
                <a:spcPts val="64"/>
              </a:spcBef>
            </a:pPr>
            <a:r>
              <a:rPr sz="705" spc="-6" dirty="0">
                <a:latin typeface="Calibri"/>
                <a:cs typeface="Calibri"/>
              </a:rPr>
              <a:t>Start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ENDP</a:t>
            </a:r>
            <a:endParaRPr sz="705" dirty="0">
              <a:latin typeface="Calibri"/>
              <a:cs typeface="Calibri"/>
            </a:endParaRPr>
          </a:p>
          <a:p>
            <a:pPr marL="167672">
              <a:spcBef>
                <a:spcPts val="708"/>
              </a:spcBef>
              <a:tabLst>
                <a:tab pos="304008" algn="l"/>
              </a:tabLst>
            </a:pPr>
            <a:r>
              <a:rPr sz="705" spc="-32" dirty="0">
                <a:latin typeface="Calibri"/>
                <a:cs typeface="Calibri"/>
              </a:rPr>
              <a:t>4</a:t>
            </a:r>
            <a:r>
              <a:rPr sz="705" dirty="0">
                <a:latin typeface="Calibri"/>
                <a:cs typeface="Calibri"/>
              </a:rPr>
              <a:t>	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above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structure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shows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sz="705" spc="-16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procedure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START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be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aligned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at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even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address,</a:t>
            </a:r>
            <a:endParaRPr sz="705" dirty="0">
              <a:latin typeface="Calibri"/>
              <a:cs typeface="Calibri"/>
            </a:endParaRPr>
          </a:p>
          <a:p>
            <a:pPr marL="123312" indent="-122091">
              <a:spcBef>
                <a:spcPts val="628"/>
              </a:spcBef>
              <a:buSzPct val="90909"/>
              <a:buAutoNum type="arabicPeriod" startAt="11"/>
              <a:tabLst>
                <a:tab pos="123312" algn="l"/>
              </a:tabLst>
            </a:pPr>
            <a:r>
              <a:rPr sz="705" dirty="0">
                <a:latin typeface="Calibri"/>
                <a:cs typeface="Calibri"/>
              </a:rPr>
              <a:t>EQU: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Equate</a:t>
            </a:r>
            <a:endParaRPr sz="705" dirty="0">
              <a:latin typeface="Calibri"/>
              <a:cs typeface="Calibri"/>
            </a:endParaRPr>
          </a:p>
          <a:p>
            <a:pPr marL="11802" marR="1931487" indent="-1221">
              <a:lnSpc>
                <a:spcPct val="174600"/>
              </a:lnSpc>
              <a:spcBef>
                <a:spcPts val="32"/>
              </a:spcBef>
            </a:pPr>
            <a:r>
              <a:rPr sz="705" dirty="0">
                <a:latin typeface="Calibri"/>
                <a:cs typeface="Calibri"/>
              </a:rPr>
              <a:t>The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EQU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assign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value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or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symbol. Ex: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EQU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OSOOH</a:t>
            </a:r>
            <a:endParaRPr sz="705" dirty="0">
              <a:latin typeface="Calibri"/>
              <a:cs typeface="Calibri"/>
            </a:endParaRPr>
          </a:p>
          <a:p>
            <a:pPr marL="129417">
              <a:spcBef>
                <a:spcPts val="660"/>
              </a:spcBef>
            </a:pPr>
            <a:r>
              <a:rPr sz="705" spc="-6" dirty="0">
                <a:latin typeface="Calibri"/>
                <a:cs typeface="Calibri"/>
              </a:rPr>
              <a:t>ADDITION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EQU</a:t>
            </a:r>
            <a:r>
              <a:rPr sz="705" spc="-16" dirty="0">
                <a:latin typeface="Calibri"/>
                <a:cs typeface="Calibri"/>
              </a:rPr>
              <a:t> ADD</a:t>
            </a:r>
            <a:endParaRPr sz="705" dirty="0">
              <a:latin typeface="Calibri"/>
              <a:cs typeface="Calibri"/>
            </a:endParaRPr>
          </a:p>
          <a:p>
            <a:pPr marL="122498" indent="-122091">
              <a:spcBef>
                <a:spcPts val="631"/>
              </a:spcBef>
              <a:buSzPct val="90909"/>
              <a:buAutoNum type="arabicPeriod" startAt="12"/>
              <a:tabLst>
                <a:tab pos="122498" algn="l"/>
              </a:tabLst>
            </a:pPr>
            <a:r>
              <a:rPr sz="705" dirty="0">
                <a:latin typeface="Calibri"/>
                <a:cs typeface="Calibri"/>
              </a:rPr>
              <a:t>EXTRN: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External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public</a:t>
            </a:r>
            <a:endParaRPr sz="705" dirty="0">
              <a:latin typeface="Calibri"/>
              <a:cs typeface="Calibri"/>
            </a:endParaRPr>
          </a:p>
          <a:p>
            <a:pPr marL="128196" marR="3256" indent="-109475">
              <a:spcBef>
                <a:spcPts val="663"/>
              </a:spcBef>
            </a:pPr>
            <a:r>
              <a:rPr sz="705" dirty="0">
                <a:latin typeface="Calibri"/>
                <a:cs typeface="Calibri"/>
              </a:rPr>
              <a:t>&amp;</a:t>
            </a:r>
            <a:r>
              <a:rPr sz="705" spc="16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The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EXTRN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informs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assembler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names,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procedures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labels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declared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after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this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have </a:t>
            </a:r>
            <a:r>
              <a:rPr sz="705" spc="-6" dirty="0">
                <a:latin typeface="Calibri"/>
                <a:cs typeface="Calibri"/>
              </a:rPr>
              <a:t>been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already</a:t>
            </a:r>
            <a:r>
              <a:rPr sz="705" spc="-6" dirty="0">
                <a:latin typeface="Calibri"/>
                <a:cs typeface="Calibri"/>
              </a:rPr>
              <a:t> defined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some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other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AL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modules.</a:t>
            </a:r>
            <a:endParaRPr sz="705" dirty="0">
              <a:latin typeface="Calibri"/>
              <a:cs typeface="Calibri"/>
            </a:endParaRPr>
          </a:p>
          <a:p>
            <a:pPr marL="129417" marR="120871" indent="-114766">
              <a:lnSpc>
                <a:spcPct val="103600"/>
              </a:lnSpc>
              <a:spcBef>
                <a:spcPts val="599"/>
              </a:spcBef>
            </a:pPr>
            <a:r>
              <a:rPr sz="705" dirty="0">
                <a:latin typeface="Calibri"/>
                <a:cs typeface="Calibri"/>
              </a:rPr>
              <a:t>&amp;</a:t>
            </a:r>
            <a:r>
              <a:rPr sz="705" spc="17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While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other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module,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where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names,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procedures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labels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actually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appear,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they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must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deElared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publiE using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PUBLIC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directive.</a:t>
            </a:r>
            <a:endParaRPr sz="705" dirty="0">
              <a:latin typeface="Calibri"/>
              <a:cs typeface="Calibri"/>
            </a:endParaRPr>
          </a:p>
          <a:p>
            <a:pPr marL="11802" marR="3411235" indent="3256">
              <a:lnSpc>
                <a:spcPts val="1474"/>
              </a:lnSpc>
              <a:spcBef>
                <a:spcPts val="186"/>
              </a:spcBef>
            </a:pPr>
            <a:r>
              <a:rPr sz="705" i="1" dirty="0">
                <a:latin typeface="Calibri"/>
                <a:cs typeface="Calibri"/>
              </a:rPr>
              <a:t>Ex:</a:t>
            </a:r>
            <a:r>
              <a:rPr sz="705" i="1" spc="9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MODULE1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 </a:t>
            </a:r>
            <a:r>
              <a:rPr sz="609" b="1" spc="32" dirty="0">
                <a:latin typeface="Calibri"/>
                <a:cs typeface="Calibri"/>
              </a:rPr>
              <a:t>PUBLIC</a:t>
            </a:r>
            <a:r>
              <a:rPr sz="609" b="1" spc="29" dirty="0">
                <a:latin typeface="Calibri"/>
                <a:cs typeface="Calibri"/>
              </a:rPr>
              <a:t> </a:t>
            </a:r>
            <a:r>
              <a:rPr sz="609" b="1" spc="35" dirty="0">
                <a:latin typeface="Calibri"/>
                <a:cs typeface="Calibri"/>
              </a:rPr>
              <a:t>FACT</a:t>
            </a:r>
            <a:r>
              <a:rPr sz="609" b="1" spc="45" dirty="0">
                <a:latin typeface="Calibri"/>
                <a:cs typeface="Calibri"/>
              </a:rPr>
              <a:t> </a:t>
            </a:r>
            <a:r>
              <a:rPr sz="609" b="1" spc="-16" dirty="0">
                <a:latin typeface="Calibri"/>
                <a:cs typeface="Calibri"/>
              </a:rPr>
              <a:t>FAR</a:t>
            </a:r>
            <a:r>
              <a:rPr sz="609" b="1" spc="-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MODULE1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ENDS</a:t>
            </a:r>
            <a:endParaRPr sz="705" dirty="0">
              <a:latin typeface="Calibri"/>
              <a:cs typeface="Calibri"/>
            </a:endParaRPr>
          </a:p>
          <a:p>
            <a:pPr marL="11802" marR="3555710">
              <a:lnSpc>
                <a:spcPts val="1474"/>
              </a:lnSpc>
              <a:spcBef>
                <a:spcPts val="70"/>
              </a:spcBef>
            </a:pPr>
            <a:r>
              <a:rPr sz="705" spc="-6" dirty="0">
                <a:latin typeface="Calibri"/>
                <a:cs typeface="Calibri"/>
              </a:rPr>
              <a:t>MODULE2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 </a:t>
            </a:r>
            <a:r>
              <a:rPr sz="705" dirty="0">
                <a:latin typeface="Calibri"/>
                <a:cs typeface="Calibri"/>
              </a:rPr>
              <a:t>EXTRN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FACT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FAR</a:t>
            </a:r>
            <a:endParaRPr sz="705" dirty="0">
              <a:latin typeface="Calibri"/>
              <a:cs typeface="Calibri"/>
            </a:endParaRPr>
          </a:p>
          <a:p>
            <a:pPr marL="11802">
              <a:spcBef>
                <a:spcPts val="525"/>
              </a:spcBef>
            </a:pPr>
            <a:r>
              <a:rPr sz="705" spc="-6" dirty="0">
                <a:latin typeface="Calibri"/>
                <a:cs typeface="Calibri"/>
              </a:rPr>
              <a:t>MODULE2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END</a:t>
            </a:r>
            <a:endParaRPr sz="705" dirty="0">
              <a:latin typeface="Calibri"/>
              <a:cs typeface="Calibri"/>
            </a:endParaRPr>
          </a:p>
          <a:p>
            <a:pPr marL="122091" indent="-118022">
              <a:spcBef>
                <a:spcPts val="631"/>
              </a:spcBef>
              <a:buSzPct val="86363"/>
              <a:buAutoNum type="arabicPeriod" startAt="13"/>
              <a:tabLst>
                <a:tab pos="122091" algn="l"/>
              </a:tabLst>
            </a:pPr>
            <a:r>
              <a:rPr sz="705" b="1" dirty="0">
                <a:latin typeface="Calibri"/>
                <a:cs typeface="Calibri"/>
              </a:rPr>
              <a:t>GROUP:</a:t>
            </a:r>
            <a:r>
              <a:rPr sz="705" b="1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Group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related </a:t>
            </a:r>
            <a:r>
              <a:rPr sz="705" spc="-6" dirty="0">
                <a:latin typeface="Calibri"/>
                <a:cs typeface="Calibri"/>
              </a:rPr>
              <a:t>segments</a:t>
            </a:r>
            <a:endParaRPr sz="705" dirty="0">
              <a:latin typeface="Calibri"/>
              <a:cs typeface="Calibri"/>
            </a:endParaRPr>
          </a:p>
          <a:p>
            <a:pPr marL="10988">
              <a:spcBef>
                <a:spcPts val="663"/>
              </a:spcBef>
            </a:pPr>
            <a:r>
              <a:rPr sz="705" dirty="0">
                <a:latin typeface="Calibri"/>
                <a:cs typeface="Calibri"/>
              </a:rPr>
              <a:t>This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directive 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form </a:t>
            </a:r>
            <a:r>
              <a:rPr sz="705" dirty="0">
                <a:latin typeface="Calibri"/>
                <a:cs typeface="Calibri"/>
              </a:rPr>
              <a:t>logical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groups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segments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similar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purpose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or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type.</a:t>
            </a:r>
            <a:endParaRPr sz="705" dirty="0">
              <a:latin typeface="Calibri"/>
              <a:cs typeface="Calibri"/>
            </a:endParaRPr>
          </a:p>
          <a:p>
            <a:pPr marL="10581">
              <a:spcBef>
                <a:spcPts val="628"/>
              </a:spcBef>
            </a:pPr>
            <a:r>
              <a:rPr sz="705" spc="-6" dirty="0">
                <a:latin typeface="Consolas"/>
                <a:cs typeface="Consolas"/>
              </a:rPr>
              <a:t>Ex:PROGRAVGROUPCODE,DATA,STACK</a:t>
            </a:r>
            <a:endParaRPr sz="705" dirty="0">
              <a:latin typeface="Consolas"/>
              <a:cs typeface="Consolas"/>
            </a:endParaRPr>
          </a:p>
          <a:p>
            <a:pPr marL="12616">
              <a:spcBef>
                <a:spcPts val="663"/>
              </a:spcBef>
            </a:pPr>
            <a:r>
              <a:rPr sz="705" spc="-6" dirty="0">
                <a:latin typeface="Calibri"/>
                <a:cs typeface="Calibri"/>
              </a:rPr>
              <a:t>*COOE,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STACX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segments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lie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within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64KB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memory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segment that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named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PROGRAM.</a:t>
            </a:r>
            <a:endParaRPr sz="705" dirty="0">
              <a:latin typeface="Calibri"/>
              <a:cs typeface="Calibri"/>
            </a:endParaRPr>
          </a:p>
          <a:p>
            <a:pPr marL="122498" indent="-122091">
              <a:spcBef>
                <a:spcPts val="631"/>
              </a:spcBef>
              <a:buSzPct val="90909"/>
              <a:buAutoNum type="arabicPeriod" startAt="14"/>
              <a:tabLst>
                <a:tab pos="122498" algn="l"/>
              </a:tabLst>
            </a:pPr>
            <a:r>
              <a:rPr sz="705" dirty="0">
                <a:latin typeface="Calibri"/>
                <a:cs typeface="Calibri"/>
              </a:rPr>
              <a:t>LABEL: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</a:t>
            </a:r>
            <a:endParaRPr sz="705" dirty="0">
              <a:latin typeface="Calibri"/>
              <a:cs typeface="Calibri"/>
            </a:endParaRPr>
          </a:p>
          <a:p>
            <a:pPr marL="10988">
              <a:spcBef>
                <a:spcPts val="660"/>
              </a:spcBef>
            </a:pPr>
            <a:r>
              <a:rPr sz="705" dirty="0">
                <a:latin typeface="Calibri"/>
                <a:cs typeface="Calibri"/>
              </a:rPr>
              <a:t>The label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assign</a:t>
            </a:r>
            <a:r>
              <a:rPr sz="705" dirty="0">
                <a:latin typeface="Calibri"/>
                <a:cs typeface="Calibri"/>
              </a:rPr>
              <a:t> name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current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content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location</a:t>
            </a:r>
            <a:r>
              <a:rPr sz="705" spc="-6" dirty="0">
                <a:latin typeface="Calibri"/>
                <a:cs typeface="Calibri"/>
              </a:rPr>
              <a:t> counter.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FF06B0-C505-C230-BA7D-0B469A2FDA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</p:spPr>
        <p:txBody>
          <a:bodyPr/>
          <a:lstStyle/>
          <a:p>
            <a:pPr marL="57790">
              <a:lnSpc>
                <a:spcPts val="756"/>
              </a:lnSpc>
            </a:pPr>
            <a:r>
              <a:rPr lang="en-IN" dirty="0"/>
              <a:t>Page</a:t>
            </a:r>
            <a:r>
              <a:rPr lang="en-IN" spc="-16" dirty="0"/>
              <a:t> </a:t>
            </a:r>
            <a:fld id="{81D60167-4931-47E6-BA6A-407CBD079E47}" type="slidenum">
              <a:rPr spc="-32"/>
              <a:pPr marL="57790">
                <a:lnSpc>
                  <a:spcPts val="756"/>
                </a:lnSpc>
              </a:pPr>
              <a:t>118</a:t>
            </a:fld>
            <a:endParaRPr spc="-32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0660" y="226642"/>
            <a:ext cx="0" cy="6221040"/>
          </a:xfrm>
          <a:custGeom>
            <a:avLst/>
            <a:gdLst/>
            <a:ahLst/>
            <a:cxnLst/>
            <a:rect l="l" t="t" r="r" b="b"/>
            <a:pathLst>
              <a:path h="9705975">
                <a:moveTo>
                  <a:pt x="0" y="9705754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337729" y="226642"/>
            <a:ext cx="4464416" cy="6221040"/>
            <a:chOff x="298724" y="353602"/>
            <a:chExt cx="6965315" cy="9705975"/>
          </a:xfrm>
        </p:grpSpPr>
        <p:sp>
          <p:nvSpPr>
            <p:cNvPr id="4" name="object 4"/>
            <p:cNvSpPr/>
            <p:nvPr/>
          </p:nvSpPr>
          <p:spPr>
            <a:xfrm>
              <a:off x="7259299" y="353602"/>
              <a:ext cx="0" cy="9705975"/>
            </a:xfrm>
            <a:custGeom>
              <a:avLst/>
              <a:gdLst/>
              <a:ahLst/>
              <a:cxnLst/>
              <a:rect l="l" t="t" r="r" b="b"/>
              <a:pathLst>
                <a:path h="9705975">
                  <a:moveTo>
                    <a:pt x="0" y="970575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8724" y="358174"/>
              <a:ext cx="6965315" cy="0"/>
            </a:xfrm>
            <a:custGeom>
              <a:avLst/>
              <a:gdLst/>
              <a:ahLst/>
              <a:cxnLst/>
              <a:rect l="l" t="t" r="r" b="b"/>
              <a:pathLst>
                <a:path w="6965315">
                  <a:moveTo>
                    <a:pt x="0" y="0"/>
                  </a:moveTo>
                  <a:lnTo>
                    <a:pt x="6965146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20652" y="10054782"/>
              <a:ext cx="6843395" cy="0"/>
            </a:xfrm>
            <a:custGeom>
              <a:avLst/>
              <a:gdLst/>
              <a:ahLst/>
              <a:cxnLst/>
              <a:rect l="l" t="t" r="r" b="b"/>
              <a:pathLst>
                <a:path w="6843395">
                  <a:moveTo>
                    <a:pt x="0" y="0"/>
                  </a:moveTo>
                  <a:lnTo>
                    <a:pt x="684321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5931" y="6644873"/>
            <a:ext cx="1361760" cy="957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21276" y="300723"/>
            <a:ext cx="4307312" cy="6094116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3837">
              <a:spcBef>
                <a:spcPts val="64"/>
              </a:spcBef>
            </a:pPr>
            <a:r>
              <a:rPr sz="737" spc="-13" dirty="0">
                <a:latin typeface="Calibri"/>
                <a:cs typeface="Calibri"/>
              </a:rPr>
              <a:t>Ex: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CONTINUE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LABEL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FAR</a:t>
            </a:r>
            <a:endParaRPr sz="737" dirty="0">
              <a:latin typeface="Calibri"/>
              <a:cs typeface="Calibri"/>
            </a:endParaRPr>
          </a:p>
          <a:p>
            <a:pPr marL="11395">
              <a:spcBef>
                <a:spcPts val="637"/>
              </a:spcBef>
            </a:pP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label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CONTINUE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can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be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used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for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8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FAR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jump,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if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the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program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contains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the</a:t>
            </a:r>
            <a:r>
              <a:rPr sz="737" spc="3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above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statement.</a:t>
            </a:r>
            <a:endParaRPr sz="737" dirty="0">
              <a:latin typeface="Calibri"/>
              <a:cs typeface="Calibri"/>
            </a:endParaRPr>
          </a:p>
          <a:p>
            <a:pPr marL="122498" indent="-118022">
              <a:spcBef>
                <a:spcPts val="621"/>
              </a:spcBef>
              <a:buSzPct val="82608"/>
              <a:buAutoNum type="arabicPeriod" startAt="15"/>
              <a:tabLst>
                <a:tab pos="122498" algn="l"/>
              </a:tabLst>
            </a:pPr>
            <a:r>
              <a:rPr sz="737" b="1" spc="-19" dirty="0">
                <a:latin typeface="Calibri"/>
                <a:cs typeface="Calibri"/>
              </a:rPr>
              <a:t>LENGTH:</a:t>
            </a:r>
            <a:r>
              <a:rPr sz="737" b="1" spc="-1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Byte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length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of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label</a:t>
            </a:r>
            <a:endParaRPr sz="737" dirty="0">
              <a:latin typeface="Calibri"/>
              <a:cs typeface="Calibri"/>
            </a:endParaRPr>
          </a:p>
          <a:p>
            <a:pPr marL="13837" marR="2151251" indent="-2849">
              <a:lnSpc>
                <a:spcPts val="1506"/>
              </a:lnSpc>
              <a:spcBef>
                <a:spcPts val="141"/>
              </a:spcBef>
            </a:pPr>
            <a:r>
              <a:rPr sz="737" spc="-13" dirty="0">
                <a:latin typeface="Calibri"/>
                <a:cs typeface="Calibri"/>
              </a:rPr>
              <a:t>This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is</a:t>
            </a:r>
            <a:r>
              <a:rPr sz="737" spc="-45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used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to</a:t>
            </a:r>
            <a:r>
              <a:rPr sz="737" spc="-48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refer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to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the</a:t>
            </a:r>
            <a:r>
              <a:rPr sz="737" spc="-38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length</a:t>
            </a:r>
            <a:r>
              <a:rPr sz="737" spc="3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of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data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array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or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string </a:t>
            </a: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MOV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CX,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LENGTH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ARRAY</a:t>
            </a:r>
            <a:endParaRPr sz="737" dirty="0">
              <a:latin typeface="Calibri"/>
              <a:cs typeface="Calibri"/>
            </a:endParaRPr>
          </a:p>
          <a:p>
            <a:pPr marL="122498" marR="101743" indent="-118022">
              <a:lnSpc>
                <a:spcPts val="878"/>
              </a:lnSpc>
              <a:spcBef>
                <a:spcPts val="490"/>
              </a:spcBef>
              <a:buSzPct val="82608"/>
              <a:buAutoNum type="arabicPeriod" startAt="16"/>
              <a:tabLst>
                <a:tab pos="126161" algn="l"/>
              </a:tabLst>
            </a:pPr>
            <a:r>
              <a:rPr sz="737" b="1" spc="-6" dirty="0">
                <a:latin typeface="Calibri"/>
                <a:cs typeface="Calibri"/>
              </a:rPr>
              <a:t>LOCAL:</a:t>
            </a:r>
            <a:r>
              <a:rPr sz="737" b="1" spc="58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The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labels,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variables,</a:t>
            </a:r>
            <a:r>
              <a:rPr sz="737" spc="35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constant</a:t>
            </a:r>
            <a:r>
              <a:rPr sz="737" spc="19" dirty="0">
                <a:latin typeface="Calibri"/>
                <a:cs typeface="Calibri"/>
              </a:rPr>
              <a:t> </a:t>
            </a:r>
            <a:r>
              <a:rPr sz="737" spc="-32" dirty="0">
                <a:latin typeface="Calibri"/>
                <a:cs typeface="Calibri"/>
              </a:rPr>
              <a:t>or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proEedures</a:t>
            </a:r>
            <a:r>
              <a:rPr sz="737" spc="2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are</a:t>
            </a:r>
            <a:r>
              <a:rPr sz="737" spc="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declared</a:t>
            </a:r>
            <a:r>
              <a:rPr sz="737" spc="26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LOCAL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in</a:t>
            </a:r>
            <a:r>
              <a:rPr sz="737" spc="-48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38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module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are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to </a:t>
            </a:r>
            <a:r>
              <a:rPr sz="737" spc="-6" dirty="0">
                <a:latin typeface="Calibri"/>
                <a:cs typeface="Calibri"/>
              </a:rPr>
              <a:t>be</a:t>
            </a:r>
            <a:r>
              <a:rPr sz="737" spc="-13" dirty="0">
                <a:latin typeface="Calibri"/>
                <a:cs typeface="Calibri"/>
              </a:rPr>
              <a:t> used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87" dirty="0">
                <a:latin typeface="Calibri"/>
                <a:cs typeface="Calibri"/>
              </a:rPr>
              <a:t>on1y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by</a:t>
            </a:r>
            <a:r>
              <a:rPr sz="737" spc="-45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the 	particular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module.</a:t>
            </a:r>
            <a:endParaRPr sz="737" dirty="0">
              <a:latin typeface="Calibri"/>
              <a:cs typeface="Calibri"/>
            </a:endParaRPr>
          </a:p>
          <a:p>
            <a:pPr marL="13837">
              <a:spcBef>
                <a:spcPts val="564"/>
              </a:spcBef>
            </a:pP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LOCAL</a:t>
            </a:r>
            <a:r>
              <a:rPr sz="737" spc="19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a,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b,</a:t>
            </a:r>
            <a:r>
              <a:rPr sz="737" spc="-16" dirty="0">
                <a:latin typeface="Calibri"/>
                <a:cs typeface="Calibri"/>
              </a:rPr>
              <a:t> Data1,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Array,</a:t>
            </a:r>
            <a:r>
              <a:rPr sz="737" spc="-6" dirty="0">
                <a:latin typeface="Calibri"/>
                <a:cs typeface="Calibri"/>
              </a:rPr>
              <a:t> Routine</a:t>
            </a:r>
            <a:endParaRPr sz="737" dirty="0">
              <a:latin typeface="Calibri"/>
              <a:cs typeface="Calibri"/>
            </a:endParaRPr>
          </a:p>
          <a:p>
            <a:pPr marL="122905" indent="-122091">
              <a:spcBef>
                <a:spcPts val="605"/>
              </a:spcBef>
              <a:buSzPct val="86956"/>
              <a:buAutoNum type="arabicPeriod" startAt="17"/>
              <a:tabLst>
                <a:tab pos="122905" algn="l"/>
              </a:tabLst>
            </a:pPr>
            <a:r>
              <a:rPr sz="737" spc="-6" dirty="0">
                <a:latin typeface="Calibri"/>
                <a:cs typeface="Calibri"/>
              </a:rPr>
              <a:t>NAME: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logical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name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of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</a:t>
            </a:r>
            <a:r>
              <a:rPr sz="737" spc="-67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module</a:t>
            </a:r>
            <a:endParaRPr sz="737" dirty="0">
              <a:latin typeface="Calibri"/>
              <a:cs typeface="Calibri"/>
            </a:endParaRPr>
          </a:p>
          <a:p>
            <a:pPr marL="125754" marR="8546" indent="-114766">
              <a:lnSpc>
                <a:spcPts val="846"/>
              </a:lnSpc>
              <a:spcBef>
                <a:spcPts val="686"/>
              </a:spcBef>
            </a:pP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name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directive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is</a:t>
            </a:r>
            <a:r>
              <a:rPr sz="737" spc="-45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used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to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assign</a:t>
            </a:r>
            <a:r>
              <a:rPr sz="737" spc="1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</a:t>
            </a:r>
            <a:r>
              <a:rPr sz="737" spc="-67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name</a:t>
            </a:r>
            <a:r>
              <a:rPr sz="737" spc="13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to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an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assembly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language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program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module.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module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may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now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be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refer </a:t>
            </a:r>
            <a:r>
              <a:rPr sz="737" dirty="0">
                <a:latin typeface="Calibri"/>
                <a:cs typeface="Calibri"/>
              </a:rPr>
              <a:t>to</a:t>
            </a:r>
            <a:r>
              <a:rPr sz="737" spc="-16" dirty="0">
                <a:latin typeface="Calibri"/>
                <a:cs typeface="Calibri"/>
              </a:rPr>
              <a:t> by</a:t>
            </a:r>
            <a:r>
              <a:rPr sz="737" spc="-45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its</a:t>
            </a:r>
            <a:r>
              <a:rPr sz="737" spc="-51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declared</a:t>
            </a:r>
            <a:r>
              <a:rPr sz="737" spc="2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name.</a:t>
            </a:r>
            <a:endParaRPr sz="737" dirty="0">
              <a:latin typeface="Calibri"/>
              <a:cs typeface="Calibri"/>
            </a:endParaRPr>
          </a:p>
          <a:p>
            <a:pPr marL="13837">
              <a:spcBef>
                <a:spcPts val="631"/>
              </a:spcBef>
            </a:pP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Name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“addition”</a:t>
            </a:r>
            <a:endParaRPr sz="737" dirty="0">
              <a:latin typeface="Calibri"/>
              <a:cs typeface="Calibri"/>
            </a:endParaRPr>
          </a:p>
          <a:p>
            <a:pPr marL="121684" indent="-117208">
              <a:spcBef>
                <a:spcPts val="605"/>
              </a:spcBef>
              <a:buSzPct val="82608"/>
              <a:buAutoNum type="arabicPeriod" startAt="18"/>
              <a:tabLst>
                <a:tab pos="121684" algn="l"/>
              </a:tabLst>
            </a:pPr>
            <a:r>
              <a:rPr sz="737" spc="-6" dirty="0">
                <a:latin typeface="Calibri"/>
                <a:cs typeface="Calibri"/>
              </a:rPr>
              <a:t>OFFSET: </a:t>
            </a:r>
            <a:r>
              <a:rPr sz="737" spc="-19" dirty="0">
                <a:latin typeface="Calibri"/>
                <a:cs typeface="Calibri"/>
              </a:rPr>
              <a:t>offset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of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label</a:t>
            </a:r>
            <a:endParaRPr sz="737" dirty="0">
              <a:latin typeface="Calibri"/>
              <a:cs typeface="Calibri"/>
            </a:endParaRPr>
          </a:p>
          <a:p>
            <a:pPr marL="129010" marR="19942" indent="-115987">
              <a:lnSpc>
                <a:spcPts val="846"/>
              </a:lnSpc>
              <a:spcBef>
                <a:spcPts val="699"/>
              </a:spcBef>
            </a:pPr>
            <a:r>
              <a:rPr sz="737" spc="-26" dirty="0">
                <a:latin typeface="Calibri"/>
                <a:cs typeface="Calibri"/>
              </a:rPr>
              <a:t>When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assembler</a:t>
            </a:r>
            <a:r>
              <a:rPr sz="737" spc="-22" dirty="0">
                <a:latin typeface="Calibri"/>
                <a:cs typeface="Calibri"/>
              </a:rPr>
              <a:t> comes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across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the</a:t>
            </a:r>
            <a:r>
              <a:rPr sz="737" spc="-16" dirty="0">
                <a:latin typeface="Calibri"/>
                <a:cs typeface="Calibri"/>
              </a:rPr>
              <a:t> OFFSET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operator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along </a:t>
            </a:r>
            <a:r>
              <a:rPr sz="737" spc="-22" dirty="0">
                <a:latin typeface="Calibri"/>
                <a:cs typeface="Calibri"/>
              </a:rPr>
              <a:t>with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label,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it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first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computing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the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16-</a:t>
            </a:r>
            <a:r>
              <a:rPr sz="737" dirty="0">
                <a:latin typeface="Calibri"/>
                <a:cs typeface="Calibri"/>
              </a:rPr>
              <a:t>bit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offset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address </a:t>
            </a:r>
            <a:r>
              <a:rPr sz="737" spc="-13" dirty="0">
                <a:latin typeface="Calibri"/>
                <a:cs typeface="Calibri"/>
              </a:rPr>
              <a:t>of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particular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label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and</a:t>
            </a:r>
            <a:r>
              <a:rPr sz="737" spc="-61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replace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strlng</a:t>
            </a:r>
            <a:r>
              <a:rPr sz="737" spc="29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’OFFSET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LABEL’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by</a:t>
            </a:r>
            <a:r>
              <a:rPr sz="737" spc="-61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the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computed</a:t>
            </a:r>
            <a:r>
              <a:rPr sz="737" spc="35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offset</a:t>
            </a:r>
            <a:r>
              <a:rPr sz="737" spc="-6" dirty="0">
                <a:latin typeface="Calibri"/>
                <a:cs typeface="Calibri"/>
              </a:rPr>
              <a:t> address.</a:t>
            </a:r>
            <a:endParaRPr sz="737" dirty="0">
              <a:latin typeface="Calibri"/>
              <a:cs typeface="Calibri"/>
            </a:endParaRPr>
          </a:p>
          <a:p>
            <a:pPr marL="13837">
              <a:spcBef>
                <a:spcPts val="602"/>
              </a:spcBef>
            </a:pP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MOV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SI,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oflset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list</a:t>
            </a:r>
            <a:endParaRPr sz="737" dirty="0">
              <a:latin typeface="Calibri"/>
              <a:cs typeface="Calibri"/>
            </a:endParaRPr>
          </a:p>
          <a:p>
            <a:pPr marL="123719" indent="-118022">
              <a:spcBef>
                <a:spcPts val="609"/>
              </a:spcBef>
              <a:buSzPct val="82608"/>
              <a:buAutoNum type="arabicPeriod" startAt="19"/>
              <a:tabLst>
                <a:tab pos="123719" algn="l"/>
              </a:tabLst>
            </a:pPr>
            <a:r>
              <a:rPr sz="737" b="1" spc="-6" dirty="0">
                <a:latin typeface="Calibri"/>
                <a:cs typeface="Calibri"/>
              </a:rPr>
              <a:t>ORG:</a:t>
            </a:r>
            <a:r>
              <a:rPr sz="737" b="1" spc="-3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origin</a:t>
            </a:r>
            <a:endParaRPr sz="737" dirty="0">
              <a:latin typeface="Calibri"/>
              <a:cs typeface="Calibri"/>
            </a:endParaRPr>
          </a:p>
          <a:p>
            <a:pPr marL="131451" marR="3256" indent="-120464">
              <a:lnSpc>
                <a:spcPts val="846"/>
              </a:lnSpc>
              <a:spcBef>
                <a:spcPts val="683"/>
              </a:spcBef>
            </a:pPr>
            <a:r>
              <a:rPr sz="737" spc="-26" dirty="0">
                <a:latin typeface="Calibri"/>
                <a:cs typeface="Calibri"/>
              </a:rPr>
              <a:t>The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ORG</a:t>
            </a:r>
            <a:r>
              <a:rPr sz="737" spc="-38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directive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directs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assembler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to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start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32" dirty="0">
                <a:latin typeface="Calibri"/>
                <a:cs typeface="Calibri"/>
              </a:rPr>
              <a:t>the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memory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allotment</a:t>
            </a:r>
            <a:r>
              <a:rPr sz="737" spc="32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for</a:t>
            </a:r>
            <a:r>
              <a:rPr sz="737" spc="-16" dirty="0">
                <a:latin typeface="Calibri"/>
                <a:cs typeface="Calibri"/>
              </a:rPr>
              <a:t> the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particular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segment,</a:t>
            </a:r>
            <a:r>
              <a:rPr sz="737" spc="-13" dirty="0">
                <a:latin typeface="Calibri"/>
                <a:cs typeface="Calibri"/>
              </a:rPr>
              <a:t> block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19" dirty="0">
                <a:latin typeface="Calibri"/>
                <a:cs typeface="Calibri"/>
              </a:rPr>
              <a:t>OF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32" dirty="0">
                <a:latin typeface="Calibri"/>
                <a:cs typeface="Calibri"/>
              </a:rPr>
              <a:t>Eode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from </a:t>
            </a:r>
            <a:r>
              <a:rPr sz="737" spc="-29" dirty="0">
                <a:latin typeface="Calibri"/>
                <a:cs typeface="Calibri"/>
              </a:rPr>
              <a:t>the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declared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address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in</a:t>
            </a:r>
            <a:r>
              <a:rPr sz="737" spc="-26" dirty="0">
                <a:latin typeface="Calibri"/>
                <a:cs typeface="Calibri"/>
              </a:rPr>
              <a:t> the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OhG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statement.</a:t>
            </a:r>
            <a:endParaRPr sz="737" dirty="0">
              <a:latin typeface="Calibri"/>
              <a:cs typeface="Calibri"/>
            </a:endParaRPr>
          </a:p>
          <a:p>
            <a:pPr marL="13837">
              <a:spcBef>
                <a:spcPts val="602"/>
              </a:spcBef>
            </a:pPr>
            <a:r>
              <a:rPr sz="737" spc="-13" dirty="0">
                <a:latin typeface="Calibri"/>
                <a:cs typeface="Calibri"/>
              </a:rPr>
              <a:t>Ex: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ORG</a:t>
            </a:r>
            <a:r>
              <a:rPr sz="737" spc="-61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1000H</a:t>
            </a:r>
            <a:endParaRPr sz="737" dirty="0">
              <a:latin typeface="Calibri"/>
              <a:cs typeface="Calibri"/>
            </a:endParaRPr>
          </a:p>
          <a:p>
            <a:pPr marL="124126" indent="-122091">
              <a:spcBef>
                <a:spcPts val="605"/>
              </a:spcBef>
              <a:buSzPct val="86956"/>
              <a:buAutoNum type="arabicPeriod" startAt="20"/>
              <a:tabLst>
                <a:tab pos="124126" algn="l"/>
              </a:tabLst>
            </a:pPr>
            <a:r>
              <a:rPr sz="737" spc="-13" dirty="0">
                <a:latin typeface="Calibri"/>
                <a:cs typeface="Calibri"/>
              </a:rPr>
              <a:t>PROC: </a:t>
            </a:r>
            <a:r>
              <a:rPr sz="737" spc="-6" dirty="0">
                <a:latin typeface="Calibri"/>
                <a:cs typeface="Calibri"/>
              </a:rPr>
              <a:t>Procedure</a:t>
            </a:r>
            <a:endParaRPr sz="737" dirty="0">
              <a:latin typeface="Calibri"/>
              <a:cs typeface="Calibri"/>
            </a:endParaRPr>
          </a:p>
          <a:p>
            <a:pPr marL="13837" marR="1552189" indent="-2849">
              <a:lnSpc>
                <a:spcPct val="168700"/>
              </a:lnSpc>
              <a:spcBef>
                <a:spcPts val="16"/>
              </a:spcBef>
            </a:pP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PROC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directive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marks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the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start</a:t>
            </a:r>
            <a:r>
              <a:rPr sz="737" spc="-13" dirty="0">
                <a:latin typeface="Calibri"/>
                <a:cs typeface="Calibri"/>
              </a:rPr>
              <a:t> of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named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procedure</a:t>
            </a:r>
            <a:r>
              <a:rPr sz="737" spc="35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in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statement. </a:t>
            </a:r>
            <a:r>
              <a:rPr sz="737" spc="-22" dirty="0">
                <a:latin typeface="Calibri"/>
                <a:cs typeface="Calibri"/>
              </a:rPr>
              <a:t>Ex: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RESULT </a:t>
            </a:r>
            <a:r>
              <a:rPr sz="737" spc="-13" dirty="0">
                <a:latin typeface="Calibri"/>
                <a:cs typeface="Calibri"/>
              </a:rPr>
              <a:t>PROC NEAR</a:t>
            </a:r>
            <a:endParaRPr sz="737" dirty="0">
              <a:latin typeface="Calibri"/>
              <a:cs typeface="Calibri"/>
            </a:endParaRPr>
          </a:p>
          <a:p>
            <a:pPr marL="129010">
              <a:spcBef>
                <a:spcPts val="625"/>
              </a:spcBef>
            </a:pPr>
            <a:r>
              <a:rPr sz="737" spc="-22" dirty="0">
                <a:latin typeface="Calibri"/>
                <a:cs typeface="Calibri"/>
              </a:rPr>
              <a:t>ROUTINE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PROC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FAR</a:t>
            </a:r>
            <a:endParaRPr sz="737" dirty="0">
              <a:latin typeface="Calibri"/>
              <a:cs typeface="Calibri"/>
            </a:endParaRPr>
          </a:p>
          <a:p>
            <a:pPr marL="126568" indent="-122091">
              <a:spcBef>
                <a:spcPts val="637"/>
              </a:spcBef>
              <a:buSzPct val="86956"/>
              <a:buAutoNum type="arabicPeriod" startAt="21"/>
              <a:tabLst>
                <a:tab pos="126568" algn="l"/>
              </a:tabLst>
            </a:pPr>
            <a:r>
              <a:rPr sz="737" dirty="0">
                <a:latin typeface="Calibri"/>
                <a:cs typeface="Calibri"/>
              </a:rPr>
              <a:t>PTR: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pointer</a:t>
            </a:r>
            <a:endParaRPr sz="737" dirty="0">
              <a:latin typeface="Calibri"/>
              <a:cs typeface="Calibri"/>
            </a:endParaRPr>
          </a:p>
          <a:p>
            <a:pPr marL="11395">
              <a:spcBef>
                <a:spcPts val="593"/>
              </a:spcBef>
            </a:pP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PTR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operator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is</a:t>
            </a:r>
            <a:r>
              <a:rPr sz="737" spc="-38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used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to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declare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the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type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of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label, </a:t>
            </a:r>
            <a:r>
              <a:rPr sz="737" spc="-16" dirty="0">
                <a:latin typeface="Calibri"/>
                <a:cs typeface="Calibri"/>
              </a:rPr>
              <a:t>variable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or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memory</a:t>
            </a:r>
            <a:r>
              <a:rPr sz="737" spc="10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operator.</a:t>
            </a:r>
            <a:endParaRPr sz="737" dirty="0">
              <a:latin typeface="Calibri"/>
              <a:cs typeface="Calibri"/>
            </a:endParaRPr>
          </a:p>
          <a:p>
            <a:pPr marL="129010">
              <a:spcBef>
                <a:spcPts val="637"/>
              </a:spcBef>
            </a:pP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MOV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AL,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BYTE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PTR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[5I]</a:t>
            </a:r>
            <a:endParaRPr sz="737" dirty="0">
              <a:latin typeface="Calibri"/>
              <a:cs typeface="Calibri"/>
            </a:endParaRPr>
          </a:p>
          <a:p>
            <a:pPr marL="129824">
              <a:spcBef>
                <a:spcPts val="657"/>
              </a:spcBef>
            </a:pPr>
            <a:r>
              <a:rPr sz="673" dirty="0">
                <a:latin typeface="Calibri"/>
                <a:cs typeface="Calibri"/>
              </a:rPr>
              <a:t>MOV</a:t>
            </a:r>
            <a:r>
              <a:rPr sz="673" spc="4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BX,</a:t>
            </a:r>
            <a:r>
              <a:rPr sz="673" spc="32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WORD</a:t>
            </a:r>
            <a:r>
              <a:rPr sz="673" spc="64" dirty="0">
                <a:latin typeface="Calibri"/>
                <a:cs typeface="Calibri"/>
              </a:rPr>
              <a:t> </a:t>
            </a:r>
            <a:r>
              <a:rPr sz="673" dirty="0">
                <a:latin typeface="Calibri"/>
                <a:cs typeface="Calibri"/>
              </a:rPr>
              <a:t>PTR</a:t>
            </a:r>
            <a:r>
              <a:rPr sz="673" spc="42" dirty="0">
                <a:latin typeface="Calibri"/>
                <a:cs typeface="Calibri"/>
              </a:rPr>
              <a:t> </a:t>
            </a:r>
            <a:r>
              <a:rPr sz="673" spc="-6" dirty="0">
                <a:latin typeface="Calibri"/>
                <a:cs typeface="Calibri"/>
              </a:rPr>
              <a:t>[2000H]</a:t>
            </a:r>
            <a:endParaRPr sz="673" dirty="0">
              <a:latin typeface="Calibri"/>
              <a:cs typeface="Calibri"/>
            </a:endParaRPr>
          </a:p>
          <a:p>
            <a:pPr marL="125347" indent="-122091">
              <a:spcBef>
                <a:spcPts val="651"/>
              </a:spcBef>
              <a:buSzPct val="86956"/>
              <a:buAutoNum type="arabicPeriod" startAt="22"/>
              <a:tabLst>
                <a:tab pos="125347" algn="l"/>
              </a:tabLst>
            </a:pPr>
            <a:r>
              <a:rPr sz="737" spc="-6" dirty="0">
                <a:latin typeface="Calibri"/>
                <a:cs typeface="Calibri"/>
              </a:rPr>
              <a:t>SEG:</a:t>
            </a:r>
            <a:r>
              <a:rPr sz="737" spc="-3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segment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of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13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label</a:t>
            </a:r>
            <a:endParaRPr sz="737" dirty="0">
              <a:latin typeface="Calibri"/>
              <a:cs typeface="Calibri"/>
            </a:endParaRPr>
          </a:p>
          <a:p>
            <a:pPr marL="11395">
              <a:spcBef>
                <a:spcPts val="593"/>
              </a:spcBef>
            </a:pPr>
            <a:r>
              <a:rPr sz="737" spc="-16" dirty="0">
                <a:latin typeface="Calibri"/>
                <a:cs typeface="Calibri"/>
              </a:rPr>
              <a:t>The</a:t>
            </a:r>
            <a:r>
              <a:rPr sz="737" spc="-2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SEG</a:t>
            </a:r>
            <a:r>
              <a:rPr sz="737" spc="-35" dirty="0">
                <a:latin typeface="Calibri"/>
                <a:cs typeface="Calibri"/>
              </a:rPr>
              <a:t> </a:t>
            </a:r>
            <a:r>
              <a:rPr sz="737" spc="-22" dirty="0">
                <a:latin typeface="Calibri"/>
                <a:cs typeface="Calibri"/>
              </a:rPr>
              <a:t>operator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is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used</a:t>
            </a:r>
            <a:r>
              <a:rPr sz="737" spc="-38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to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decide</a:t>
            </a:r>
            <a:r>
              <a:rPr sz="737" spc="13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segment</a:t>
            </a:r>
            <a:r>
              <a:rPr sz="737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address</a:t>
            </a:r>
            <a:r>
              <a:rPr sz="737" dirty="0">
                <a:latin typeface="Calibri"/>
                <a:cs typeface="Calibri"/>
              </a:rPr>
              <a:t> of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26" dirty="0">
                <a:latin typeface="Calibri"/>
                <a:cs typeface="Calibri"/>
              </a:rPr>
              <a:t>the</a:t>
            </a:r>
            <a:r>
              <a:rPr sz="737" spc="-1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label,</a:t>
            </a:r>
            <a:r>
              <a:rPr sz="737" spc="-19" dirty="0">
                <a:latin typeface="Calibri"/>
                <a:cs typeface="Calibri"/>
              </a:rPr>
              <a:t> variable</a:t>
            </a:r>
            <a:r>
              <a:rPr sz="737" spc="29" dirty="0">
                <a:latin typeface="Calibri"/>
                <a:cs typeface="Calibri"/>
              </a:rPr>
              <a:t> </a:t>
            </a:r>
            <a:r>
              <a:rPr sz="737" spc="-32" dirty="0">
                <a:latin typeface="Calibri"/>
                <a:cs typeface="Calibri"/>
              </a:rPr>
              <a:t>or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procedure.</a:t>
            </a:r>
            <a:endParaRPr sz="737" dirty="0">
              <a:latin typeface="Calibri"/>
              <a:cs typeface="Calibri"/>
            </a:endParaRPr>
          </a:p>
          <a:p>
            <a:pPr marL="304822" marR="3272865" indent="-176219">
              <a:lnSpc>
                <a:spcPct val="167000"/>
              </a:lnSpc>
              <a:spcBef>
                <a:spcPts val="45"/>
              </a:spcBef>
            </a:pPr>
            <a:r>
              <a:rPr sz="737" spc="-22" dirty="0">
                <a:latin typeface="Calibri"/>
                <a:cs typeface="Calibri"/>
              </a:rPr>
              <a:t>Ex </a:t>
            </a:r>
            <a:r>
              <a:rPr sz="737" dirty="0">
                <a:latin typeface="Calibri"/>
                <a:cs typeface="Calibri"/>
              </a:rPr>
              <a:t>: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29" dirty="0">
                <a:latin typeface="Calibri"/>
                <a:cs typeface="Calibri"/>
              </a:rPr>
              <a:t>MOV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AX,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SEG</a:t>
            </a:r>
            <a:r>
              <a:rPr sz="737" spc="-22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ARRAY </a:t>
            </a:r>
            <a:r>
              <a:rPr sz="737" spc="-29" dirty="0">
                <a:latin typeface="Calibri"/>
                <a:cs typeface="Calibri"/>
              </a:rPr>
              <a:t>MOV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DS,</a:t>
            </a:r>
            <a:r>
              <a:rPr sz="737" spc="-16" dirty="0">
                <a:latin typeface="Calibri"/>
                <a:cs typeface="Calibri"/>
              </a:rPr>
              <a:t> AX</a:t>
            </a:r>
            <a:endParaRPr sz="737" dirty="0">
              <a:latin typeface="Calibri"/>
              <a:cs typeface="Calibri"/>
            </a:endParaRPr>
          </a:p>
          <a:p>
            <a:pPr marL="13023">
              <a:spcBef>
                <a:spcPts val="637"/>
              </a:spcBef>
            </a:pPr>
            <a:r>
              <a:rPr sz="737" spc="-16" dirty="0">
                <a:latin typeface="Calibri"/>
                <a:cs typeface="Calibri"/>
              </a:rPr>
              <a:t>Z3.SEGMENT:</a:t>
            </a:r>
            <a:r>
              <a:rPr sz="737" spc="16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logical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segment</a:t>
            </a:r>
            <a:endParaRPr sz="737" dirty="0">
              <a:latin typeface="Calibri"/>
              <a:cs typeface="Calibri"/>
            </a:endParaRPr>
          </a:p>
          <a:p>
            <a:pPr marL="11395">
              <a:spcBef>
                <a:spcPts val="641"/>
              </a:spcBef>
            </a:pPr>
            <a:r>
              <a:rPr sz="737" spc="-22" dirty="0">
                <a:latin typeface="Calibri"/>
                <a:cs typeface="Calibri"/>
              </a:rPr>
              <a:t>The </a:t>
            </a:r>
            <a:r>
              <a:rPr sz="737" spc="-16" dirty="0">
                <a:latin typeface="Calibri"/>
                <a:cs typeface="Calibri"/>
              </a:rPr>
              <a:t>segment</a:t>
            </a:r>
            <a:r>
              <a:rPr sz="737" spc="-3" dirty="0">
                <a:latin typeface="Calibri"/>
                <a:cs typeface="Calibri"/>
              </a:rPr>
              <a:t> </a:t>
            </a:r>
            <a:r>
              <a:rPr sz="737" spc="-19" dirty="0">
                <a:latin typeface="Calibri"/>
                <a:cs typeface="Calibri"/>
              </a:rPr>
              <a:t>directive</a:t>
            </a:r>
            <a:r>
              <a:rPr sz="737" spc="-10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marks</a:t>
            </a:r>
            <a:r>
              <a:rPr sz="737" spc="-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the</a:t>
            </a:r>
            <a:r>
              <a:rPr sz="737" spc="-19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starting</a:t>
            </a:r>
            <a:r>
              <a:rPr sz="737" spc="6" dirty="0">
                <a:latin typeface="Calibri"/>
                <a:cs typeface="Calibri"/>
              </a:rPr>
              <a:t> </a:t>
            </a:r>
            <a:r>
              <a:rPr sz="737" spc="-13" dirty="0">
                <a:latin typeface="Calibri"/>
                <a:cs typeface="Calibri"/>
              </a:rPr>
              <a:t>of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dirty="0">
                <a:latin typeface="Calibri"/>
                <a:cs typeface="Calibri"/>
              </a:rPr>
              <a:t>a</a:t>
            </a:r>
            <a:r>
              <a:rPr sz="737" spc="-42" dirty="0">
                <a:latin typeface="Calibri"/>
                <a:cs typeface="Calibri"/>
              </a:rPr>
              <a:t> </a:t>
            </a:r>
            <a:r>
              <a:rPr sz="737" spc="-16" dirty="0">
                <a:latin typeface="Calibri"/>
                <a:cs typeface="Calibri"/>
              </a:rPr>
              <a:t>logical</a:t>
            </a:r>
            <a:r>
              <a:rPr sz="737" spc="-26" dirty="0">
                <a:latin typeface="Calibri"/>
                <a:cs typeface="Calibri"/>
              </a:rPr>
              <a:t> </a:t>
            </a:r>
            <a:r>
              <a:rPr sz="737" spc="-6" dirty="0">
                <a:latin typeface="Calibri"/>
                <a:cs typeface="Calibri"/>
              </a:rPr>
              <a:t>segment</a:t>
            </a:r>
            <a:endParaRPr sz="737" dirty="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C1DC4-ABC4-1E5B-9ADA-CCA0E5E164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</p:spPr>
        <p:txBody>
          <a:bodyPr/>
          <a:lstStyle/>
          <a:p>
            <a:pPr marL="57790">
              <a:lnSpc>
                <a:spcPts val="756"/>
              </a:lnSpc>
            </a:pPr>
            <a:r>
              <a:rPr lang="en-IN" dirty="0"/>
              <a:t>Page</a:t>
            </a:r>
            <a:r>
              <a:rPr lang="en-IN" spc="-16" dirty="0"/>
              <a:t> </a:t>
            </a:r>
            <a:fld id="{81D60167-4931-47E6-BA6A-407CBD079E47}" type="slidenum">
              <a:rPr spc="-32"/>
              <a:pPr marL="57790">
                <a:lnSpc>
                  <a:spcPts val="756"/>
                </a:lnSpc>
              </a:pPr>
              <a:t>119</a:t>
            </a:fld>
            <a:endParaRPr spc="-32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0660" y="234456"/>
            <a:ext cx="0" cy="6201504"/>
          </a:xfrm>
          <a:custGeom>
            <a:avLst/>
            <a:gdLst/>
            <a:ahLst/>
            <a:cxnLst/>
            <a:rect l="l" t="t" r="r" b="b"/>
            <a:pathLst>
              <a:path h="9675495">
                <a:moveTo>
                  <a:pt x="0" y="9675271"/>
                </a:moveTo>
                <a:lnTo>
                  <a:pt x="0" y="0"/>
                </a:lnTo>
              </a:path>
            </a:pathLst>
          </a:custGeom>
          <a:ln w="9144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337729" y="234456"/>
            <a:ext cx="4448949" cy="6201504"/>
            <a:chOff x="298724" y="365794"/>
            <a:chExt cx="6941184" cy="9675495"/>
          </a:xfrm>
        </p:grpSpPr>
        <p:sp>
          <p:nvSpPr>
            <p:cNvPr id="4" name="object 4"/>
            <p:cNvSpPr/>
            <p:nvPr/>
          </p:nvSpPr>
          <p:spPr>
            <a:xfrm>
              <a:off x="7234914" y="365794"/>
              <a:ext cx="0" cy="9675495"/>
            </a:xfrm>
            <a:custGeom>
              <a:avLst/>
              <a:gdLst/>
              <a:ahLst/>
              <a:cxnLst/>
              <a:rect l="l" t="t" r="r" b="b"/>
              <a:pathLst>
                <a:path h="9675495">
                  <a:moveTo>
                    <a:pt x="0" y="9675271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8724" y="370366"/>
              <a:ext cx="6941184" cy="0"/>
            </a:xfrm>
            <a:custGeom>
              <a:avLst/>
              <a:gdLst/>
              <a:ahLst/>
              <a:cxnLst/>
              <a:rect l="l" t="t" r="r" b="b"/>
              <a:pathLst>
                <a:path w="6941184">
                  <a:moveTo>
                    <a:pt x="0" y="0"/>
                  </a:moveTo>
                  <a:lnTo>
                    <a:pt x="6940760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17604" y="10036493"/>
              <a:ext cx="6822440" cy="0"/>
            </a:xfrm>
            <a:custGeom>
              <a:avLst/>
              <a:gdLst/>
              <a:ahLst/>
              <a:cxnLst/>
              <a:rect l="l" t="t" r="r" b="b"/>
              <a:pathLst>
                <a:path w="6822440">
                  <a:moveTo>
                    <a:pt x="0" y="0"/>
                  </a:moveTo>
                  <a:lnTo>
                    <a:pt x="6821881" y="0"/>
                  </a:lnTo>
                </a:path>
              </a:pathLst>
            </a:custGeom>
            <a:ln w="914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990" y="9019889"/>
              <a:ext cx="85349" cy="9754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90" y="9458842"/>
              <a:ext cx="85349" cy="9144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5931" y="6644873"/>
            <a:ext cx="1361760" cy="957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40888" y="318470"/>
            <a:ext cx="726093" cy="116711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8139">
              <a:spcBef>
                <a:spcPts val="64"/>
              </a:spcBef>
            </a:pPr>
            <a:r>
              <a:rPr sz="705" dirty="0">
                <a:latin typeface="Calibri"/>
                <a:cs typeface="Calibri"/>
              </a:rPr>
              <a:t>Ex: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CODE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SEGMENT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1710" y="699461"/>
            <a:ext cx="4322778" cy="5590389"/>
          </a:xfrm>
          <a:prstGeom prst="rect">
            <a:avLst/>
          </a:prstGeom>
        </p:spPr>
        <p:txBody>
          <a:bodyPr vert="horz" wrap="square" lIns="0" tIns="8140" rIns="0" bIns="0" rtlCol="0">
            <a:spAutoFit/>
          </a:bodyPr>
          <a:lstStyle/>
          <a:p>
            <a:pPr marL="126568">
              <a:spcBef>
                <a:spcPts val="64"/>
              </a:spcBef>
            </a:pPr>
            <a:r>
              <a:rPr sz="705" dirty="0">
                <a:latin typeface="Calibri"/>
                <a:cs typeface="Calibri"/>
              </a:rPr>
              <a:t>CODE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END5</a:t>
            </a:r>
            <a:endParaRPr sz="705" dirty="0">
              <a:latin typeface="Calibri"/>
              <a:cs typeface="Calibri"/>
            </a:endParaRPr>
          </a:p>
          <a:p>
            <a:pPr marL="128603" marR="15872" indent="-117208">
              <a:spcBef>
                <a:spcPts val="631"/>
              </a:spcBef>
            </a:pPr>
            <a:r>
              <a:rPr sz="705" b="1" spc="-6" dirty="0">
                <a:latin typeface="Calibri"/>
                <a:cs typeface="Calibri"/>
              </a:rPr>
              <a:t>24.SHORT: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SHORT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operator</a:t>
            </a:r>
            <a:r>
              <a:rPr sz="705" dirty="0">
                <a:latin typeface="Calibri"/>
                <a:cs typeface="Calibri"/>
              </a:rPr>
              <a:t> indicates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only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one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byte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required</a:t>
            </a:r>
            <a:r>
              <a:rPr sz="705" dirty="0">
                <a:latin typeface="Calibri"/>
                <a:cs typeface="Calibri"/>
              </a:rPr>
              <a:t> to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code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displacement</a:t>
            </a:r>
            <a:r>
              <a:rPr sz="705" spc="35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for </a:t>
            </a:r>
            <a:r>
              <a:rPr sz="705" spc="-6" dirty="0">
                <a:latin typeface="Calibri"/>
                <a:cs typeface="Calibri"/>
              </a:rPr>
              <a:t>jump.</a:t>
            </a:r>
            <a:endParaRPr sz="705" dirty="0">
              <a:latin typeface="Calibri"/>
              <a:cs typeface="Calibri"/>
            </a:endParaRPr>
          </a:p>
          <a:p>
            <a:pPr marL="126975">
              <a:spcBef>
                <a:spcPts val="660"/>
              </a:spcBef>
            </a:pPr>
            <a:r>
              <a:rPr sz="705" dirty="0">
                <a:latin typeface="Calibri"/>
                <a:cs typeface="Calibri"/>
              </a:rPr>
              <a:t>Ex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: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JMP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SHDRT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</a:t>
            </a:r>
            <a:endParaRPr sz="705" dirty="0">
              <a:latin typeface="Calibri"/>
              <a:cs typeface="Calibri"/>
            </a:endParaRPr>
          </a:p>
          <a:p>
            <a:pPr marL="127789" marR="35813" indent="-117615">
              <a:lnSpc>
                <a:spcPct val="103600"/>
              </a:lnSpc>
              <a:spcBef>
                <a:spcPts val="599"/>
              </a:spcBef>
            </a:pPr>
            <a:r>
              <a:rPr sz="705" dirty="0">
                <a:latin typeface="Calibri"/>
                <a:cs typeface="Calibri"/>
              </a:rPr>
              <a:t>25.TYPE: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TYPE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operator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directs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decide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type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specified</a:t>
            </a:r>
            <a:r>
              <a:rPr sz="705" spc="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replaces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TYPE </a:t>
            </a:r>
            <a:r>
              <a:rPr sz="705" spc="-6" dirty="0">
                <a:latin typeface="Calibri"/>
                <a:cs typeface="Calibri"/>
              </a:rPr>
              <a:t>label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deEided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type.</a:t>
            </a:r>
            <a:endParaRPr sz="705" dirty="0">
              <a:latin typeface="Calibri"/>
              <a:cs typeface="Calibri"/>
            </a:endParaRPr>
          </a:p>
          <a:p>
            <a:pPr marL="11802">
              <a:spcBef>
                <a:spcPts val="631"/>
              </a:spcBef>
            </a:pPr>
            <a:r>
              <a:rPr sz="705" dirty="0">
                <a:latin typeface="Calibri"/>
                <a:cs typeface="Calibri"/>
              </a:rPr>
              <a:t>For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word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variable,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type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 </a:t>
            </a:r>
            <a:r>
              <a:rPr sz="705" spc="-16" dirty="0">
                <a:latin typeface="Calibri"/>
                <a:cs typeface="Calibri"/>
              </a:rPr>
              <a:t>2.</a:t>
            </a:r>
            <a:endParaRPr sz="705" dirty="0">
              <a:latin typeface="Calibri"/>
              <a:cs typeface="Calibri"/>
            </a:endParaRPr>
          </a:p>
          <a:p>
            <a:pPr marL="11802" marR="2705954">
              <a:lnSpc>
                <a:spcPct val="174600"/>
              </a:lnSpc>
              <a:spcBef>
                <a:spcPts val="32"/>
              </a:spcBef>
            </a:pPr>
            <a:r>
              <a:rPr sz="705" dirty="0">
                <a:latin typeface="Calibri"/>
                <a:cs typeface="Calibri"/>
              </a:rPr>
              <a:t>For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double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word</a:t>
            </a:r>
            <a:r>
              <a:rPr sz="705" spc="-4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variable,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type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4. </a:t>
            </a:r>
            <a:r>
              <a:rPr sz="705" dirty="0">
                <a:latin typeface="Calibri"/>
                <a:cs typeface="Calibri"/>
              </a:rPr>
              <a:t>For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byte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32" dirty="0">
                <a:latin typeface="Calibri"/>
                <a:cs typeface="Calibri"/>
              </a:rPr>
              <a:t>variab1e,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data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type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1.</a:t>
            </a:r>
            <a:endParaRPr sz="705" dirty="0">
              <a:latin typeface="Calibri"/>
              <a:cs typeface="Calibri"/>
            </a:endParaRPr>
          </a:p>
          <a:p>
            <a:pPr marL="126975" marR="3084030">
              <a:lnSpc>
                <a:spcPct val="177300"/>
              </a:lnSpc>
              <a:spcBef>
                <a:spcPts val="38"/>
              </a:spcBef>
            </a:pPr>
            <a:r>
              <a:rPr sz="705" dirty="0">
                <a:latin typeface="Calibri"/>
                <a:cs typeface="Calibri"/>
              </a:rPr>
              <a:t>Ex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: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STRING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DW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2345H,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4567H </a:t>
            </a:r>
            <a:r>
              <a:rPr sz="705" dirty="0">
                <a:latin typeface="Calibri"/>
                <a:cs typeface="Calibri"/>
              </a:rPr>
              <a:t>MOV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AX,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TYPE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STRING AX=000ZH</a:t>
            </a:r>
            <a:endParaRPr sz="705" dirty="0">
              <a:latin typeface="Calibri"/>
              <a:cs typeface="Calibri"/>
            </a:endParaRPr>
          </a:p>
          <a:p>
            <a:pPr marL="127789" marR="174998" indent="-116394">
              <a:lnSpc>
                <a:spcPct val="103600"/>
              </a:lnSpc>
              <a:spcBef>
                <a:spcPts val="599"/>
              </a:spcBef>
            </a:pPr>
            <a:r>
              <a:rPr sz="705" b="1" spc="-6" dirty="0">
                <a:latin typeface="Calibri"/>
                <a:cs typeface="Calibri"/>
              </a:rPr>
              <a:t>20.GLOBAL:</a:t>
            </a:r>
            <a:r>
              <a:rPr sz="705" b="1" spc="2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labels,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variables,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constants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or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procedures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declared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GLOBAL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may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be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other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modules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the </a:t>
            </a:r>
            <a:r>
              <a:rPr sz="705" spc="-6" dirty="0">
                <a:latin typeface="Calibri"/>
                <a:cs typeface="Calibri"/>
              </a:rPr>
              <a:t>program.</a:t>
            </a:r>
            <a:endParaRPr sz="705" dirty="0">
              <a:latin typeface="Calibri"/>
              <a:cs typeface="Calibri"/>
            </a:endParaRPr>
          </a:p>
          <a:p>
            <a:pPr marL="126975">
              <a:spcBef>
                <a:spcPts val="631"/>
              </a:spcBef>
            </a:pPr>
            <a:r>
              <a:rPr sz="705" dirty="0">
                <a:latin typeface="Calibri"/>
                <a:cs typeface="Calibri"/>
              </a:rPr>
              <a:t>Ex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: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ROUTINE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PROC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GLOBAL.</a:t>
            </a:r>
            <a:endParaRPr sz="705" dirty="0">
              <a:latin typeface="Calibri"/>
              <a:cs typeface="Calibri"/>
            </a:endParaRPr>
          </a:p>
          <a:p>
            <a:pPr marL="126975" marR="133486" indent="-116801">
              <a:spcBef>
                <a:spcPts val="660"/>
              </a:spcBef>
            </a:pPr>
            <a:r>
              <a:rPr sz="705" dirty="0">
                <a:latin typeface="Calibri"/>
                <a:cs typeface="Calibri"/>
              </a:rPr>
              <a:t>27.FAR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PTR: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This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indicates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assembler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following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FAR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PTR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not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available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within 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same </a:t>
            </a:r>
            <a:r>
              <a:rPr sz="705" dirty="0">
                <a:latin typeface="Calibri"/>
                <a:cs typeface="Calibri"/>
              </a:rPr>
              <a:t>segment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 </a:t>
            </a:r>
            <a:r>
              <a:rPr sz="705" spc="-6" dirty="0">
                <a:latin typeface="Calibri"/>
                <a:cs typeface="Calibri"/>
              </a:rPr>
              <a:t>address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32-</a:t>
            </a:r>
            <a:r>
              <a:rPr sz="705" dirty="0">
                <a:latin typeface="Calibri"/>
                <a:cs typeface="Calibri"/>
              </a:rPr>
              <a:t>bits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i.e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2-</a:t>
            </a:r>
            <a:r>
              <a:rPr sz="705" dirty="0">
                <a:latin typeface="Calibri"/>
                <a:cs typeface="Calibri"/>
              </a:rPr>
              <a:t>bytes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offset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followed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2-</a:t>
            </a:r>
            <a:r>
              <a:rPr sz="705" dirty="0">
                <a:latin typeface="Calibri"/>
                <a:cs typeface="Calibri"/>
              </a:rPr>
              <a:t>bytes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segment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address.</a:t>
            </a:r>
            <a:endParaRPr sz="705" dirty="0">
              <a:latin typeface="Calibri"/>
              <a:cs typeface="Calibri"/>
            </a:endParaRPr>
          </a:p>
          <a:p>
            <a:pPr marL="130638">
              <a:spcBef>
                <a:spcPts val="663"/>
              </a:spcBef>
            </a:pPr>
            <a:r>
              <a:rPr sz="705" i="1" spc="-6" dirty="0">
                <a:latin typeface="Calibri"/>
                <a:cs typeface="Calibri"/>
              </a:rPr>
              <a:t>Ex</a:t>
            </a:r>
            <a:r>
              <a:rPr sz="705" i="1" spc="22" dirty="0">
                <a:latin typeface="Calibri"/>
                <a:cs typeface="Calibri"/>
              </a:rPr>
              <a:t> </a:t>
            </a:r>
            <a:r>
              <a:rPr sz="705" i="1" spc="-38" dirty="0">
                <a:latin typeface="Calibri"/>
                <a:cs typeface="Calibri"/>
              </a:rPr>
              <a:t>:</a:t>
            </a:r>
            <a:r>
              <a:rPr sz="705" i="1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JMP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FAR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PTR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</a:t>
            </a:r>
            <a:endParaRPr sz="705" dirty="0">
              <a:latin typeface="Calibri"/>
              <a:cs typeface="Calibri"/>
            </a:endParaRPr>
          </a:p>
          <a:p>
            <a:pPr marL="11802">
              <a:spcBef>
                <a:spcPts val="631"/>
              </a:spcBef>
            </a:pPr>
            <a:r>
              <a:rPr sz="705" b="1" spc="-6" dirty="0">
                <a:latin typeface="Calibri"/>
                <a:cs typeface="Calibri"/>
              </a:rPr>
              <a:t>28.NEAR</a:t>
            </a:r>
            <a:r>
              <a:rPr sz="705" b="1" spc="22" dirty="0">
                <a:latin typeface="Calibri"/>
                <a:cs typeface="Calibri"/>
              </a:rPr>
              <a:t> </a:t>
            </a:r>
            <a:r>
              <a:rPr sz="705" b="1" spc="-6" dirty="0">
                <a:latin typeface="Calibri"/>
                <a:cs typeface="Calibri"/>
              </a:rPr>
              <a:t>PTR:</a:t>
            </a:r>
            <a:r>
              <a:rPr sz="705" b="1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This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directive </a:t>
            </a:r>
            <a:r>
              <a:rPr sz="705" dirty="0">
                <a:latin typeface="Calibri"/>
                <a:cs typeface="Calibri"/>
              </a:rPr>
              <a:t>indicates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that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label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following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NEAR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PTR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same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segment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i="1" dirty="0">
                <a:latin typeface="Calibri"/>
                <a:cs typeface="Calibri"/>
              </a:rPr>
              <a:t>needs</a:t>
            </a:r>
            <a:r>
              <a:rPr sz="705" i="1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only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16-bit</a:t>
            </a:r>
            <a:endParaRPr sz="705" dirty="0">
              <a:latin typeface="Calibri"/>
              <a:cs typeface="Calibri"/>
            </a:endParaRPr>
          </a:p>
          <a:p>
            <a:pPr marL="124940">
              <a:spcBef>
                <a:spcPts val="29"/>
              </a:spcBef>
            </a:pPr>
            <a:r>
              <a:rPr sz="705" dirty="0">
                <a:latin typeface="Calibri"/>
                <a:cs typeface="Calibri"/>
              </a:rPr>
              <a:t>i.e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2-</a:t>
            </a:r>
            <a:r>
              <a:rPr sz="705" dirty="0">
                <a:latin typeface="Calibri"/>
                <a:cs typeface="Calibri"/>
              </a:rPr>
              <a:t>byte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offset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address </a:t>
            </a:r>
            <a:r>
              <a:rPr sz="705" spc="-16" dirty="0">
                <a:latin typeface="Calibri"/>
                <a:cs typeface="Calibri"/>
              </a:rPr>
              <a:t>it</a:t>
            </a:r>
            <a:endParaRPr sz="705" dirty="0">
              <a:latin typeface="Calibri"/>
              <a:cs typeface="Calibri"/>
            </a:endParaRPr>
          </a:p>
          <a:p>
            <a:pPr marL="126568" marR="3277341" indent="407">
              <a:lnSpc>
                <a:spcPts val="1493"/>
              </a:lnSpc>
              <a:spcBef>
                <a:spcPts val="141"/>
              </a:spcBef>
            </a:pPr>
            <a:r>
              <a:rPr sz="705" dirty="0">
                <a:latin typeface="Calibri"/>
                <a:cs typeface="Calibri"/>
              </a:rPr>
              <a:t>Ex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.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JMP NEAR PTR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LABEL CALL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NEAR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PTR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ROUTINE</a:t>
            </a:r>
            <a:endParaRPr sz="705" dirty="0">
              <a:latin typeface="Calibri"/>
              <a:cs typeface="Calibri"/>
            </a:endParaRPr>
          </a:p>
          <a:p>
            <a:pPr marL="8139">
              <a:spcBef>
                <a:spcPts val="487"/>
              </a:spcBef>
            </a:pPr>
            <a:r>
              <a:rPr sz="705" u="heavy" dirty="0">
                <a:uFill>
                  <a:solidFill>
                    <a:srgbClr val="080808"/>
                  </a:solidFill>
                </a:uFill>
                <a:latin typeface="Calibri"/>
                <a:cs typeface="Calibri"/>
              </a:rPr>
              <a:t>Procedures</a:t>
            </a:r>
            <a:r>
              <a:rPr sz="705" u="heavy" spc="61" dirty="0">
                <a:uFill>
                  <a:solidFill>
                    <a:srgbClr val="080808"/>
                  </a:solidFill>
                </a:uFill>
                <a:latin typeface="Calibri"/>
                <a:cs typeface="Calibri"/>
              </a:rPr>
              <a:t> </a:t>
            </a:r>
            <a:r>
              <a:rPr sz="705" u="heavy" dirty="0">
                <a:uFill>
                  <a:solidFill>
                    <a:srgbClr val="080808"/>
                  </a:solidFill>
                </a:uFill>
                <a:latin typeface="Calibri"/>
                <a:cs typeface="Calibri"/>
              </a:rPr>
              <a:t>and</a:t>
            </a:r>
            <a:r>
              <a:rPr sz="705" u="heavy" spc="-3" dirty="0">
                <a:uFill>
                  <a:solidFill>
                    <a:srgbClr val="080808"/>
                  </a:solidFill>
                </a:uFill>
                <a:latin typeface="Calibri"/>
                <a:cs typeface="Calibri"/>
              </a:rPr>
              <a:t> </a:t>
            </a:r>
            <a:r>
              <a:rPr sz="705" u="heavy" spc="-6" dirty="0">
                <a:uFill>
                  <a:solidFill>
                    <a:srgbClr val="080808"/>
                  </a:solidFill>
                </a:uFill>
                <a:latin typeface="Calibri"/>
                <a:cs typeface="Calibri"/>
              </a:rPr>
              <a:t>Macros•</a:t>
            </a:r>
            <a:endParaRPr sz="705" dirty="0">
              <a:latin typeface="Calibri"/>
              <a:cs typeface="Calibri"/>
            </a:endParaRPr>
          </a:p>
          <a:p>
            <a:pPr marL="127789" marR="16685">
              <a:lnSpc>
                <a:spcPct val="112700"/>
              </a:lnSpc>
              <a:spcBef>
                <a:spcPts val="695"/>
              </a:spcBef>
            </a:pPr>
            <a:r>
              <a:rPr sz="705" dirty="0">
                <a:latin typeface="Calibri"/>
                <a:cs typeface="Calibri"/>
              </a:rPr>
              <a:t>When </a:t>
            </a:r>
            <a:r>
              <a:rPr sz="705" spc="-6" dirty="0">
                <a:latin typeface="Calibri"/>
                <a:cs typeface="Calibri"/>
              </a:rPr>
              <a:t>we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need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group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6" dirty="0">
                <a:latin typeface="Calibri"/>
                <a:cs typeface="Calibri"/>
              </a:rPr>
              <a:t> instructions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several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times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throughout</a:t>
            </a:r>
            <a:r>
              <a:rPr sz="705" spc="51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</a:t>
            </a:r>
            <a:r>
              <a:rPr sz="705" dirty="0">
                <a:latin typeface="Calibri"/>
                <a:cs typeface="Calibri"/>
              </a:rPr>
              <a:t> there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are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two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ways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can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avold </a:t>
            </a:r>
            <a:r>
              <a:rPr sz="705" dirty="0">
                <a:latin typeface="Calibri"/>
                <a:cs typeface="Calibri"/>
              </a:rPr>
              <a:t>having to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write the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group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instructions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each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time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we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want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</a:t>
            </a:r>
            <a:r>
              <a:rPr sz="705" spc="-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them.</a:t>
            </a:r>
            <a:endParaRPr sz="705" dirty="0">
              <a:latin typeface="Calibri"/>
              <a:cs typeface="Calibri"/>
            </a:endParaRPr>
          </a:p>
          <a:p>
            <a:pPr marL="215695" indent="-88720">
              <a:spcBef>
                <a:spcPts val="183"/>
              </a:spcBef>
              <a:buAutoNum type="arabicPeriod"/>
              <a:tabLst>
                <a:tab pos="215695" algn="l"/>
              </a:tabLst>
            </a:pPr>
            <a:r>
              <a:rPr sz="705" dirty="0">
                <a:latin typeface="Calibri"/>
                <a:cs typeface="Calibri"/>
              </a:rPr>
              <a:t>One</a:t>
            </a:r>
            <a:r>
              <a:rPr sz="705" spc="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way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write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group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instructions</a:t>
            </a:r>
            <a:r>
              <a:rPr sz="705" spc="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separate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procedure.</a:t>
            </a:r>
            <a:endParaRPr sz="705" dirty="0">
              <a:latin typeface="Calibri"/>
              <a:cs typeface="Calibri"/>
            </a:endParaRPr>
          </a:p>
          <a:p>
            <a:pPr marL="214474" indent="-88720">
              <a:spcBef>
                <a:spcPts val="125"/>
              </a:spcBef>
              <a:buClr>
                <a:srgbClr val="262626"/>
              </a:buClr>
              <a:buAutoNum type="arabicPeriod"/>
              <a:tabLst>
                <a:tab pos="214474" algn="l"/>
              </a:tabLst>
            </a:pPr>
            <a:r>
              <a:rPr sz="705" dirty="0">
                <a:latin typeface="Calibri"/>
                <a:cs typeface="Calibri"/>
              </a:rPr>
              <a:t>Another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way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can</a:t>
            </a:r>
            <a:r>
              <a:rPr sz="705" spc="-4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macros.</a:t>
            </a:r>
            <a:endParaRPr sz="705" dirty="0">
              <a:latin typeface="Calibri"/>
              <a:cs typeface="Calibri"/>
            </a:endParaRPr>
          </a:p>
          <a:p>
            <a:pPr marL="9360">
              <a:spcBef>
                <a:spcPts val="798"/>
              </a:spcBef>
            </a:pPr>
            <a:r>
              <a:rPr sz="705" b="1" spc="-6" dirty="0">
                <a:latin typeface="Calibri"/>
                <a:cs typeface="Calibri"/>
              </a:rPr>
              <a:t>Procedures:</a:t>
            </a:r>
            <a:endParaRPr sz="705" dirty="0">
              <a:latin typeface="Calibri"/>
              <a:cs typeface="Calibri"/>
            </a:endParaRPr>
          </a:p>
          <a:p>
            <a:pPr marL="303600" marR="52092" indent="-135521">
              <a:lnSpc>
                <a:spcPts val="833"/>
              </a:lnSpc>
              <a:spcBef>
                <a:spcPts val="808"/>
              </a:spcBef>
              <a:tabLst>
                <a:tab pos="304008" algn="l"/>
              </a:tabLst>
            </a:pPr>
            <a:r>
              <a:rPr sz="705" spc="-32" dirty="0">
                <a:latin typeface="Calibri"/>
                <a:cs typeface="Calibri"/>
              </a:rPr>
              <a:t>v</a:t>
            </a:r>
            <a:r>
              <a:rPr sz="705" dirty="0">
                <a:latin typeface="Calibri"/>
                <a:cs typeface="Calibri"/>
              </a:rPr>
              <a:t>	</a:t>
            </a:r>
            <a:r>
              <a:rPr sz="705" spc="-99" dirty="0">
                <a:latin typeface="Calibri"/>
                <a:cs typeface="Calibri"/>
              </a:rPr>
              <a:t>Th€?</a:t>
            </a:r>
            <a:r>
              <a:rPr sz="705" spc="-10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proEedure </a:t>
            </a:r>
            <a:r>
              <a:rPr sz="705" dirty="0">
                <a:latin typeface="Calibri"/>
                <a:cs typeface="Calibri"/>
              </a:rPr>
              <a:t>is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group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instructions</a:t>
            </a:r>
            <a:r>
              <a:rPr sz="705" spc="8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stored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as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separate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program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memory</a:t>
            </a:r>
            <a:r>
              <a:rPr sz="705" spc="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and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it</a:t>
            </a:r>
            <a:r>
              <a:rPr sz="705" spc="80" dirty="0">
                <a:latin typeface="Calibri"/>
                <a:cs typeface="Calibri"/>
              </a:rPr>
              <a:t> </a:t>
            </a:r>
            <a:r>
              <a:rPr sz="705" spc="-73" dirty="0">
                <a:latin typeface="Calibri"/>
                <a:cs typeface="Calibri"/>
              </a:rPr>
              <a:t>ÏS</a:t>
            </a:r>
            <a:r>
              <a:rPr sz="705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Edlled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from</a:t>
            </a:r>
            <a:r>
              <a:rPr sz="705" spc="-6" dirty="0">
                <a:latin typeface="Calibri"/>
                <a:cs typeface="Calibri"/>
              </a:rPr>
              <a:t> </a:t>
            </a:r>
            <a:r>
              <a:rPr sz="705" spc="-16" dirty="0">
                <a:latin typeface="Calibri"/>
                <a:cs typeface="Calibri"/>
              </a:rPr>
              <a:t>the </a:t>
            </a:r>
            <a:r>
              <a:rPr sz="705" dirty="0">
                <a:latin typeface="Calibri"/>
                <a:cs typeface="Calibri"/>
              </a:rPr>
              <a:t>main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program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whenever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required</a:t>
            </a:r>
            <a:r>
              <a:rPr sz="705" spc="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using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CALL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instruction.</a:t>
            </a:r>
            <a:endParaRPr sz="705" dirty="0">
              <a:latin typeface="Calibri"/>
              <a:cs typeface="Calibri"/>
            </a:endParaRPr>
          </a:p>
          <a:p>
            <a:pPr marL="302787">
              <a:spcBef>
                <a:spcPts val="465"/>
              </a:spcBef>
            </a:pPr>
            <a:r>
              <a:rPr sz="705" dirty="0">
                <a:latin typeface="Calibri"/>
                <a:cs typeface="Calibri"/>
              </a:rPr>
              <a:t>For</a:t>
            </a:r>
            <a:r>
              <a:rPr sz="705" spc="-4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calling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procedure</a:t>
            </a:r>
            <a:r>
              <a:rPr sz="705" spc="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we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have to store </a:t>
            </a:r>
            <a:r>
              <a:rPr sz="705" b="1" spc="-6" dirty="0">
                <a:latin typeface="Calibri"/>
                <a:cs typeface="Calibri"/>
              </a:rPr>
              <a:t>the</a:t>
            </a:r>
            <a:r>
              <a:rPr sz="705" b="1" spc="-32" dirty="0">
                <a:latin typeface="Calibri"/>
                <a:cs typeface="Calibri"/>
              </a:rPr>
              <a:t> </a:t>
            </a:r>
            <a:r>
              <a:rPr sz="705" b="1" spc="-6" dirty="0">
                <a:latin typeface="Calibri"/>
                <a:cs typeface="Calibri"/>
              </a:rPr>
              <a:t>return</a:t>
            </a:r>
            <a:r>
              <a:rPr sz="705" b="1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address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(next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instruction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address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followed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CALL)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onta</a:t>
            </a:r>
            <a:endParaRPr sz="705" dirty="0">
              <a:latin typeface="Calibri"/>
              <a:cs typeface="Calibri"/>
            </a:endParaRPr>
          </a:p>
          <a:p>
            <a:pPr marL="303194">
              <a:spcBef>
                <a:spcPts val="64"/>
              </a:spcBef>
            </a:pPr>
            <a:r>
              <a:rPr sz="673" dirty="0">
                <a:latin typeface="Calibri"/>
                <a:cs typeface="Calibri"/>
              </a:rPr>
              <a:t>the</a:t>
            </a:r>
            <a:r>
              <a:rPr sz="673" spc="61" dirty="0">
                <a:latin typeface="Calibri"/>
                <a:cs typeface="Calibri"/>
              </a:rPr>
              <a:t> </a:t>
            </a:r>
            <a:r>
              <a:rPr sz="673" spc="-6" dirty="0">
                <a:latin typeface="Calibri"/>
                <a:cs typeface="Calibri"/>
              </a:rPr>
              <a:t>staclC</a:t>
            </a:r>
            <a:endParaRPr sz="673" dirty="0">
              <a:latin typeface="Calibri"/>
              <a:cs typeface="Calibri"/>
            </a:endParaRPr>
          </a:p>
          <a:p>
            <a:pPr marL="303600" marR="109882" indent="-814">
              <a:lnSpc>
                <a:spcPts val="833"/>
              </a:lnSpc>
              <a:spcBef>
                <a:spcPts val="551"/>
              </a:spcBef>
            </a:pPr>
            <a:r>
              <a:rPr sz="705" dirty="0">
                <a:latin typeface="Calibri"/>
                <a:cs typeface="Calibri"/>
              </a:rPr>
              <a:t>At</a:t>
            </a:r>
            <a:r>
              <a:rPr sz="705" spc="-2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end of</a:t>
            </a:r>
            <a:r>
              <a:rPr sz="705" spc="-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6" dirty="0">
                <a:latin typeface="Calibri"/>
                <a:cs typeface="Calibri"/>
              </a:rPr>
              <a:t> procedure</a:t>
            </a:r>
            <a:r>
              <a:rPr sz="705" spc="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RET</a:t>
            </a:r>
            <a:r>
              <a:rPr sz="705" spc="3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instruction</a:t>
            </a:r>
            <a:r>
              <a:rPr sz="705" spc="10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used</a:t>
            </a:r>
            <a:r>
              <a:rPr sz="705" spc="-51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</a:t>
            </a:r>
            <a:r>
              <a:rPr sz="705" spc="-3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return</a:t>
            </a:r>
            <a:r>
              <a:rPr sz="705" spc="1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2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execution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 the</a:t>
            </a:r>
            <a:r>
              <a:rPr sz="705" spc="-35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next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instruction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in</a:t>
            </a:r>
            <a:r>
              <a:rPr sz="705" spc="-48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spc="-13" dirty="0">
                <a:latin typeface="Calibri"/>
                <a:cs typeface="Calibri"/>
              </a:rPr>
              <a:t>main </a:t>
            </a:r>
            <a:r>
              <a:rPr sz="705" dirty="0">
                <a:latin typeface="Calibri"/>
                <a:cs typeface="Calibri"/>
              </a:rPr>
              <a:t>program</a:t>
            </a:r>
            <a:r>
              <a:rPr sz="705" spc="-3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by</a:t>
            </a:r>
            <a:r>
              <a:rPr sz="705" spc="-61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retrieving</a:t>
            </a:r>
            <a:r>
              <a:rPr sz="705" spc="2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address from</a:t>
            </a:r>
            <a:r>
              <a:rPr sz="705" spc="-32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the</a:t>
            </a:r>
            <a:r>
              <a:rPr sz="705" spc="-2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top</a:t>
            </a:r>
            <a:r>
              <a:rPr sz="705" spc="-16" dirty="0">
                <a:latin typeface="Calibri"/>
                <a:cs typeface="Calibri"/>
              </a:rPr>
              <a:t> </a:t>
            </a:r>
            <a:r>
              <a:rPr sz="705" dirty="0">
                <a:latin typeface="Calibri"/>
                <a:cs typeface="Calibri"/>
              </a:rPr>
              <a:t>of</a:t>
            </a:r>
            <a:r>
              <a:rPr sz="705" spc="-22" dirty="0">
                <a:latin typeface="Calibri"/>
                <a:cs typeface="Calibri"/>
              </a:rPr>
              <a:t> </a:t>
            </a:r>
            <a:r>
              <a:rPr sz="705" spc="-73" dirty="0">
                <a:latin typeface="Calibri"/>
                <a:cs typeface="Calibri"/>
              </a:rPr>
              <a:t>thEz</a:t>
            </a:r>
            <a:r>
              <a:rPr sz="705" spc="19" dirty="0">
                <a:latin typeface="Calibri"/>
                <a:cs typeface="Calibri"/>
              </a:rPr>
              <a:t> </a:t>
            </a:r>
            <a:r>
              <a:rPr sz="705" spc="-6" dirty="0">
                <a:latin typeface="Calibri"/>
                <a:cs typeface="Calibri"/>
              </a:rPr>
              <a:t>StaEk.</a:t>
            </a:r>
            <a:endParaRPr sz="705" dirty="0">
              <a:latin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B998EA-F7EA-910F-7BBD-8DE0CB8708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66069" y="3069738"/>
            <a:ext cx="1347994" cy="129523"/>
          </a:xfrm>
        </p:spPr>
        <p:txBody>
          <a:bodyPr/>
          <a:lstStyle/>
          <a:p>
            <a:pPr marL="57790">
              <a:lnSpc>
                <a:spcPts val="756"/>
              </a:lnSpc>
            </a:pPr>
            <a:r>
              <a:rPr lang="en-IN" dirty="0"/>
              <a:t>Page</a:t>
            </a:r>
            <a:r>
              <a:rPr lang="en-IN" spc="-16" dirty="0"/>
              <a:t> </a:t>
            </a:r>
            <a:fld id="{81D60167-4931-47E6-BA6A-407CBD079E47}" type="slidenum">
              <a:rPr spc="-32"/>
              <a:pPr marL="57790">
                <a:lnSpc>
                  <a:spcPts val="756"/>
                </a:lnSpc>
              </a:pPr>
              <a:t>120</a:t>
            </a:fld>
            <a:endParaRPr spc="-32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5CD113-64EE-2DA3-DC3D-FC257ED7134C}"/>
              </a:ext>
            </a:extLst>
          </p:cNvPr>
          <p:cNvSpPr txBox="1"/>
          <p:nvPr/>
        </p:nvSpPr>
        <p:spPr>
          <a:xfrm>
            <a:off x="783349" y="1901228"/>
            <a:ext cx="79665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we need to use a group of instructions several times throughout a program there are </a:t>
            </a:r>
          </a:p>
          <a:p>
            <a:r>
              <a:rPr lang="en-US" dirty="0"/>
              <a:t>two ways, we can avoid having to write the group of instructions each time we want to use them. </a:t>
            </a:r>
          </a:p>
          <a:p>
            <a:r>
              <a:rPr lang="en-US" dirty="0"/>
              <a:t>1. One way is to write the group of instructions as a separate procedure. </a:t>
            </a:r>
          </a:p>
          <a:p>
            <a:r>
              <a:rPr lang="en-US" dirty="0"/>
              <a:t>2. Another way we can use macros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D8EC3-0951-C00F-F342-4EDD0630F482}"/>
              </a:ext>
            </a:extLst>
          </p:cNvPr>
          <p:cNvSpPr txBox="1"/>
          <p:nvPr/>
        </p:nvSpPr>
        <p:spPr>
          <a:xfrm>
            <a:off x="948887" y="1197629"/>
            <a:ext cx="457002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/>
              <a:t>Procedures and Macros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BB044-AA62-7907-4332-DFF00D9141DE}"/>
              </a:ext>
            </a:extLst>
          </p:cNvPr>
          <p:cNvSpPr txBox="1"/>
          <p:nvPr/>
        </p:nvSpPr>
        <p:spPr>
          <a:xfrm>
            <a:off x="783349" y="2881826"/>
            <a:ext cx="4570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Procedure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922420-3914-E2D7-4943-0D34C910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8825"/>
            <a:ext cx="2578894" cy="20073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ACDA2F-48AB-88DE-997A-3E281979BA71}"/>
              </a:ext>
            </a:extLst>
          </p:cNvPr>
          <p:cNvSpPr txBox="1"/>
          <p:nvPr/>
        </p:nvSpPr>
        <p:spPr>
          <a:xfrm>
            <a:off x="2703294" y="3712398"/>
            <a:ext cx="20633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Syntax: </a:t>
            </a:r>
            <a:r>
              <a:rPr lang="en-US" dirty="0"/>
              <a:t>Procedure name PROC near instructions </a:t>
            </a:r>
          </a:p>
          <a:p>
            <a:r>
              <a:rPr lang="en-US" dirty="0"/>
              <a:t>RET </a:t>
            </a:r>
          </a:p>
          <a:p>
            <a:r>
              <a:rPr lang="en-US" dirty="0"/>
              <a:t>Procedure name ENDP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FCBF4-537B-7C0E-9F76-27007D9DC802}"/>
              </a:ext>
            </a:extLst>
          </p:cNvPr>
          <p:cNvSpPr txBox="1"/>
          <p:nvPr/>
        </p:nvSpPr>
        <p:spPr>
          <a:xfrm>
            <a:off x="5518915" y="3020325"/>
            <a:ext cx="30444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/>
              <a:t>.Macro</a:t>
            </a:r>
          </a:p>
          <a:p>
            <a:r>
              <a:rPr lang="en-US" sz="2100" b="1" dirty="0"/>
              <a:t> </a:t>
            </a:r>
            <a:r>
              <a:rPr lang="en-US" dirty="0"/>
              <a:t>A macro is a group of repetitive instructions in a program which are codified only once and can be used as many times as necessary.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485FA-9A1C-B444-D32E-502B22DCBA2A}"/>
              </a:ext>
            </a:extLst>
          </p:cNvPr>
          <p:cNvSpPr txBox="1"/>
          <p:nvPr/>
        </p:nvSpPr>
        <p:spPr>
          <a:xfrm>
            <a:off x="5805652" y="4508346"/>
            <a:ext cx="18327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Syntax of macro: </a:t>
            </a:r>
            <a:r>
              <a:rPr lang="en-US" dirty="0" err="1"/>
              <a:t>macroname</a:t>
            </a:r>
            <a:r>
              <a:rPr lang="en-US" dirty="0"/>
              <a:t> MACRO instructions</a:t>
            </a:r>
          </a:p>
          <a:p>
            <a:r>
              <a:rPr lang="en-US" dirty="0"/>
              <a:t> ENDM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97628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E94BA3-6EB7-4B13-2C9C-A5047A82F864}"/>
              </a:ext>
            </a:extLst>
          </p:cNvPr>
          <p:cNvSpPr txBox="1"/>
          <p:nvPr/>
        </p:nvSpPr>
        <p:spPr>
          <a:xfrm>
            <a:off x="451413" y="1152404"/>
            <a:ext cx="82730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Writing Simple 8086 Programs</a:t>
            </a:r>
          </a:p>
          <a:p>
            <a:endParaRPr lang="en-US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Example 1: Adding Two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; Adding Two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; This program adds two numbers stored in registers AX and BX.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; The result is stored in AX.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DATA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; No data segment needed for this simple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DATA ENDS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CODE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ASSUME CS:CODE, DS:DATA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START: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    MOV AX, 10  ; Load the first number into 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    MOV BX, 20  ; Load the second number into BX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    ADD AX, BX  ; Add the contents of BX to AX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    ; The result is now in AX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MOV AH, 4CH  ; Function code for 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    INT 21H     ; Call the DOS interrupt to terminate the program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CODE 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b="1" dirty="0"/>
              <a:t>END START</a:t>
            </a:r>
          </a:p>
        </p:txBody>
      </p:sp>
    </p:spTree>
    <p:extLst>
      <p:ext uri="{BB962C8B-B14F-4D97-AF65-F5344CB8AC3E}">
        <p14:creationId xmlns:p14="http://schemas.microsoft.com/office/powerpoint/2010/main" val="245935244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728D4B-1610-9A9B-DEDF-C7FC4138C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1" y="921910"/>
            <a:ext cx="6250329" cy="491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solidFill>
                  <a:schemeClr val="tx1"/>
                </a:solidFill>
                <a:latin typeface="Arial" panose="020B0604020202020204" pitchFamily="34" charset="0"/>
              </a:rPr>
              <a:t>Example 2: Subtracting Two Numbers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Code snippet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AX, 30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BX, 15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SUB AX, BX </a:t>
            </a:r>
            <a:endParaRPr lang="en-US" altLang="en-US" sz="2100" dirty="0">
              <a:solidFill>
                <a:schemeClr val="tx1"/>
              </a:solidFill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solidFill>
                  <a:schemeClr val="tx1"/>
                </a:solidFill>
                <a:latin typeface="Arial" panose="020B0604020202020204" pitchFamily="34" charset="0"/>
              </a:rPr>
              <a:t>Example 3: Multiplying Two Numbers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Code snippet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AX, 5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BX, 6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MUL BX </a:t>
            </a:r>
            <a:endParaRPr lang="en-US" altLang="en-US" sz="2100" dirty="0">
              <a:solidFill>
                <a:schemeClr val="tx1"/>
              </a:solidFill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solidFill>
                  <a:schemeClr val="tx1"/>
                </a:solidFill>
                <a:latin typeface="Arial" panose="020B0604020202020204" pitchFamily="34" charset="0"/>
              </a:rPr>
              <a:t>Example 4: Dividing Two Numbers</a:t>
            </a: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Code snippet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AX, 20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MOV BX, 4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schemeClr val="tx1"/>
                </a:solidFill>
                <a:latin typeface="Arial Unicode MS"/>
              </a:rPr>
              <a:t>DIV BX</a:t>
            </a: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25690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571F5C-5E5D-5111-BC8A-ACB9EE53FD5D}"/>
              </a:ext>
            </a:extLst>
          </p:cNvPr>
          <p:cNvSpPr txBox="1"/>
          <p:nvPr/>
        </p:nvSpPr>
        <p:spPr>
          <a:xfrm>
            <a:off x="494818" y="1074276"/>
            <a:ext cx="6374033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/>
              <a:t>Assembly Language Program</a:t>
            </a:r>
          </a:p>
          <a:p>
            <a:endParaRPr lang="en-IN" sz="3000" b="1" dirty="0"/>
          </a:p>
          <a:p>
            <a:r>
              <a:rPr lang="en-IN" sz="3000" b="1" dirty="0"/>
              <a:t> </a:t>
            </a:r>
            <a:r>
              <a:rPr lang="en-IN" sz="2100" b="1" dirty="0"/>
              <a:t>Development Tools</a:t>
            </a:r>
            <a:endParaRPr lang="en-IN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100" b="1" dirty="0"/>
              <a:t>Assemblers:</a:t>
            </a:r>
            <a:r>
              <a:rPr lang="en-IN" sz="2100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2100" dirty="0"/>
              <a:t>MASM (Microsoft Macro Assembler)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2100" dirty="0"/>
              <a:t>TASM (Turbo Assembler)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b="1" dirty="0"/>
              <a:t>Linkers:</a:t>
            </a:r>
            <a:r>
              <a:rPr lang="en-IN" sz="2100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2100" dirty="0"/>
              <a:t>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b="1" dirty="0"/>
              <a:t>Debuggers:</a:t>
            </a:r>
            <a:r>
              <a:rPr lang="en-IN" sz="2100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2100" dirty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245292044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3247C1D-AE07-6C16-8486-26BE9B21A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95699"/>
            <a:ext cx="881122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Applications of 8086 Programming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1. Embedded Systems: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Microcontrollers: Many microcontrollers, especially older ones, are based on 8086-like architectures. Knowledge of 8086 assembly language can be useful for programming these devices for specific tasks.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Real-time Systems: Understanding the timing and synchronization aspects of 8086 programming can be valuable for designing real-time systems.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2. Computer Architecture and Organization: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Understanding Modern Processors: While modern processors are much more complex, understanding the basics of 8086 architecture can provide a solid foundation for understanding the underlying principles of modern processors.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3. Debugging and Reverse Engineering: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Analyzing Legacy Systems: Many legacy systems still use 8086-based processors. Understanding 8086 assembly language can be helpful in debugging and reverse engineering these systems. 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4. Educational Purposes: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dirty="0">
                <a:solidFill>
                  <a:srgbClr val="1F1F1F"/>
                </a:solidFill>
                <a:latin typeface="Google Sans"/>
              </a:rPr>
              <a:t>Teaching Computer Architecture and Assembly Language: 8086 is often used as a teaching tool to introduce students to computer architecture and assembly language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48119448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611F0-3ECE-4FDD-E860-6FB60963AE6C}"/>
              </a:ext>
            </a:extLst>
          </p:cNvPr>
          <p:cNvSpPr txBox="1"/>
          <p:nvPr/>
        </p:nvSpPr>
        <p:spPr>
          <a:xfrm>
            <a:off x="781292" y="1215179"/>
            <a:ext cx="773478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some mini-project ideas that you can explore, incorporating the concepts of 8086 programming:</a:t>
            </a:r>
          </a:p>
          <a:p>
            <a:r>
              <a:rPr lang="en-US" b="1" dirty="0"/>
              <a:t>1. Simple Calculator: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basic calculator that can perform arithmetic operations like addition, subtraction, multiplication, and division.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8086 assembly language to implement the logic for these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the results on the screen or through a simple LED display.</a:t>
            </a:r>
          </a:p>
          <a:p>
            <a:r>
              <a:rPr lang="en-US" b="1" dirty="0"/>
              <a:t>2. Number Guessing Game: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number guessing game where the computer generates a random number, and the user has to guess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8086 instructions to generate random numbers, compare user input, and provide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use a simple LCD display or serial communication to display the game's prompts and results.</a:t>
            </a:r>
          </a:p>
          <a:p>
            <a:r>
              <a:rPr lang="en-US" b="1" dirty="0"/>
              <a:t>3. Traffic Light Simulator: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a traffic light system using 8086 assembly.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LEDs or a simple display to represent the traffic 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 sequence of red, yellow, and green lights with appropriate time delays.</a:t>
            </a:r>
          </a:p>
        </p:txBody>
      </p:sp>
    </p:spTree>
    <p:extLst>
      <p:ext uri="{BB962C8B-B14F-4D97-AF65-F5344CB8AC3E}">
        <p14:creationId xmlns:p14="http://schemas.microsoft.com/office/powerpoint/2010/main" val="95797027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713" y="2587244"/>
            <a:ext cx="2887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AF50"/>
                </a:solidFill>
                <a:latin typeface="Cambria"/>
                <a:cs typeface="Cambria"/>
              </a:rPr>
              <a:t>THANK</a:t>
            </a:r>
            <a:r>
              <a:rPr sz="3600" b="1" spc="-12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3600" b="1" spc="-35" dirty="0">
                <a:solidFill>
                  <a:srgbClr val="00AF50"/>
                </a:solidFill>
                <a:latin typeface="Cambria"/>
                <a:cs typeface="Cambria"/>
              </a:rPr>
              <a:t>YOU…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10565</Words>
  <Application>Microsoft Office PowerPoint</Application>
  <PresentationFormat>On-screen Show (4:3)</PresentationFormat>
  <Paragraphs>1222</Paragraphs>
  <Slides>127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43" baseType="lpstr">
      <vt:lpstr>Arial Unicode MS</vt:lpstr>
      <vt:lpstr>Arial</vt:lpstr>
      <vt:lpstr>Arial MT</vt:lpstr>
      <vt:lpstr>Calibri</vt:lpstr>
      <vt:lpstr>Cambria</vt:lpstr>
      <vt:lpstr>Consolas</vt:lpstr>
      <vt:lpstr>Constantia</vt:lpstr>
      <vt:lpstr>Ebrima</vt:lpstr>
      <vt:lpstr>Google Sans</vt:lpstr>
      <vt:lpstr>Segoe UI Symbol</vt:lpstr>
      <vt:lpstr>Symbol</vt:lpstr>
      <vt:lpstr>Times New Roman</vt:lpstr>
      <vt:lpstr>Trebuchet MS</vt:lpstr>
      <vt:lpstr>Verdana</vt:lpstr>
      <vt:lpstr>Wingdings</vt:lpstr>
      <vt:lpstr>Office Theme</vt:lpstr>
      <vt:lpstr>RAMACHANDRA COLLEGE OF ENGINEERING</vt:lpstr>
      <vt:lpstr>UNIT - I 8086/8088 MICROPROCESSORS :</vt:lpstr>
      <vt:lpstr>What is a Microprocessor?</vt:lpstr>
      <vt:lpstr>PowerPoint Presentation</vt:lpstr>
      <vt:lpstr>PowerPoint Presentation</vt:lpstr>
      <vt:lpstr>PowerPoint Presentation</vt:lpstr>
      <vt:lpstr>APPLICATIONS OF MICROPROCESSORS:</vt:lpstr>
      <vt:lpstr> 2.EVOLUTION OF MICROPROCESSORS</vt:lpstr>
      <vt:lpstr>PowerPoint Presentation</vt:lpstr>
      <vt:lpstr>PowerPoint Presentation</vt:lpstr>
      <vt:lpstr>PowerPoint Presentation</vt:lpstr>
      <vt:lpstr>Features of Microprocessor</vt:lpstr>
      <vt:lpstr>PowerPoint Presentation</vt:lpstr>
      <vt:lpstr>.REGISTER ORGANIZATION OF 8086 MICROPROCESSOR: Register Organization</vt:lpstr>
      <vt:lpstr>a) General purpose data registers</vt:lpstr>
      <vt:lpstr>b) Segment Registers</vt:lpstr>
      <vt:lpstr>c) Index and Point Registers</vt:lpstr>
      <vt:lpstr>d) Flag Registers</vt:lpstr>
      <vt:lpstr>CF:CARRY FLAG</vt:lpstr>
      <vt:lpstr>AF:AUXILARY FLAG</vt:lpstr>
      <vt:lpstr>SF:SF stands for Sign Flag.</vt:lpstr>
      <vt:lpstr>PowerPoint Presentation</vt:lpstr>
      <vt:lpstr>PowerPoint Presentation</vt:lpstr>
      <vt:lpstr>3.ARCHITECTURE OF 8086 MICROPROCESSOR</vt:lpstr>
      <vt:lpstr>C-bus Address summer</vt:lpstr>
      <vt:lpstr>PowerPoint Presentation</vt:lpstr>
      <vt:lpstr>PowerPoint Presentation</vt:lpstr>
      <vt:lpstr>PowerPoint Presentation</vt:lpstr>
      <vt:lpstr>Contains program</vt:lpstr>
      <vt:lpstr>PowerPoint Presentation</vt:lpstr>
      <vt:lpstr>PowerPoint Presentation</vt:lpstr>
      <vt:lpstr>Instruction queue</vt:lpstr>
      <vt:lpstr>PowerPoint Presentation</vt:lpstr>
      <vt:lpstr>CONTROL SYSTEM/UNIT:</vt:lpstr>
      <vt:lpstr>GENERAL PURPOSE REGISTERS:</vt:lpstr>
      <vt:lpstr>OPERAND REGISTERS :</vt:lpstr>
      <vt:lpstr>6.PIN DIAGRAM OF 8086 MICROPROCESSOR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MINIMUM MODE(MN):IT IS ACTIVE HIGH SIGNAL</vt:lpstr>
      <vt:lpstr>PowerPoint Presentation</vt:lpstr>
      <vt:lpstr>MAXIMUM MODE(MX’):</vt:lpstr>
      <vt:lpstr>PowerPoint Presentation</vt:lpstr>
      <vt:lpstr>PowerPoint Presentation</vt:lpstr>
      <vt:lpstr>PowerPoint Presentation</vt:lpstr>
      <vt:lpstr>MINIMUM MODE OPERATION OF 8086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 Cycle</vt:lpstr>
      <vt:lpstr>PowerPoint Presentation</vt:lpstr>
      <vt:lpstr>PowerPoint Presentation</vt:lpstr>
      <vt:lpstr>PowerPoint Presentation</vt:lpstr>
      <vt:lpstr>Write Cycle</vt:lpstr>
      <vt:lpstr>PowerPoint Presentation</vt:lpstr>
      <vt:lpstr>PowerPoint Presentation</vt:lpstr>
      <vt:lpstr>MAXIMUM MODE 8086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Addressing Modes</vt:lpstr>
      <vt:lpstr>8086 Microprocessor</vt:lpstr>
      <vt:lpstr>8086 Microprocessor</vt:lpstr>
      <vt:lpstr>8086 Microprocessor</vt:lpstr>
      <vt:lpstr>8086 Microprocessor</vt:lpstr>
      <vt:lpstr>PowerPoint Presentation</vt:lpstr>
      <vt:lpstr>PowerPoint Presentation</vt:lpstr>
      <vt:lpstr>PowerPoint Presentation</vt:lpstr>
      <vt:lpstr>Based Indexed Displacement Mode</vt:lpstr>
      <vt:lpstr>PowerPoint Presentation</vt:lpstr>
      <vt:lpstr>PowerPoint Presentation</vt:lpstr>
      <vt:lpstr>8086 Microprocessor</vt:lpstr>
      <vt:lpstr>PowerPoint Presentation</vt:lpstr>
      <vt:lpstr>Find Physical Address ???</vt:lpstr>
      <vt:lpstr>PowerPoint Presentation</vt:lpstr>
      <vt:lpstr>8086 MICROPROCESSOR MODES OF OPERATION</vt:lpstr>
      <vt:lpstr>PowerPoint Presentation</vt:lpstr>
      <vt:lpstr>PowerPoint Presentation</vt:lpstr>
      <vt:lpstr>PowerPoint Presentation</vt:lpstr>
      <vt:lpstr>PowerPoint Presentation</vt:lpstr>
      <vt:lpstr>1.Arithmetic instructions in 8086 microprocessor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3.Logical Instructions</vt:lpstr>
      <vt:lpstr>PowerPoint Presentation</vt:lpstr>
      <vt:lpstr>PowerPoint Presentation</vt:lpstr>
      <vt:lpstr>PowerPoint Presentation</vt:lpstr>
      <vt:lpstr>7.ROL Des, Count:</vt:lpstr>
      <vt:lpstr>8.ROR Des, Count:</vt:lpstr>
      <vt:lpstr>4.Control Transfer Instructions</vt:lpstr>
      <vt:lpstr>PowerPoint Presentation</vt:lpstr>
      <vt:lpstr>Conditional Jump Table</vt:lpstr>
      <vt:lpstr>5.String Manipulation Instructions</vt:lpstr>
      <vt:lpstr>PowerPoint Presentation</vt:lpstr>
      <vt:lpstr>6.Processor Control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arepa</dc:creator>
  <cp:lastModifiedBy>arepallirama@outlook.com</cp:lastModifiedBy>
  <cp:revision>23</cp:revision>
  <dcterms:created xsi:type="dcterms:W3CDTF">2025-07-06T13:10:07Z</dcterms:created>
  <dcterms:modified xsi:type="dcterms:W3CDTF">2025-07-06T14:45:02Z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2025-07-06T00:00:00Z</vt:filetime>
  </property>
  <property fmtid="{D5CDD505-2E9C-101B-9397-08002B2CF9AE}" pid="3" name="LastSaved">
    <vt:filetime>2025-07-06T00:00:00Z</vt:filetime>
  </property>
  <property fmtid="{D5CDD505-2E9C-101B-9397-08002B2CF9AE}" pid="4" name="Producer">
    <vt:lpwstr>iLovePDF</vt:lpwstr>
  </property>
</Properties>
</file>