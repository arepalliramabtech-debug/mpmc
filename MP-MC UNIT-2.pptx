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4" d="100"/>
          <a:sy n="34" d="100"/>
        </p:scale>
        <p:origin x="2316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021F6-9FEE-4E88-A9D4-7B6CB94ABB8B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8263"/>
            <a:ext cx="2549525" cy="360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9850"/>
            <a:ext cx="6045200" cy="4213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6317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6317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883E8-184E-4F20-AFC1-FE78F9CCB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366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035427"/>
            <a:ext cx="6428422" cy="20562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483352"/>
            <a:ext cx="5293995" cy="2447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39EE6-3D3F-4DDA-886A-71F567612BB4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25856-22DC-4AD1-A567-7273A1711CE1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252091"/>
            <a:ext cx="3289839" cy="6462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252091"/>
            <a:ext cx="3289839" cy="6462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D5647-8F9C-49FB-8B53-E71F1F162C22}" type="datetime1">
              <a:rPr lang="en-US" smtClean="0"/>
              <a:t>7/6/2025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AE67A-492A-45F9-85B8-4D0A2C118D78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C355E-E51F-4B6B-B5D4-75886C0CE8F8}" type="datetime1">
              <a:rPr lang="en-US" smtClean="0"/>
              <a:t>7/6/2025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391668"/>
            <a:ext cx="6806565" cy="1566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252091"/>
            <a:ext cx="6806565" cy="6462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106281"/>
            <a:ext cx="2420112" cy="489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106281"/>
            <a:ext cx="1739455" cy="489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EA479-4B88-4C17-8E88-C490F98466E5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11836" y="10225789"/>
            <a:ext cx="287020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ntufastupdates.com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ntufastupdates.com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ntufastupdates.com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9680" y="360956"/>
            <a:ext cx="6366510" cy="848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latin typeface="Times New Roman"/>
                <a:cs typeface="Times New Roman"/>
              </a:rPr>
              <a:t>UNIT</a:t>
            </a:r>
            <a:r>
              <a:rPr sz="1750" b="1" spc="-1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– II: </a:t>
            </a:r>
            <a:r>
              <a:rPr sz="17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8086</a:t>
            </a:r>
            <a:r>
              <a:rPr sz="175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5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PROGRAMMING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</a:t>
            </a:r>
            <a:r>
              <a:rPr sz="1350" b="1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r>
              <a:rPr sz="1350" b="1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Steps: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350" dirty="0">
                <a:latin typeface="Times New Roman"/>
                <a:cs typeface="Times New Roman"/>
              </a:rPr>
              <a:t>Major</a:t>
            </a:r>
            <a:r>
              <a:rPr sz="1350" spc="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steps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in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developing</a:t>
            </a:r>
            <a:r>
              <a:rPr sz="1350" spc="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an</a:t>
            </a:r>
            <a:r>
              <a:rPr sz="1350" spc="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assembly</a:t>
            </a:r>
            <a:r>
              <a:rPr sz="1350" spc="-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language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program</a:t>
            </a:r>
            <a:endParaRPr sz="13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1545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Defining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Problem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40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Representing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operations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Finding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right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instructions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40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Writing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program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50" b="1" dirty="0">
                <a:latin typeface="Times New Roman"/>
                <a:cs typeface="Times New Roman"/>
              </a:rPr>
              <a:t>Defining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the</a:t>
            </a:r>
            <a:r>
              <a:rPr sz="1150" b="1" spc="3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problems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15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Find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out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problem.</a:t>
            </a:r>
            <a:endParaRPr sz="1150">
              <a:latin typeface="Times New Roman"/>
              <a:cs typeface="Times New Roman"/>
            </a:endParaRPr>
          </a:p>
          <a:p>
            <a:pPr marL="1719580" marR="415925" indent="-817244">
              <a:lnSpc>
                <a:spcPts val="1340"/>
              </a:lnSpc>
              <a:spcBef>
                <a:spcPts val="695"/>
              </a:spcBef>
            </a:pP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example: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Sensing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temperature,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detecting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fire,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detecting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smock,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decoder-</a:t>
            </a:r>
            <a:r>
              <a:rPr sz="1150" spc="-10" dirty="0">
                <a:latin typeface="Times New Roman"/>
                <a:cs typeface="Times New Roman"/>
              </a:rPr>
              <a:t>encoder, </a:t>
            </a:r>
            <a:r>
              <a:rPr sz="1150" dirty="0">
                <a:latin typeface="Times New Roman"/>
                <a:cs typeface="Times New Roman"/>
              </a:rPr>
              <a:t>Intelligent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machine controller </a:t>
            </a:r>
            <a:r>
              <a:rPr sz="1150" spc="-20" dirty="0">
                <a:latin typeface="Times New Roman"/>
                <a:cs typeface="Times New Roman"/>
              </a:rPr>
              <a:t>etc.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150" b="1" dirty="0">
                <a:latin typeface="Times New Roman"/>
                <a:cs typeface="Times New Roman"/>
              </a:rPr>
              <a:t>Representing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program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operations</a:t>
            </a:r>
            <a:endParaRPr sz="1150">
              <a:latin typeface="Times New Roman"/>
              <a:cs typeface="Times New Roman"/>
            </a:endParaRPr>
          </a:p>
          <a:p>
            <a:pPr marL="457200" marR="5715" indent="-222885">
              <a:lnSpc>
                <a:spcPts val="2010"/>
              </a:lnSpc>
              <a:spcBef>
                <a:spcPts val="160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Formula</a:t>
            </a:r>
            <a:r>
              <a:rPr sz="1150" spc="3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or</a:t>
            </a:r>
            <a:r>
              <a:rPr sz="1150" spc="3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sequence</a:t>
            </a:r>
            <a:r>
              <a:rPr sz="1150" spc="3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3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operations</a:t>
            </a:r>
            <a:r>
              <a:rPr sz="1150" spc="3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3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3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solve</a:t>
            </a:r>
            <a:r>
              <a:rPr sz="1150" spc="3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3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programming</a:t>
            </a:r>
            <a:r>
              <a:rPr sz="1150" spc="3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problem</a:t>
            </a:r>
            <a:r>
              <a:rPr sz="1150" spc="40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3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called</a:t>
            </a:r>
            <a:r>
              <a:rPr sz="1150" spc="3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</a:t>
            </a:r>
            <a:r>
              <a:rPr sz="1150" spc="37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the </a:t>
            </a:r>
            <a:r>
              <a:rPr sz="1150" spc="-10" dirty="0">
                <a:latin typeface="Times New Roman"/>
                <a:cs typeface="Times New Roman"/>
              </a:rPr>
              <a:t>algorithm.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465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There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are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two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ways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representing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algorithms:</a:t>
            </a:r>
            <a:endParaRPr sz="1150">
              <a:latin typeface="Times New Roman"/>
              <a:cs typeface="Times New Roman"/>
            </a:endParaRPr>
          </a:p>
          <a:p>
            <a:pPr marL="902335" lvl="1" indent="-277495">
              <a:lnSpc>
                <a:spcPct val="100000"/>
              </a:lnSpc>
              <a:spcBef>
                <a:spcPts val="630"/>
              </a:spcBef>
              <a:buChar char="-"/>
              <a:tabLst>
                <a:tab pos="902335" algn="l"/>
              </a:tabLst>
            </a:pPr>
            <a:r>
              <a:rPr sz="1150" spc="-10" dirty="0">
                <a:latin typeface="Times New Roman"/>
                <a:cs typeface="Times New Roman"/>
              </a:rPr>
              <a:t>Flowchart</a:t>
            </a:r>
            <a:endParaRPr sz="1150">
              <a:latin typeface="Times New Roman"/>
              <a:cs typeface="Times New Roman"/>
            </a:endParaRPr>
          </a:p>
          <a:p>
            <a:pPr marL="902335" lvl="1" indent="-277495">
              <a:lnSpc>
                <a:spcPct val="100000"/>
              </a:lnSpc>
              <a:spcBef>
                <a:spcPts val="640"/>
              </a:spcBef>
              <a:buChar char="-"/>
              <a:tabLst>
                <a:tab pos="902335" algn="l"/>
              </a:tabLst>
            </a:pPr>
            <a:r>
              <a:rPr sz="1150" dirty="0">
                <a:latin typeface="Times New Roman"/>
                <a:cs typeface="Times New Roman"/>
              </a:rPr>
              <a:t>Structured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programming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pseudo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code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50" b="1" dirty="0">
                <a:latin typeface="Times New Roman"/>
                <a:cs typeface="Times New Roman"/>
              </a:rPr>
              <a:t>Finding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the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right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instructions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15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Instructions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8086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are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mainly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divided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following </a:t>
            </a:r>
            <a:r>
              <a:rPr sz="1150" spc="-10" dirty="0">
                <a:latin typeface="Times New Roman"/>
                <a:cs typeface="Times New Roman"/>
              </a:rPr>
              <a:t>categories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Transfer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Instructions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30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Arithmetic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Instruction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40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Bit manipulation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Instruction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30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String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Instruction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40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execution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transfer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Instruction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30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Processor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control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Instruction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50" b="1" dirty="0">
                <a:latin typeface="Times New Roman"/>
                <a:cs typeface="Times New Roman"/>
              </a:rPr>
              <a:t>Writing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program</a:t>
            </a:r>
            <a:endParaRPr sz="115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05"/>
              </a:spcBef>
              <a:buChar char="•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We need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following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steps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write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effectively:</a:t>
            </a:r>
            <a:endParaRPr sz="1150">
              <a:latin typeface="Times New Roman"/>
              <a:cs typeface="Times New Roman"/>
            </a:endParaRPr>
          </a:p>
          <a:p>
            <a:pPr marL="847725" marR="5080" lvl="1" indent="-278765">
              <a:lnSpc>
                <a:spcPct val="145500"/>
              </a:lnSpc>
              <a:spcBef>
                <a:spcPts val="15"/>
              </a:spcBef>
              <a:buChar char="-"/>
              <a:tabLst>
                <a:tab pos="847725" algn="l"/>
              </a:tabLst>
            </a:pPr>
            <a:r>
              <a:rPr sz="1150" dirty="0">
                <a:latin typeface="Times New Roman"/>
                <a:cs typeface="Times New Roman"/>
              </a:rPr>
              <a:t>INITIALIZATION</a:t>
            </a:r>
            <a:r>
              <a:rPr sz="1150" spc="204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INSTRUCTIONS:</a:t>
            </a:r>
            <a:r>
              <a:rPr sz="1150" spc="20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19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20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initialize</a:t>
            </a:r>
            <a:r>
              <a:rPr sz="1150" spc="19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various</a:t>
            </a:r>
            <a:r>
              <a:rPr sz="1150" spc="20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parts</a:t>
            </a:r>
            <a:r>
              <a:rPr sz="1150" spc="20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1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9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20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like </a:t>
            </a:r>
            <a:r>
              <a:rPr sz="1150" dirty="0">
                <a:latin typeface="Times New Roman"/>
                <a:cs typeface="Times New Roman"/>
              </a:rPr>
              <a:t>segment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registers,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flags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programmable port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devices.</a:t>
            </a:r>
            <a:endParaRPr sz="1150">
              <a:latin typeface="Times New Roman"/>
              <a:cs typeface="Times New Roman"/>
            </a:endParaRPr>
          </a:p>
          <a:p>
            <a:pPr marL="847725" marR="5715" lvl="1" indent="-278765">
              <a:lnSpc>
                <a:spcPct val="145500"/>
              </a:lnSpc>
              <a:spcBef>
                <a:spcPts val="10"/>
              </a:spcBef>
              <a:buChar char="-"/>
              <a:tabLst>
                <a:tab pos="847725" algn="l"/>
              </a:tabLst>
            </a:pPr>
            <a:r>
              <a:rPr sz="1150" dirty="0">
                <a:latin typeface="Times New Roman"/>
                <a:cs typeface="Times New Roman"/>
              </a:rPr>
              <a:t>STANDARD</a:t>
            </a:r>
            <a:r>
              <a:rPr sz="1150" spc="1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1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FORMAT:</a:t>
            </a:r>
            <a:r>
              <a:rPr sz="1150" spc="1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it’s</a:t>
            </a:r>
            <a:r>
              <a:rPr sz="1150" spc="1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tabular</a:t>
            </a:r>
            <a:r>
              <a:rPr sz="1150" spc="1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format</a:t>
            </a:r>
            <a:r>
              <a:rPr sz="1150" spc="19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containing</a:t>
            </a:r>
            <a:r>
              <a:rPr sz="1150" spc="1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ADDRESS,</a:t>
            </a:r>
            <a:r>
              <a:rPr sz="1150" spc="18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DATA </a:t>
            </a:r>
            <a:r>
              <a:rPr sz="1150" dirty="0">
                <a:latin typeface="Times New Roman"/>
                <a:cs typeface="Times New Roman"/>
              </a:rPr>
              <a:t>OR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CODE,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LABELS,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MNEM,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OPERAND(S)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COMMENTS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columns.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3536" y="9325987"/>
            <a:ext cx="121920" cy="219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5"/>
              </a:lnSpc>
            </a:pPr>
            <a:r>
              <a:rPr sz="1350" spc="-50" dirty="0">
                <a:latin typeface="Arial MT"/>
                <a:cs typeface="Arial MT"/>
              </a:rPr>
              <a:t>1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3F443-BE17-9E38-2EED-0B324B8F95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n-IN" spc="-25" smtClean="0"/>
              <a:t>1</a:t>
            </a:fld>
            <a:endParaRPr lang="en-IN"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36" y="73152"/>
            <a:ext cx="7155180" cy="1046073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88" y="137160"/>
            <a:ext cx="7095744" cy="104333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76" y="179579"/>
            <a:ext cx="7127748" cy="1052017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210312"/>
            <a:ext cx="6853428" cy="103418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00584"/>
            <a:ext cx="7082028" cy="104378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374904"/>
            <a:ext cx="7004304" cy="10172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84" y="123444"/>
            <a:ext cx="6963156" cy="104927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" y="256032"/>
            <a:ext cx="7132320" cy="102961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2" y="73152"/>
            <a:ext cx="7132320" cy="103784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7" y="196596"/>
            <a:ext cx="7191756" cy="1040587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" y="73152"/>
            <a:ext cx="7196328" cy="104744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30709" y="10225789"/>
            <a:ext cx="210121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 MT"/>
                <a:cs typeface="Arial MT"/>
                <a:hlinkClick r:id="rId3"/>
              </a:rPr>
              <a:t>m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95" y="86868"/>
            <a:ext cx="7123176" cy="104927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30709" y="10225789"/>
            <a:ext cx="210121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 MT"/>
                <a:cs typeface="Arial MT"/>
                <a:hlinkClick r:id="rId3"/>
              </a:rPr>
              <a:t>m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027" y="109728"/>
            <a:ext cx="6839712" cy="104287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620" y="228600"/>
            <a:ext cx="6931152" cy="103510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109728"/>
            <a:ext cx="6862572" cy="105018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" y="73152"/>
            <a:ext cx="7200900" cy="105018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24" y="80648"/>
            <a:ext cx="6871716" cy="1036929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" y="205740"/>
            <a:ext cx="7059168" cy="103281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84" y="86868"/>
            <a:ext cx="6899148" cy="105110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772" y="214884"/>
            <a:ext cx="6835140" cy="103281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" y="96012"/>
            <a:ext cx="6807708" cy="103418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48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772" y="365760"/>
            <a:ext cx="6821424" cy="101818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" y="123444"/>
            <a:ext cx="6890004" cy="104241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251460"/>
            <a:ext cx="6839712" cy="103281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30709" y="10225789"/>
            <a:ext cx="210121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spc="-10" dirty="0">
                <a:latin typeface="Arial MT"/>
                <a:cs typeface="Arial MT"/>
                <a:hlinkClick r:id="rId3"/>
              </a:rPr>
              <a:t>m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51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5" y="118872"/>
            <a:ext cx="6963156" cy="10515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" y="219456"/>
            <a:ext cx="7214616" cy="103144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53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452" y="73152"/>
            <a:ext cx="7008876" cy="105613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r>
              <a:rPr spc="-25" dirty="0"/>
              <a:t>54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441929" y="9325987"/>
            <a:ext cx="281305" cy="219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05"/>
              </a:lnSpc>
            </a:pPr>
            <a:r>
              <a:rPr sz="1350" spc="-25" dirty="0">
                <a:latin typeface="Arial MT"/>
                <a:cs typeface="Arial MT"/>
              </a:rPr>
              <a:t>55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254" y="363921"/>
            <a:ext cx="5808345" cy="8910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Assembly</a:t>
            </a:r>
            <a:r>
              <a:rPr sz="1350" b="1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sz="1350" b="1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</a:t>
            </a:r>
            <a:r>
              <a:rPr sz="135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r>
              <a:rPr sz="1350" b="1" u="sng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Tools: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350">
              <a:latin typeface="Times New Roman"/>
              <a:cs typeface="Times New Roman"/>
            </a:endParaRPr>
          </a:p>
          <a:p>
            <a:pPr marL="160020" indent="-147320">
              <a:lnSpc>
                <a:spcPct val="100000"/>
              </a:lnSpc>
              <a:buAutoNum type="arabicPeriod"/>
              <a:tabLst>
                <a:tab pos="160020" algn="l"/>
              </a:tabLst>
            </a:pPr>
            <a:r>
              <a:rPr sz="1150" b="1" spc="-10" dirty="0">
                <a:latin typeface="Times New Roman"/>
                <a:cs typeface="Times New Roman"/>
              </a:rPr>
              <a:t>Editor</a:t>
            </a:r>
            <a:endParaRPr sz="1150">
              <a:latin typeface="Times New Roman"/>
              <a:cs typeface="Times New Roman"/>
            </a:endParaRPr>
          </a:p>
          <a:p>
            <a:pPr marL="457200" marR="5715" lvl="1" indent="-222885">
              <a:lnSpc>
                <a:spcPts val="2020"/>
              </a:lnSpc>
              <a:spcBef>
                <a:spcPts val="140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An</a:t>
            </a:r>
            <a:r>
              <a:rPr sz="1150" spc="3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editor</a:t>
            </a:r>
            <a:r>
              <a:rPr sz="1150" spc="3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3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3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3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which</a:t>
            </a:r>
            <a:r>
              <a:rPr sz="1150" spc="3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3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3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3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create</a:t>
            </a:r>
            <a:r>
              <a:rPr sz="1150" spc="3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3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3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containing</a:t>
            </a:r>
            <a:r>
              <a:rPr sz="1150" spc="3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3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assembly </a:t>
            </a:r>
            <a:r>
              <a:rPr sz="1150" dirty="0">
                <a:latin typeface="Times New Roman"/>
                <a:cs typeface="Times New Roman"/>
              </a:rPr>
              <a:t>language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statements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program.</a:t>
            </a:r>
            <a:endParaRPr sz="1150">
              <a:latin typeface="Times New Roman"/>
              <a:cs typeface="Times New Roman"/>
            </a:endParaRPr>
          </a:p>
          <a:p>
            <a:pPr marL="901700">
              <a:lnSpc>
                <a:spcPct val="100000"/>
              </a:lnSpc>
              <a:spcBef>
                <a:spcPts val="455"/>
              </a:spcBef>
            </a:pPr>
            <a:r>
              <a:rPr sz="1150" dirty="0">
                <a:latin typeface="Times New Roman"/>
                <a:cs typeface="Times New Roman"/>
              </a:rPr>
              <a:t>Example: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PC-Write,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Wordstar.</a:t>
            </a:r>
            <a:endParaRPr sz="1150">
              <a:latin typeface="Times New Roman"/>
              <a:cs typeface="Times New Roman"/>
            </a:endParaRPr>
          </a:p>
          <a:p>
            <a:pPr marL="457200" marR="8255" lvl="1" indent="-222885">
              <a:lnSpc>
                <a:spcPct val="145500"/>
              </a:lnSpc>
              <a:spcBef>
                <a:spcPts val="15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As</a:t>
            </a:r>
            <a:r>
              <a:rPr sz="1150" spc="2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2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type</a:t>
            </a:r>
            <a:r>
              <a:rPr sz="1150" spc="2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2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your</a:t>
            </a:r>
            <a:r>
              <a:rPr sz="1150" spc="2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program,</a:t>
            </a:r>
            <a:r>
              <a:rPr sz="1150" spc="2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editor</a:t>
            </a:r>
            <a:r>
              <a:rPr sz="1150" spc="2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stores</a:t>
            </a:r>
            <a:r>
              <a:rPr sz="1150" spc="2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ASCII</a:t>
            </a:r>
            <a:r>
              <a:rPr sz="1150" spc="254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codes</a:t>
            </a:r>
            <a:r>
              <a:rPr sz="1150" spc="2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2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letters</a:t>
            </a:r>
            <a:r>
              <a:rPr sz="1150" spc="28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and </a:t>
            </a:r>
            <a:r>
              <a:rPr sz="1150" dirty="0">
                <a:latin typeface="Times New Roman"/>
                <a:cs typeface="Times New Roman"/>
              </a:rPr>
              <a:t>numbers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successive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RAM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locations.</a:t>
            </a:r>
            <a:endParaRPr sz="115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640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When</a:t>
            </a:r>
            <a:r>
              <a:rPr sz="1150" spc="1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1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have</a:t>
            </a:r>
            <a:r>
              <a:rPr sz="1150" spc="1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typed</a:t>
            </a:r>
            <a:r>
              <a:rPr sz="1150" spc="1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1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your</a:t>
            </a:r>
            <a:r>
              <a:rPr sz="1150" spc="1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entire</a:t>
            </a:r>
            <a:r>
              <a:rPr sz="1150" spc="1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program,</a:t>
            </a:r>
            <a:r>
              <a:rPr sz="1150" spc="1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1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then</a:t>
            </a:r>
            <a:r>
              <a:rPr sz="1150" spc="1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save</a:t>
            </a:r>
            <a:r>
              <a:rPr sz="1150" spc="1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1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on</a:t>
            </a:r>
            <a:r>
              <a:rPr sz="1150" spc="1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hard</a:t>
            </a:r>
            <a:r>
              <a:rPr sz="1150" spc="15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disk.</a:t>
            </a:r>
            <a:endParaRPr sz="115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625"/>
              </a:spcBef>
            </a:pP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called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source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extension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.asm.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150">
              <a:latin typeface="Times New Roman"/>
              <a:cs typeface="Times New Roman"/>
            </a:endParaRPr>
          </a:p>
          <a:p>
            <a:pPr marL="160020" indent="-147320" algn="just">
              <a:lnSpc>
                <a:spcPct val="100000"/>
              </a:lnSpc>
              <a:buAutoNum type="arabicPeriod" startAt="2"/>
              <a:tabLst>
                <a:tab pos="160020" algn="l"/>
              </a:tabLst>
            </a:pPr>
            <a:r>
              <a:rPr sz="1150" b="1" spc="-10" dirty="0">
                <a:latin typeface="Times New Roman"/>
                <a:cs typeface="Times New Roman"/>
              </a:rPr>
              <a:t>Assembler</a:t>
            </a:r>
            <a:endParaRPr sz="1150">
              <a:latin typeface="Times New Roman"/>
              <a:cs typeface="Times New Roman"/>
            </a:endParaRPr>
          </a:p>
          <a:p>
            <a:pPr marL="455930" marR="7620" indent="-221615" algn="just">
              <a:lnSpc>
                <a:spcPct val="145900"/>
              </a:lnSpc>
              <a:spcBef>
                <a:spcPts val="55"/>
              </a:spcBef>
              <a:buFont typeface="Symbol"/>
              <a:buChar char="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An</a:t>
            </a:r>
            <a:r>
              <a:rPr sz="1150" spc="39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assembler</a:t>
            </a:r>
            <a:r>
              <a:rPr sz="1150" spc="39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409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40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39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40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translate</a:t>
            </a:r>
            <a:r>
              <a:rPr sz="1150" spc="39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39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assembly</a:t>
            </a:r>
            <a:r>
              <a:rPr sz="1150" spc="3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language</a:t>
            </a:r>
            <a:r>
              <a:rPr sz="1150" spc="40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mnemonics</a:t>
            </a:r>
            <a:r>
              <a:rPr sz="1150" spc="39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for 	</a:t>
            </a:r>
            <a:r>
              <a:rPr sz="1150" dirty="0">
                <a:latin typeface="Times New Roman"/>
                <a:cs typeface="Times New Roman"/>
              </a:rPr>
              <a:t>instructions</a:t>
            </a:r>
            <a:r>
              <a:rPr sz="1150" spc="229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2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corresponding</a:t>
            </a:r>
            <a:r>
              <a:rPr sz="1150" spc="2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binary</a:t>
            </a:r>
            <a:r>
              <a:rPr sz="1150" spc="2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codes.</a:t>
            </a:r>
            <a:r>
              <a:rPr sz="1150" spc="2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When</a:t>
            </a:r>
            <a:r>
              <a:rPr sz="1150" spc="2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2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run</a:t>
            </a:r>
            <a:r>
              <a:rPr sz="1150" spc="2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assembler,</a:t>
            </a:r>
            <a:r>
              <a:rPr sz="1150" spc="2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2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reads</a:t>
            </a:r>
            <a:r>
              <a:rPr sz="1150" spc="22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the 	</a:t>
            </a:r>
            <a:r>
              <a:rPr sz="1150" dirty="0">
                <a:latin typeface="Times New Roman"/>
                <a:cs typeface="Times New Roman"/>
              </a:rPr>
              <a:t>source file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your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from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 disk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where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have saved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after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editing.</a:t>
            </a:r>
            <a:endParaRPr sz="1150">
              <a:latin typeface="Times New Roman"/>
              <a:cs typeface="Times New Roman"/>
            </a:endParaRPr>
          </a:p>
          <a:p>
            <a:pPr marL="455930" marR="9525" indent="-221615" algn="just">
              <a:lnSpc>
                <a:spcPct val="145500"/>
              </a:lnSpc>
              <a:spcBef>
                <a:spcPts val="95"/>
              </a:spcBef>
              <a:buFont typeface="Symbol"/>
              <a:buChar char="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On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first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pass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through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source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program,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assembler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determines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6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displacement 	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named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items,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offset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labels,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etc.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puts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information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symbol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table.</a:t>
            </a:r>
            <a:endParaRPr sz="1150">
              <a:latin typeface="Times New Roman"/>
              <a:cs typeface="Times New Roman"/>
            </a:endParaRPr>
          </a:p>
          <a:p>
            <a:pPr marL="455930" marR="6985" indent="-221615" algn="just">
              <a:lnSpc>
                <a:spcPct val="146400"/>
              </a:lnSpc>
              <a:spcBef>
                <a:spcPts val="80"/>
              </a:spcBef>
              <a:buFont typeface="Symbol"/>
              <a:buChar char="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On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second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pass</a:t>
            </a:r>
            <a:r>
              <a:rPr sz="1150" spc="9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through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source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program,</a:t>
            </a:r>
            <a:r>
              <a:rPr sz="1150" spc="10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assembler</a:t>
            </a:r>
            <a:r>
              <a:rPr sz="1150" spc="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produces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binary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code 	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each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instruction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inserts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 offsets,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etc.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that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it calculated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during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first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pass.</a:t>
            </a:r>
            <a:endParaRPr sz="1150">
              <a:latin typeface="Times New Roman"/>
              <a:cs typeface="Times New Roman"/>
            </a:endParaRPr>
          </a:p>
          <a:p>
            <a:pPr marL="455930" marR="8255" indent="-221615" algn="just">
              <a:lnSpc>
                <a:spcPct val="145500"/>
              </a:lnSpc>
              <a:spcBef>
                <a:spcPts val="5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assembler</a:t>
            </a:r>
            <a:r>
              <a:rPr sz="1150" spc="1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generates</a:t>
            </a:r>
            <a:r>
              <a:rPr sz="1150" spc="1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2</a:t>
            </a:r>
            <a:r>
              <a:rPr sz="1150" spc="1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files</a:t>
            </a:r>
            <a:r>
              <a:rPr sz="1150" spc="1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on</a:t>
            </a:r>
            <a:r>
              <a:rPr sz="1150" spc="1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floppy</a:t>
            </a:r>
            <a:r>
              <a:rPr sz="1150" spc="114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disk</a:t>
            </a:r>
            <a:r>
              <a:rPr sz="1150" spc="1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or</a:t>
            </a:r>
            <a:r>
              <a:rPr sz="1150" spc="1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hard</a:t>
            </a:r>
            <a:r>
              <a:rPr sz="1150" spc="1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disk.</a:t>
            </a:r>
            <a:r>
              <a:rPr sz="1150" spc="1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first</a:t>
            </a:r>
            <a:r>
              <a:rPr sz="1150" spc="1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1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15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called 	</a:t>
            </a:r>
            <a:r>
              <a:rPr sz="1150" dirty="0">
                <a:latin typeface="Times New Roman"/>
                <a:cs typeface="Times New Roman"/>
              </a:rPr>
              <a:t>object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(.obj).</a:t>
            </a:r>
            <a:endParaRPr sz="1150">
              <a:latin typeface="Times New Roman"/>
              <a:cs typeface="Times New Roman"/>
            </a:endParaRPr>
          </a:p>
          <a:p>
            <a:pPr marL="455930" marR="10160" indent="-221615" algn="just">
              <a:lnSpc>
                <a:spcPct val="145500"/>
              </a:lnSpc>
              <a:spcBef>
                <a:spcPts val="10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29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second</a:t>
            </a:r>
            <a:r>
              <a:rPr sz="1150" spc="2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2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generated</a:t>
            </a:r>
            <a:r>
              <a:rPr sz="1150" spc="2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by</a:t>
            </a:r>
            <a:r>
              <a:rPr sz="1150" spc="229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assembler</a:t>
            </a:r>
            <a:r>
              <a:rPr sz="1150" spc="229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2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called</a:t>
            </a:r>
            <a:r>
              <a:rPr sz="1150" spc="2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assembler</a:t>
            </a:r>
            <a:r>
              <a:rPr sz="1150" spc="2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list</a:t>
            </a:r>
            <a:r>
              <a:rPr sz="1150" spc="2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2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2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2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given 	</a:t>
            </a:r>
            <a:r>
              <a:rPr sz="1150" dirty="0">
                <a:latin typeface="Times New Roman"/>
                <a:cs typeface="Times New Roman"/>
              </a:rPr>
              <a:t>extension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(.lst).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50">
              <a:latin typeface="Times New Roman"/>
              <a:cs typeface="Times New Roman"/>
            </a:endParaRPr>
          </a:p>
          <a:p>
            <a:pPr marL="160020" indent="-14732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160020" algn="l"/>
              </a:tabLst>
            </a:pPr>
            <a:r>
              <a:rPr sz="1150" b="1" spc="-10" dirty="0">
                <a:latin typeface="Times New Roman"/>
                <a:cs typeface="Times New Roman"/>
              </a:rPr>
              <a:t>Linker</a:t>
            </a:r>
            <a:endParaRPr sz="115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605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linker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join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several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object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one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large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object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file.</a:t>
            </a:r>
            <a:endParaRPr sz="1150">
              <a:latin typeface="Times New Roman"/>
              <a:cs typeface="Times New Roman"/>
            </a:endParaRPr>
          </a:p>
          <a:p>
            <a:pPr marL="457200" marR="10160" lvl="1" indent="-222885">
              <a:lnSpc>
                <a:spcPct val="145700"/>
              </a:lnSpc>
              <a:spcBef>
                <a:spcPts val="5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linker</a:t>
            </a:r>
            <a:r>
              <a:rPr sz="1150" spc="2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produces</a:t>
            </a:r>
            <a:r>
              <a:rPr sz="1150" spc="2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2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link</a:t>
            </a:r>
            <a:r>
              <a:rPr sz="1150" spc="2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2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which</a:t>
            </a:r>
            <a:r>
              <a:rPr sz="1150" spc="2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contains</a:t>
            </a:r>
            <a:r>
              <a:rPr sz="1150" spc="2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binary</a:t>
            </a:r>
            <a:r>
              <a:rPr sz="1150" spc="19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codes</a:t>
            </a:r>
            <a:r>
              <a:rPr sz="1150" spc="2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2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</a:t>
            </a:r>
            <a:r>
              <a:rPr sz="1150" spc="2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combined modules.</a:t>
            </a:r>
            <a:endParaRPr sz="1150">
              <a:latin typeface="Times New Roman"/>
              <a:cs typeface="Times New Roman"/>
            </a:endParaRPr>
          </a:p>
          <a:p>
            <a:pPr marL="457200" marR="8255" lvl="1" indent="-222885">
              <a:lnSpc>
                <a:spcPct val="145500"/>
              </a:lnSpc>
              <a:spcBef>
                <a:spcPts val="15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linker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also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produces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link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map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which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contains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address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information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about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the </a:t>
            </a:r>
            <a:r>
              <a:rPr sz="1150" dirty="0">
                <a:latin typeface="Times New Roman"/>
                <a:cs typeface="Times New Roman"/>
              </a:rPr>
              <a:t>linked files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(.exe).</a:t>
            </a:r>
            <a:endParaRPr sz="11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80"/>
              </a:spcBef>
              <a:buFont typeface="Times New Roman"/>
              <a:buChar char="-"/>
            </a:pPr>
            <a:endParaRPr sz="1150">
              <a:latin typeface="Times New Roman"/>
              <a:cs typeface="Times New Roman"/>
            </a:endParaRPr>
          </a:p>
          <a:p>
            <a:pPr marL="160020" indent="-147320">
              <a:lnSpc>
                <a:spcPct val="100000"/>
              </a:lnSpc>
              <a:buAutoNum type="arabicPeriod" startAt="3"/>
              <a:tabLst>
                <a:tab pos="160020" algn="l"/>
              </a:tabLst>
            </a:pPr>
            <a:r>
              <a:rPr sz="1150" b="1" spc="-10" dirty="0">
                <a:latin typeface="Times New Roman"/>
                <a:cs typeface="Times New Roman"/>
              </a:rPr>
              <a:t>Locator</a:t>
            </a:r>
            <a:endParaRPr sz="1150">
              <a:latin typeface="Times New Roman"/>
              <a:cs typeface="Times New Roman"/>
            </a:endParaRPr>
          </a:p>
          <a:p>
            <a:pPr marL="457200" marR="8255" indent="-222885">
              <a:lnSpc>
                <a:spcPct val="146300"/>
              </a:lnSpc>
              <a:spcBef>
                <a:spcPts val="50"/>
              </a:spcBef>
              <a:buFont typeface="Symbol"/>
              <a:buChar char="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locator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assign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specific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address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where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segments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object </a:t>
            </a:r>
            <a:r>
              <a:rPr sz="1150" dirty="0">
                <a:latin typeface="Times New Roman"/>
                <a:cs typeface="Times New Roman"/>
              </a:rPr>
              <a:t>code are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loaded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memory.</a:t>
            </a:r>
            <a:endParaRPr sz="1150">
              <a:latin typeface="Times New Roman"/>
              <a:cs typeface="Times New Roman"/>
            </a:endParaRPr>
          </a:p>
          <a:p>
            <a:pPr marL="457200" marR="5080" indent="-222885">
              <a:lnSpc>
                <a:spcPct val="146400"/>
              </a:lnSpc>
              <a:spcBef>
                <a:spcPts val="70"/>
              </a:spcBef>
              <a:buFont typeface="Symbol"/>
              <a:buChar char="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2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locator</a:t>
            </a:r>
            <a:r>
              <a:rPr sz="1150" spc="2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2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called</a:t>
            </a:r>
            <a:r>
              <a:rPr sz="1150" spc="2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EXE2BIN</a:t>
            </a:r>
            <a:r>
              <a:rPr sz="1150" spc="2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comes</a:t>
            </a:r>
            <a:r>
              <a:rPr sz="1150" spc="2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with</a:t>
            </a:r>
            <a:r>
              <a:rPr sz="1150" spc="2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IBM</a:t>
            </a:r>
            <a:r>
              <a:rPr sz="1150" spc="229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PC</a:t>
            </a:r>
            <a:r>
              <a:rPr sz="1150" spc="2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Disk</a:t>
            </a:r>
            <a:r>
              <a:rPr sz="1150" spc="2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Operating</a:t>
            </a:r>
            <a:r>
              <a:rPr sz="1150" spc="20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System </a:t>
            </a:r>
            <a:r>
              <a:rPr sz="1150" dirty="0">
                <a:latin typeface="Times New Roman"/>
                <a:cs typeface="Times New Roman"/>
              </a:rPr>
              <a:t>(DOS).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EXE2BIN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converts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.exe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.bin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which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physical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addresses.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1B637-C03C-D2DC-C1C2-AE3F368496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n-IN" spc="-25" smtClean="0"/>
              <a:t>29</a:t>
            </a:fld>
            <a:endParaRPr lang="en-IN"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441929" y="9325987"/>
            <a:ext cx="281305" cy="219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05"/>
              </a:lnSpc>
            </a:pPr>
            <a:r>
              <a:rPr sz="1350" spc="-25" dirty="0">
                <a:latin typeface="Arial MT"/>
                <a:cs typeface="Arial MT"/>
              </a:rPr>
              <a:t>56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254" y="292748"/>
            <a:ext cx="5807710" cy="45370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700"/>
              </a:spcBef>
              <a:buAutoNum type="arabicPeriod" startAt="5"/>
              <a:tabLst>
                <a:tab pos="160020" algn="l"/>
              </a:tabLst>
            </a:pPr>
            <a:r>
              <a:rPr sz="1150" b="1" spc="-10" dirty="0">
                <a:latin typeface="Times New Roman"/>
                <a:cs typeface="Times New Roman"/>
              </a:rPr>
              <a:t>Debugger</a:t>
            </a:r>
            <a:endParaRPr sz="1150">
              <a:latin typeface="Times New Roman"/>
              <a:cs typeface="Times New Roman"/>
            </a:endParaRPr>
          </a:p>
          <a:p>
            <a:pPr marL="457200" marR="9525" lvl="1" indent="-222885">
              <a:lnSpc>
                <a:spcPts val="2010"/>
              </a:lnSpc>
              <a:spcBef>
                <a:spcPts val="145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debugger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which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load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your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object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into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system </a:t>
            </a:r>
            <a:r>
              <a:rPr sz="1150" dirty="0">
                <a:latin typeface="Times New Roman"/>
                <a:cs typeface="Times New Roman"/>
              </a:rPr>
              <a:t>memory,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execute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troubleshoot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or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debug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it.</a:t>
            </a:r>
            <a:endParaRPr sz="1150">
              <a:latin typeface="Times New Roman"/>
              <a:cs typeface="Times New Roman"/>
            </a:endParaRPr>
          </a:p>
          <a:p>
            <a:pPr marL="457200" marR="8255" lvl="1" indent="-222885">
              <a:lnSpc>
                <a:spcPts val="2010"/>
              </a:lnSpc>
              <a:spcBef>
                <a:spcPts val="10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debugger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1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9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look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at</a:t>
            </a:r>
            <a:r>
              <a:rPr sz="1150" spc="9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contents</a:t>
            </a:r>
            <a:r>
              <a:rPr sz="1150" spc="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registers</a:t>
            </a:r>
            <a:r>
              <a:rPr sz="1150" spc="9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memory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locations</a:t>
            </a:r>
            <a:r>
              <a:rPr sz="1150" spc="8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after </a:t>
            </a:r>
            <a:r>
              <a:rPr sz="1150" dirty="0">
                <a:latin typeface="Times New Roman"/>
                <a:cs typeface="Times New Roman"/>
              </a:rPr>
              <a:t>your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runs.</a:t>
            </a:r>
            <a:endParaRPr sz="1150">
              <a:latin typeface="Times New Roman"/>
              <a:cs typeface="Times New Roman"/>
            </a:endParaRPr>
          </a:p>
          <a:p>
            <a:pPr marL="457200" marR="5080" lvl="1" indent="-222885">
              <a:lnSpc>
                <a:spcPts val="2010"/>
              </a:lnSpc>
              <a:spcBef>
                <a:spcPts val="10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1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1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1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change</a:t>
            </a:r>
            <a:r>
              <a:rPr sz="1150" spc="1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contents</a:t>
            </a:r>
            <a:r>
              <a:rPr sz="1150" spc="1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1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registers</a:t>
            </a:r>
            <a:r>
              <a:rPr sz="1150" spc="1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memory</a:t>
            </a:r>
            <a:r>
              <a:rPr sz="1150" spc="1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locations</a:t>
            </a:r>
            <a:r>
              <a:rPr sz="1150" spc="1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re-run</a:t>
            </a:r>
            <a:r>
              <a:rPr sz="1150" spc="17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the </a:t>
            </a:r>
            <a:r>
              <a:rPr sz="1150" spc="-10" dirty="0">
                <a:latin typeface="Times New Roman"/>
                <a:cs typeface="Times New Roman"/>
              </a:rPr>
              <a:t>program.</a:t>
            </a:r>
            <a:endParaRPr sz="1150">
              <a:latin typeface="Times New Roman"/>
              <a:cs typeface="Times New Roman"/>
            </a:endParaRPr>
          </a:p>
          <a:p>
            <a:pPr marL="457200" marR="5080" lvl="1" indent="-222885">
              <a:lnSpc>
                <a:spcPts val="2010"/>
              </a:lnSpc>
              <a:spcBef>
                <a:spcPts val="5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Some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debuggers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</a:t>
            </a:r>
            <a:r>
              <a:rPr sz="1150" spc="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stop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execution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after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each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instruction</a:t>
            </a:r>
            <a:r>
              <a:rPr sz="1150" spc="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that</a:t>
            </a:r>
            <a:r>
              <a:rPr sz="1150" spc="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can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check </a:t>
            </a:r>
            <a:r>
              <a:rPr sz="1150" dirty="0">
                <a:latin typeface="Times New Roman"/>
                <a:cs typeface="Times New Roman"/>
              </a:rPr>
              <a:t>or alter after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each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register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contents.</a:t>
            </a:r>
            <a:endParaRPr sz="1150">
              <a:latin typeface="Times New Roman"/>
              <a:cs typeface="Times New Roman"/>
            </a:endParaRPr>
          </a:p>
          <a:p>
            <a:pPr marL="457200" marR="5715" lvl="1" indent="-222885">
              <a:lnSpc>
                <a:spcPts val="2010"/>
              </a:lnSpc>
              <a:spcBef>
                <a:spcPts val="10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debugger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also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set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breakpoint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any point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program.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If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insert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breakpoint</a:t>
            </a:r>
            <a:r>
              <a:rPr sz="1150" spc="1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at</a:t>
            </a:r>
            <a:r>
              <a:rPr sz="1150" spc="1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any</a:t>
            </a:r>
            <a:r>
              <a:rPr sz="1150" spc="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point</a:t>
            </a:r>
            <a:r>
              <a:rPr sz="1150" spc="1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1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your</a:t>
            </a:r>
            <a:r>
              <a:rPr sz="1150" spc="1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program,</a:t>
            </a:r>
            <a:r>
              <a:rPr sz="1150" spc="1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14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debugger</a:t>
            </a:r>
            <a:r>
              <a:rPr sz="1150" spc="1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will</a:t>
            </a:r>
            <a:r>
              <a:rPr sz="1150" spc="1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run</a:t>
            </a:r>
            <a:r>
              <a:rPr sz="1150" spc="1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14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</a:t>
            </a:r>
            <a:r>
              <a:rPr sz="1150" spc="1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up</a:t>
            </a:r>
            <a:r>
              <a:rPr sz="1150" spc="114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2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the</a:t>
            </a:r>
            <a:endParaRPr sz="115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470"/>
              </a:spcBef>
            </a:pPr>
            <a:r>
              <a:rPr sz="1150" dirty="0">
                <a:latin typeface="Times New Roman"/>
                <a:cs typeface="Times New Roman"/>
              </a:rPr>
              <a:t>instruction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where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put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breakpoint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stop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execution.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50">
              <a:latin typeface="Times New Roman"/>
              <a:cs typeface="Times New Roman"/>
            </a:endParaRPr>
          </a:p>
          <a:p>
            <a:pPr marL="160020" indent="-147320">
              <a:lnSpc>
                <a:spcPct val="100000"/>
              </a:lnSpc>
              <a:buAutoNum type="arabicPeriod" startAt="6"/>
              <a:tabLst>
                <a:tab pos="160020" algn="l"/>
              </a:tabLst>
            </a:pPr>
            <a:r>
              <a:rPr sz="1150" b="1" spc="-10" dirty="0">
                <a:latin typeface="Times New Roman"/>
                <a:cs typeface="Times New Roman"/>
              </a:rPr>
              <a:t>Emulator</a:t>
            </a:r>
            <a:endParaRPr sz="115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620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An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emulator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mixture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hardware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software.</a:t>
            </a:r>
            <a:endParaRPr sz="1150">
              <a:latin typeface="Times New Roman"/>
              <a:cs typeface="Times New Roman"/>
            </a:endParaRPr>
          </a:p>
          <a:p>
            <a:pPr marL="457200" lvl="1" indent="-222885">
              <a:lnSpc>
                <a:spcPct val="100000"/>
              </a:lnSpc>
              <a:spcBef>
                <a:spcPts val="625"/>
              </a:spcBef>
              <a:buChar char="-"/>
              <a:tabLst>
                <a:tab pos="457200" algn="l"/>
              </a:tabLst>
            </a:pP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test</a:t>
            </a:r>
            <a:r>
              <a:rPr sz="1150" spc="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debug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hardware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software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external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system,</a:t>
            </a:r>
            <a:r>
              <a:rPr sz="1150" spc="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such</a:t>
            </a:r>
            <a:r>
              <a:rPr sz="1150" spc="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the</a:t>
            </a:r>
            <a:endParaRPr sz="1150">
              <a:latin typeface="Times New Roman"/>
              <a:cs typeface="Times New Roman"/>
            </a:endParaRPr>
          </a:p>
          <a:p>
            <a:pPr marL="457200" marR="5080">
              <a:lnSpc>
                <a:spcPct val="145500"/>
              </a:lnSpc>
              <a:spcBef>
                <a:spcPts val="15"/>
              </a:spcBef>
            </a:pPr>
            <a:r>
              <a:rPr sz="1150" dirty="0">
                <a:latin typeface="Times New Roman"/>
                <a:cs typeface="Times New Roman"/>
              </a:rPr>
              <a:t>prototype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microprocessor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based</a:t>
            </a:r>
            <a:r>
              <a:rPr sz="1150" spc="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instrument.</a:t>
            </a:r>
            <a:r>
              <a:rPr sz="1150" spc="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Part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hardware</a:t>
            </a:r>
            <a:r>
              <a:rPr sz="1150" spc="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emulator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65" dirty="0">
                <a:latin typeface="Times New Roman"/>
                <a:cs typeface="Times New Roman"/>
              </a:rPr>
              <a:t> </a:t>
            </a:r>
            <a:r>
              <a:rPr sz="1150" spc="-50" dirty="0">
                <a:latin typeface="Times New Roman"/>
                <a:cs typeface="Times New Roman"/>
              </a:rPr>
              <a:t>a </a:t>
            </a:r>
            <a:r>
              <a:rPr sz="1150" dirty="0">
                <a:latin typeface="Times New Roman"/>
                <a:cs typeface="Times New Roman"/>
              </a:rPr>
              <a:t>multi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wire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cable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which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connects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host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system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system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being </a:t>
            </a:r>
            <a:r>
              <a:rPr sz="1150" spc="-10" dirty="0">
                <a:latin typeface="Times New Roman"/>
                <a:cs typeface="Times New Roman"/>
              </a:rPr>
              <a:t>developed.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F8F9A-E3DC-1A82-731E-4D136F98AB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n-IN" spc="-25" smtClean="0"/>
              <a:t>30</a:t>
            </a:fld>
            <a:endParaRPr lang="en-IN"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781</Words>
  <Application>Microsoft Office PowerPoint</Application>
  <PresentationFormat>Custom</PresentationFormat>
  <Paragraphs>100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 MT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arepa</dc:creator>
  <cp:lastModifiedBy>arepallirama@outlook.com</cp:lastModifiedBy>
  <cp:revision>3</cp:revision>
  <dcterms:created xsi:type="dcterms:W3CDTF">2025-07-06T16:57:15Z</dcterms:created>
  <dcterms:modified xsi:type="dcterms:W3CDTF">2025-07-06T17:04:33Z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2025-07-06T00:00:00Z</vt:filetime>
  </property>
  <property fmtid="{D5CDD505-2E9C-101B-9397-08002B2CF9AE}" pid="3" name="LastSaved">
    <vt:filetime>2025-07-06T00:00:00Z</vt:filetime>
  </property>
  <property fmtid="{D5CDD505-2E9C-101B-9397-08002B2CF9AE}" pid="4" name="Producer">
    <vt:lpwstr>iLovePDF</vt:lpwstr>
  </property>
</Properties>
</file>